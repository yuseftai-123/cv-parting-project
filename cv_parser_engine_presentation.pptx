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Inter Bold" charset="1" panose="02000503000000020004"/>
      <p:regular r:id="rId20"/>
    </p:embeddedFont>
    <p:embeddedFont>
      <p:font typeface="Inter" charset="1" panose="02000503000000020004"/>
      <p:regular r:id="rId21"/>
    </p:embeddedFont>
    <p:embeddedFont>
      <p:font typeface="Inter Bold Italics" charset="1" panose="02000503000000020004"/>
      <p:regular r:id="rId22"/>
    </p:embeddedFont>
    <p:embeddedFont>
      <p:font typeface="Arimo" charset="1" panose="020B0604020202020204"/>
      <p:regular r:id="rId23"/>
    </p:embeddedFont>
    <p:embeddedFont>
      <p:font typeface="Bricolage Grotesque Bold" charset="1" panose="020B060504040200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17" Target="../media/image28.png" Type="http://schemas.openxmlformats.org/officeDocument/2006/relationships/image"/><Relationship Id="rId18" Target="../media/image29.svg" Type="http://schemas.openxmlformats.org/officeDocument/2006/relationships/image"/><Relationship Id="rId19" Target="../media/image30.png" Type="http://schemas.openxmlformats.org/officeDocument/2006/relationships/image"/><Relationship Id="rId2" Target="../media/image13.png" Type="http://schemas.openxmlformats.org/officeDocument/2006/relationships/image"/><Relationship Id="rId20" Target="../media/image31.sv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jpe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43.png" Type="http://schemas.openxmlformats.org/officeDocument/2006/relationships/image"/><Relationship Id="rId18" Target="../media/image44.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32.jpe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43.png" Type="http://schemas.openxmlformats.org/officeDocument/2006/relationships/image"/><Relationship Id="rId18" Target="../media/image44.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32.jpe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jpeg" Type="http://schemas.openxmlformats.org/officeDocument/2006/relationships/image"/><Relationship Id="rId11" Target="../media/image50.png" Type="http://schemas.openxmlformats.org/officeDocument/2006/relationships/image"/><Relationship Id="rId12" Target="../media/image51.svg" Type="http://schemas.openxmlformats.org/officeDocument/2006/relationships/image"/><Relationship Id="rId13" Target="../media/image52.png" Type="http://schemas.openxmlformats.org/officeDocument/2006/relationships/image"/><Relationship Id="rId14" Target="../media/image53.svg" Type="http://schemas.openxmlformats.org/officeDocument/2006/relationships/image"/><Relationship Id="rId15" Target="../media/image54.png" Type="http://schemas.openxmlformats.org/officeDocument/2006/relationships/image"/><Relationship Id="rId16" Target="../media/image55.svg" Type="http://schemas.openxmlformats.org/officeDocument/2006/relationships/image"/><Relationship Id="rId17" Target="../media/image56.png" Type="http://schemas.openxmlformats.org/officeDocument/2006/relationships/image"/><Relationship Id="rId18" Target="../media/image57.svg" Type="http://schemas.openxmlformats.org/officeDocument/2006/relationships/image"/><Relationship Id="rId19" Target="../media/image26.png" Type="http://schemas.openxmlformats.org/officeDocument/2006/relationships/image"/><Relationship Id="rId2" Target="../media/image13.png" Type="http://schemas.openxmlformats.org/officeDocument/2006/relationships/image"/><Relationship Id="rId20" Target="../media/image27.svg" Type="http://schemas.openxmlformats.org/officeDocument/2006/relationships/image"/><Relationship Id="rId21" Target="../media/image58.png" Type="http://schemas.openxmlformats.org/officeDocument/2006/relationships/image"/><Relationship Id="rId22" Target="../media/image59.svg" Type="http://schemas.openxmlformats.org/officeDocument/2006/relationships/image"/><Relationship Id="rId23" Target="../media/image43.png" Type="http://schemas.openxmlformats.org/officeDocument/2006/relationships/image"/><Relationship Id="rId24" Target="../media/image44.svg" Type="http://schemas.openxmlformats.org/officeDocument/2006/relationships/image"/><Relationship Id="rId25" Target="../media/image60.png" Type="http://schemas.openxmlformats.org/officeDocument/2006/relationships/image"/><Relationship Id="rId26" Target="../media/image61.sv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svg" Type="http://schemas.openxmlformats.org/officeDocument/2006/relationships/image"/><Relationship Id="rId12" Target="../media/image66.png" Type="http://schemas.openxmlformats.org/officeDocument/2006/relationships/image"/><Relationship Id="rId13" Target="../media/image67.png" Type="http://schemas.openxmlformats.org/officeDocument/2006/relationships/image"/><Relationship Id="rId14" Target="../media/image68.svg" Type="http://schemas.openxmlformats.org/officeDocument/2006/relationships/image"/><Relationship Id="rId15" Target="../media/image39.png" Type="http://schemas.openxmlformats.org/officeDocument/2006/relationships/image"/><Relationship Id="rId16" Target="../media/image40.svg" Type="http://schemas.openxmlformats.org/officeDocument/2006/relationships/image"/><Relationship Id="rId17" Target="../media/image26.png" Type="http://schemas.openxmlformats.org/officeDocument/2006/relationships/image"/><Relationship Id="rId18" Target="../media/image27.svg" Type="http://schemas.openxmlformats.org/officeDocument/2006/relationships/image"/><Relationship Id="rId19" Target="../media/image58.png" Type="http://schemas.openxmlformats.org/officeDocument/2006/relationships/image"/><Relationship Id="rId2" Target="../media/image13.png" Type="http://schemas.openxmlformats.org/officeDocument/2006/relationships/image"/><Relationship Id="rId20" Target="../media/image59.svg" Type="http://schemas.openxmlformats.org/officeDocument/2006/relationships/image"/><Relationship Id="rId21" Target="../media/image69.png" Type="http://schemas.openxmlformats.org/officeDocument/2006/relationships/image"/><Relationship Id="rId22" Target="../media/image70.svg" Type="http://schemas.openxmlformats.org/officeDocument/2006/relationships/image"/><Relationship Id="rId23" Target="../media/image71.png" Type="http://schemas.openxmlformats.org/officeDocument/2006/relationships/image"/><Relationship Id="rId24" Target="../media/image72.sv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svg" Type="http://schemas.openxmlformats.org/officeDocument/2006/relationships/image"/><Relationship Id="rId12" Target="../media/image66.png" Type="http://schemas.openxmlformats.org/officeDocument/2006/relationships/image"/><Relationship Id="rId13" Target="../media/image67.png" Type="http://schemas.openxmlformats.org/officeDocument/2006/relationships/image"/><Relationship Id="rId14" Target="../media/image68.svg" Type="http://schemas.openxmlformats.org/officeDocument/2006/relationships/image"/><Relationship Id="rId15" Target="../media/image39.png" Type="http://schemas.openxmlformats.org/officeDocument/2006/relationships/image"/><Relationship Id="rId16" Target="../media/image40.svg" Type="http://schemas.openxmlformats.org/officeDocument/2006/relationships/image"/><Relationship Id="rId17" Target="../media/image26.png" Type="http://schemas.openxmlformats.org/officeDocument/2006/relationships/image"/><Relationship Id="rId18" Target="../media/image27.svg" Type="http://schemas.openxmlformats.org/officeDocument/2006/relationships/image"/><Relationship Id="rId19" Target="../media/image58.png" Type="http://schemas.openxmlformats.org/officeDocument/2006/relationships/image"/><Relationship Id="rId2" Target="../media/image13.png" Type="http://schemas.openxmlformats.org/officeDocument/2006/relationships/image"/><Relationship Id="rId20" Target="../media/image59.svg" Type="http://schemas.openxmlformats.org/officeDocument/2006/relationships/image"/><Relationship Id="rId21" Target="../media/image69.png" Type="http://schemas.openxmlformats.org/officeDocument/2006/relationships/image"/><Relationship Id="rId22" Target="../media/image70.svg" Type="http://schemas.openxmlformats.org/officeDocument/2006/relationships/image"/><Relationship Id="rId23" Target="../media/image71.png" Type="http://schemas.openxmlformats.org/officeDocument/2006/relationships/image"/><Relationship Id="rId24" Target="../media/image72.sv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svg" Type="http://schemas.openxmlformats.org/officeDocument/2006/relationships/image"/><Relationship Id="rId12" Target="../media/image79.png" Type="http://schemas.openxmlformats.org/officeDocument/2006/relationships/image"/><Relationship Id="rId13" Target="../media/image80.svg" Type="http://schemas.openxmlformats.org/officeDocument/2006/relationships/image"/><Relationship Id="rId14" Target="../media/image81.jpeg" Type="http://schemas.openxmlformats.org/officeDocument/2006/relationships/image"/><Relationship Id="rId15" Target="../media/image82.jpeg" Type="http://schemas.openxmlformats.org/officeDocument/2006/relationships/image"/><Relationship Id="rId16" Target="../media/image83.png" Type="http://schemas.openxmlformats.org/officeDocument/2006/relationships/image"/><Relationship Id="rId17" Target="../media/image84.svg" Type="http://schemas.openxmlformats.org/officeDocument/2006/relationships/image"/><Relationship Id="rId18" Target="../media/image85.png" Type="http://schemas.openxmlformats.org/officeDocument/2006/relationships/image"/><Relationship Id="rId19" Target="../media/image86.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5.png" Type="http://schemas.openxmlformats.org/officeDocument/2006/relationships/image"/><Relationship Id="rId9" Target="../media/image7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1.png" Type="http://schemas.openxmlformats.org/officeDocument/2006/relationships/image"/><Relationship Id="rId11" Target="../media/image92.svg" Type="http://schemas.openxmlformats.org/officeDocument/2006/relationships/image"/><Relationship Id="rId12" Target="../media/image93.png" Type="http://schemas.openxmlformats.org/officeDocument/2006/relationships/image"/><Relationship Id="rId13" Target="../media/image94.svg" Type="http://schemas.openxmlformats.org/officeDocument/2006/relationships/image"/><Relationship Id="rId14" Target="../media/image75.png" Type="http://schemas.openxmlformats.org/officeDocument/2006/relationships/image"/><Relationship Id="rId15" Target="../media/image76.svg" Type="http://schemas.openxmlformats.org/officeDocument/2006/relationships/image"/><Relationship Id="rId16" Target="../media/image95.jpeg" Type="http://schemas.openxmlformats.org/officeDocument/2006/relationships/image"/><Relationship Id="rId17" Target="../media/image96.png" Type="http://schemas.openxmlformats.org/officeDocument/2006/relationships/image"/><Relationship Id="rId18" Target="../media/image97.svg" Type="http://schemas.openxmlformats.org/officeDocument/2006/relationships/image"/><Relationship Id="rId19" Target="../media/image98.jpeg" Type="http://schemas.openxmlformats.org/officeDocument/2006/relationships/image"/><Relationship Id="rId2" Target="../media/image13.png" Type="http://schemas.openxmlformats.org/officeDocument/2006/relationships/image"/><Relationship Id="rId20" Target="../media/image99.png" Type="http://schemas.openxmlformats.org/officeDocument/2006/relationships/image"/><Relationship Id="rId21" Target="../media/image100.png" Type="http://schemas.openxmlformats.org/officeDocument/2006/relationships/image"/><Relationship Id="rId22" Target="../media/image101.svg" Type="http://schemas.openxmlformats.org/officeDocument/2006/relationships/image"/><Relationship Id="rId23" Target="../media/image102.jpeg" Type="http://schemas.openxmlformats.org/officeDocument/2006/relationships/image"/><Relationship Id="rId24" Target="../media/image103.png" Type="http://schemas.openxmlformats.org/officeDocument/2006/relationships/image"/><Relationship Id="rId25" Target="../media/image104.svg" Type="http://schemas.openxmlformats.org/officeDocument/2006/relationships/image"/><Relationship Id="rId26" Target="../media/image105.jpeg" Type="http://schemas.openxmlformats.org/officeDocument/2006/relationships/image"/><Relationship Id="rId27" Target="../media/image106.jpeg" Type="http://schemas.openxmlformats.org/officeDocument/2006/relationships/image"/><Relationship Id="rId28" Target="../media/image107.png" Type="http://schemas.openxmlformats.org/officeDocument/2006/relationships/image"/><Relationship Id="rId29" Target="../media/image108.svg" Type="http://schemas.openxmlformats.org/officeDocument/2006/relationships/image"/><Relationship Id="rId3" Target="../media/image14.svg" Type="http://schemas.openxmlformats.org/officeDocument/2006/relationships/image"/><Relationship Id="rId30" Target="../media/image109.png" Type="http://schemas.openxmlformats.org/officeDocument/2006/relationships/image"/><Relationship Id="rId31" Target="../media/image110.png" Type="http://schemas.openxmlformats.org/officeDocument/2006/relationships/image"/><Relationship Id="rId32" Target="../media/image111.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87.png" Type="http://schemas.openxmlformats.org/officeDocument/2006/relationships/image"/><Relationship Id="rId7" Target="../media/image88.svg" Type="http://schemas.openxmlformats.org/officeDocument/2006/relationships/image"/><Relationship Id="rId8" Target="../media/image89.png" Type="http://schemas.openxmlformats.org/officeDocument/2006/relationships/image"/><Relationship Id="rId9" Target="../media/image9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8.jpeg" Type="http://schemas.openxmlformats.org/officeDocument/2006/relationships/image"/><Relationship Id="rId11" Target="../media/image99.png" Type="http://schemas.openxmlformats.org/officeDocument/2006/relationships/image"/><Relationship Id="rId12" Target="../media/image100.png" Type="http://schemas.openxmlformats.org/officeDocument/2006/relationships/image"/><Relationship Id="rId13" Target="../media/image101.svg" Type="http://schemas.openxmlformats.org/officeDocument/2006/relationships/image"/><Relationship Id="rId14" Target="../media/image102.jpeg" Type="http://schemas.openxmlformats.org/officeDocument/2006/relationships/image"/><Relationship Id="rId15" Target="../media/image103.png" Type="http://schemas.openxmlformats.org/officeDocument/2006/relationships/image"/><Relationship Id="rId16" Target="../media/image104.svg" Type="http://schemas.openxmlformats.org/officeDocument/2006/relationships/image"/><Relationship Id="rId17" Target="../media/image105.jpeg" Type="http://schemas.openxmlformats.org/officeDocument/2006/relationships/image"/><Relationship Id="rId18" Target="../media/image106.jpeg" Type="http://schemas.openxmlformats.org/officeDocument/2006/relationships/image"/><Relationship Id="rId19" Target="../media/image107.png" Type="http://schemas.openxmlformats.org/officeDocument/2006/relationships/image"/><Relationship Id="rId2" Target="../media/image13.png" Type="http://schemas.openxmlformats.org/officeDocument/2006/relationships/image"/><Relationship Id="rId20" Target="../media/image108.svg" Type="http://schemas.openxmlformats.org/officeDocument/2006/relationships/image"/><Relationship Id="rId21" Target="../media/image109.png" Type="http://schemas.openxmlformats.org/officeDocument/2006/relationships/image"/><Relationship Id="rId22" Target="../media/image110.png" Type="http://schemas.openxmlformats.org/officeDocument/2006/relationships/image"/><Relationship Id="rId23" Target="../media/image89.png" Type="http://schemas.openxmlformats.org/officeDocument/2006/relationships/image"/><Relationship Id="rId24" Target="../media/image90.svg" Type="http://schemas.openxmlformats.org/officeDocument/2006/relationships/image"/><Relationship Id="rId25" Target="../media/image91.png" Type="http://schemas.openxmlformats.org/officeDocument/2006/relationships/image"/><Relationship Id="rId26" Target="../media/image92.svg" Type="http://schemas.openxmlformats.org/officeDocument/2006/relationships/image"/><Relationship Id="rId27" Target="../media/image93.png" Type="http://schemas.openxmlformats.org/officeDocument/2006/relationships/image"/><Relationship Id="rId28" Target="../media/image94.svg" Type="http://schemas.openxmlformats.org/officeDocument/2006/relationships/image"/><Relationship Id="rId29" Target="../media/image75.png" Type="http://schemas.openxmlformats.org/officeDocument/2006/relationships/image"/><Relationship Id="rId3" Target="../media/image14.svg" Type="http://schemas.openxmlformats.org/officeDocument/2006/relationships/image"/><Relationship Id="rId30" Target="../media/image76.svg" Type="http://schemas.openxmlformats.org/officeDocument/2006/relationships/image"/><Relationship Id="rId31" Target="../media/image95.jpeg" Type="http://schemas.openxmlformats.org/officeDocument/2006/relationships/image"/><Relationship Id="rId32" Target="../media/image111.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87.png" Type="http://schemas.openxmlformats.org/officeDocument/2006/relationships/image"/><Relationship Id="rId7" Target="../media/image88.svg" Type="http://schemas.openxmlformats.org/officeDocument/2006/relationships/image"/><Relationship Id="rId8" Target="../media/image96.png" Type="http://schemas.openxmlformats.org/officeDocument/2006/relationships/image"/><Relationship Id="rId9" Target="../media/image9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6.png" Type="http://schemas.openxmlformats.org/officeDocument/2006/relationships/image"/><Relationship Id="rId11" Target="../media/image117.svg" Type="http://schemas.openxmlformats.org/officeDocument/2006/relationships/image"/><Relationship Id="rId12" Target="../media/image118.png" Type="http://schemas.openxmlformats.org/officeDocument/2006/relationships/image"/><Relationship Id="rId13" Target="../media/image119.svg" Type="http://schemas.openxmlformats.org/officeDocument/2006/relationships/image"/><Relationship Id="rId14" Target="../media/image75.png" Type="http://schemas.openxmlformats.org/officeDocument/2006/relationships/image"/><Relationship Id="rId15" Target="../media/image76.svg" Type="http://schemas.openxmlformats.org/officeDocument/2006/relationships/image"/><Relationship Id="rId16" Target="../media/image120.png" Type="http://schemas.openxmlformats.org/officeDocument/2006/relationships/image"/><Relationship Id="rId17" Target="../media/image121.svg" Type="http://schemas.openxmlformats.org/officeDocument/2006/relationships/image"/><Relationship Id="rId18" Target="../media/image122.png" Type="http://schemas.openxmlformats.org/officeDocument/2006/relationships/image"/><Relationship Id="rId19" Target="../media/image123.svg" Type="http://schemas.openxmlformats.org/officeDocument/2006/relationships/image"/><Relationship Id="rId2" Target="../media/image13.png" Type="http://schemas.openxmlformats.org/officeDocument/2006/relationships/image"/><Relationship Id="rId20" Target="../media/image124.png" Type="http://schemas.openxmlformats.org/officeDocument/2006/relationships/image"/><Relationship Id="rId21" Target="../media/image125.svg" Type="http://schemas.openxmlformats.org/officeDocument/2006/relationships/image"/><Relationship Id="rId22" Target="../media/image126.png" Type="http://schemas.openxmlformats.org/officeDocument/2006/relationships/image"/><Relationship Id="rId23" Target="../media/image127.sv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12.png" Type="http://schemas.openxmlformats.org/officeDocument/2006/relationships/image"/><Relationship Id="rId7" Target="../media/image113.svg" Type="http://schemas.openxmlformats.org/officeDocument/2006/relationships/image"/><Relationship Id="rId8" Target="../media/image114.png" Type="http://schemas.openxmlformats.org/officeDocument/2006/relationships/image"/><Relationship Id="rId9" Target="../media/image11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2.png" Type="http://schemas.openxmlformats.org/officeDocument/2006/relationships/image"/><Relationship Id="rId11" Target="../media/image133.svg" Type="http://schemas.openxmlformats.org/officeDocument/2006/relationships/image"/><Relationship Id="rId12" Target="../media/image134.png" Type="http://schemas.openxmlformats.org/officeDocument/2006/relationships/image"/><Relationship Id="rId13" Target="../media/image135.svg" Type="http://schemas.openxmlformats.org/officeDocument/2006/relationships/image"/><Relationship Id="rId14" Target="../media/image95.jpeg" Type="http://schemas.openxmlformats.org/officeDocument/2006/relationships/image"/><Relationship Id="rId15" Target="../media/image136.png" Type="http://schemas.openxmlformats.org/officeDocument/2006/relationships/image"/><Relationship Id="rId16" Target="../media/image137.jpeg" Type="http://schemas.openxmlformats.org/officeDocument/2006/relationships/image"/><Relationship Id="rId17" Target="../media/image12.jpe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28.png" Type="http://schemas.openxmlformats.org/officeDocument/2006/relationships/image"/><Relationship Id="rId7" Target="../media/image129.svg" Type="http://schemas.openxmlformats.org/officeDocument/2006/relationships/image"/><Relationship Id="rId8" Target="../media/image130.png" Type="http://schemas.openxmlformats.org/officeDocument/2006/relationships/image"/><Relationship Id="rId9" Target="../media/image13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2.png" Type="http://schemas.openxmlformats.org/officeDocument/2006/relationships/image"/><Relationship Id="rId11" Target="../media/image143.svg" Type="http://schemas.openxmlformats.org/officeDocument/2006/relationships/image"/><Relationship Id="rId12" Target="../media/image144.jpeg" Type="http://schemas.openxmlformats.org/officeDocument/2006/relationships/image"/><Relationship Id="rId13" Target="../media/image145.png" Type="http://schemas.openxmlformats.org/officeDocument/2006/relationships/image"/><Relationship Id="rId14" Target="../media/image146.svg" Type="http://schemas.openxmlformats.org/officeDocument/2006/relationships/image"/><Relationship Id="rId15" Target="../media/image147.png" Type="http://schemas.openxmlformats.org/officeDocument/2006/relationships/image"/><Relationship Id="rId16" Target="../media/image148.svg" Type="http://schemas.openxmlformats.org/officeDocument/2006/relationships/image"/><Relationship Id="rId17" Target="../media/image149.png" Type="http://schemas.openxmlformats.org/officeDocument/2006/relationships/image"/><Relationship Id="rId18" Target="../media/image150.svg" Type="http://schemas.openxmlformats.org/officeDocument/2006/relationships/image"/><Relationship Id="rId19" Target="../media/image151.png" Type="http://schemas.openxmlformats.org/officeDocument/2006/relationships/image"/><Relationship Id="rId2" Target="../media/image13.png" Type="http://schemas.openxmlformats.org/officeDocument/2006/relationships/image"/><Relationship Id="rId20" Target="../media/image152.svg" Type="http://schemas.openxmlformats.org/officeDocument/2006/relationships/image"/><Relationship Id="rId21" Target="../media/image153.png" Type="http://schemas.openxmlformats.org/officeDocument/2006/relationships/image"/><Relationship Id="rId22" Target="../media/image154.sv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38.png" Type="http://schemas.openxmlformats.org/officeDocument/2006/relationships/image"/><Relationship Id="rId7" Target="../media/image139.svg" Type="http://schemas.openxmlformats.org/officeDocument/2006/relationships/image"/><Relationship Id="rId8" Target="../media/image140.png" Type="http://schemas.openxmlformats.org/officeDocument/2006/relationships/image"/><Relationship Id="rId9" Target="../media/image14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rot="25380">
            <a:off x="-631679" y="3697815"/>
            <a:ext cx="10318290" cy="0"/>
          </a:xfrm>
          <a:prstGeom prst="line">
            <a:avLst/>
          </a:prstGeom>
          <a:ln cap="rnd" w="57150">
            <a:solidFill>
              <a:srgbClr val="FF5300"/>
            </a:solidFill>
            <a:prstDash val="solid"/>
            <a:headEnd type="none" len="sm" w="sm"/>
            <a:tailEnd type="none" len="sm" w="sm"/>
          </a:ln>
        </p:spPr>
      </p:sp>
      <p:sp>
        <p:nvSpPr>
          <p:cNvPr name="Freeform 3" id="3"/>
          <p:cNvSpPr/>
          <p:nvPr/>
        </p:nvSpPr>
        <p:spPr>
          <a:xfrm flipH="false" flipV="false" rot="0">
            <a:off x="350681" y="8726519"/>
            <a:ext cx="1150010" cy="1150010"/>
          </a:xfrm>
          <a:custGeom>
            <a:avLst/>
            <a:gdLst/>
            <a:ahLst/>
            <a:cxnLst/>
            <a:rect r="r" b="b" t="t" l="l"/>
            <a:pathLst>
              <a:path h="1150010" w="1150010">
                <a:moveTo>
                  <a:pt x="0" y="0"/>
                </a:moveTo>
                <a:lnTo>
                  <a:pt x="1150010" y="0"/>
                </a:lnTo>
                <a:lnTo>
                  <a:pt x="1150010" y="1150010"/>
                </a:lnTo>
                <a:lnTo>
                  <a:pt x="0" y="11500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14485" y="8990323"/>
            <a:ext cx="622411" cy="622411"/>
          </a:xfrm>
          <a:custGeom>
            <a:avLst/>
            <a:gdLst/>
            <a:ahLst/>
            <a:cxnLst/>
            <a:rect r="r" b="b" t="t" l="l"/>
            <a:pathLst>
              <a:path h="622411" w="622411">
                <a:moveTo>
                  <a:pt x="0" y="0"/>
                </a:moveTo>
                <a:lnTo>
                  <a:pt x="622411" y="0"/>
                </a:lnTo>
                <a:lnTo>
                  <a:pt x="622411" y="622411"/>
                </a:lnTo>
                <a:lnTo>
                  <a:pt x="0" y="6224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059152" y="954529"/>
            <a:ext cx="10218249" cy="10020462"/>
          </a:xfrm>
          <a:custGeom>
            <a:avLst/>
            <a:gdLst/>
            <a:ahLst/>
            <a:cxnLst/>
            <a:rect r="r" b="b" t="t" l="l"/>
            <a:pathLst>
              <a:path h="10020462" w="10218249">
                <a:moveTo>
                  <a:pt x="0" y="0"/>
                </a:moveTo>
                <a:lnTo>
                  <a:pt x="10218249" y="0"/>
                </a:lnTo>
                <a:lnTo>
                  <a:pt x="10218249" y="10020462"/>
                </a:lnTo>
                <a:lnTo>
                  <a:pt x="0" y="10020462"/>
                </a:lnTo>
                <a:lnTo>
                  <a:pt x="0" y="0"/>
                </a:lnTo>
                <a:close/>
              </a:path>
            </a:pathLst>
          </a:custGeom>
          <a:blipFill>
            <a:blip r:embed="rId6">
              <a:extLst>
                <a:ext uri="{96DAC541-7B7A-43D3-8B79-37D633B846F1}">
                  <asvg:svgBlip xmlns:asvg="http://schemas.microsoft.com/office/drawing/2016/SVG/main" r:embed="rId7"/>
                </a:ext>
              </a:extLst>
            </a:blip>
            <a:stretch>
              <a:fillRect l="0" t="-36" r="0" b="-36"/>
            </a:stretch>
          </a:blipFill>
        </p:spPr>
      </p:sp>
      <p:sp>
        <p:nvSpPr>
          <p:cNvPr name="Freeform 6" id="6"/>
          <p:cNvSpPr/>
          <p:nvPr/>
        </p:nvSpPr>
        <p:spPr>
          <a:xfrm flipH="false" flipV="false" rot="0">
            <a:off x="14493392" y="6546256"/>
            <a:ext cx="4084872" cy="4114800"/>
          </a:xfrm>
          <a:custGeom>
            <a:avLst/>
            <a:gdLst/>
            <a:ahLst/>
            <a:cxnLst/>
            <a:rect r="r" b="b" t="t" l="l"/>
            <a:pathLst>
              <a:path h="4114800" w="4084872">
                <a:moveTo>
                  <a:pt x="0" y="0"/>
                </a:moveTo>
                <a:lnTo>
                  <a:pt x="4084873" y="0"/>
                </a:lnTo>
                <a:lnTo>
                  <a:pt x="4084873" y="4114800"/>
                </a:lnTo>
                <a:lnTo>
                  <a:pt x="0" y="4114800"/>
                </a:lnTo>
                <a:lnTo>
                  <a:pt x="0" y="0"/>
                </a:lnTo>
                <a:close/>
              </a:path>
            </a:pathLst>
          </a:custGeom>
          <a:blipFill>
            <a:blip r:embed="rId8">
              <a:alphaModFix amt="40000"/>
              <a:extLst>
                <a:ext uri="{96DAC541-7B7A-43D3-8B79-37D633B846F1}">
                  <asvg:svgBlip xmlns:asvg="http://schemas.microsoft.com/office/drawing/2016/SVG/main" r:embed="rId9"/>
                </a:ext>
              </a:extLst>
            </a:blip>
            <a:stretch>
              <a:fillRect l="-133" t="0" r="-133" b="0"/>
            </a:stretch>
          </a:blipFill>
        </p:spPr>
      </p:sp>
      <p:grpSp>
        <p:nvGrpSpPr>
          <p:cNvPr name="Group 7" id="7"/>
          <p:cNvGrpSpPr/>
          <p:nvPr/>
        </p:nvGrpSpPr>
        <p:grpSpPr>
          <a:xfrm rot="0">
            <a:off x="10580780" y="-690782"/>
            <a:ext cx="6961680" cy="9294400"/>
            <a:chOff x="0" y="0"/>
            <a:chExt cx="9282240" cy="12392533"/>
          </a:xfrm>
        </p:grpSpPr>
        <p:sp>
          <p:nvSpPr>
            <p:cNvPr name="Freeform 8" id="8"/>
            <p:cNvSpPr/>
            <p:nvPr/>
          </p:nvSpPr>
          <p:spPr>
            <a:xfrm flipH="false" flipV="false" rot="0">
              <a:off x="40" y="0"/>
              <a:ext cx="9282236" cy="12392533"/>
            </a:xfrm>
            <a:custGeom>
              <a:avLst/>
              <a:gdLst/>
              <a:ahLst/>
              <a:cxnLst/>
              <a:rect r="r" b="b" t="t" l="l"/>
              <a:pathLst>
                <a:path h="12392533" w="9282236">
                  <a:moveTo>
                    <a:pt x="6517727" y="0"/>
                  </a:moveTo>
                  <a:lnTo>
                    <a:pt x="504785" y="0"/>
                  </a:lnTo>
                  <a:cubicBezTo>
                    <a:pt x="355052" y="0"/>
                    <a:pt x="213066" y="66421"/>
                    <a:pt x="117181" y="181483"/>
                  </a:cubicBezTo>
                  <a:cubicBezTo>
                    <a:pt x="21296" y="296545"/>
                    <a:pt x="-18709" y="448056"/>
                    <a:pt x="8215" y="595376"/>
                  </a:cubicBezTo>
                  <a:lnTo>
                    <a:pt x="2050629" y="11797157"/>
                  </a:lnTo>
                  <a:cubicBezTo>
                    <a:pt x="2113494" y="12141962"/>
                    <a:pt x="2413849" y="12392533"/>
                    <a:pt x="2764369" y="12392533"/>
                  </a:cubicBezTo>
                  <a:lnTo>
                    <a:pt x="8777311" y="12392533"/>
                  </a:lnTo>
                  <a:cubicBezTo>
                    <a:pt x="8927044" y="12392533"/>
                    <a:pt x="9069030" y="12326112"/>
                    <a:pt x="9165042" y="12211050"/>
                  </a:cubicBezTo>
                  <a:cubicBezTo>
                    <a:pt x="9261054" y="12095988"/>
                    <a:pt x="9300932" y="11944476"/>
                    <a:pt x="9274008" y="11797157"/>
                  </a:cubicBezTo>
                  <a:lnTo>
                    <a:pt x="7231594" y="595376"/>
                  </a:lnTo>
                  <a:cubicBezTo>
                    <a:pt x="7168602" y="250571"/>
                    <a:pt x="6868247" y="0"/>
                    <a:pt x="6517727" y="0"/>
                  </a:cubicBezTo>
                  <a:close/>
                </a:path>
              </a:pathLst>
            </a:custGeom>
            <a:blipFill>
              <a:blip r:embed="rId10"/>
              <a:stretch>
                <a:fillRect l="-50349" t="0" r="-50348" b="0"/>
              </a:stretch>
            </a:blipFill>
          </p:spPr>
        </p:sp>
      </p:grpSp>
      <p:sp>
        <p:nvSpPr>
          <p:cNvPr name="Freeform 9" id="9"/>
          <p:cNvSpPr/>
          <p:nvPr/>
        </p:nvSpPr>
        <p:spPr>
          <a:xfrm flipH="false" flipV="false" rot="0">
            <a:off x="15668920" y="1824590"/>
            <a:ext cx="1948825" cy="1588294"/>
          </a:xfrm>
          <a:custGeom>
            <a:avLst/>
            <a:gdLst/>
            <a:ahLst/>
            <a:cxnLst/>
            <a:rect r="r" b="b" t="t" l="l"/>
            <a:pathLst>
              <a:path h="1588294" w="1948825">
                <a:moveTo>
                  <a:pt x="0" y="0"/>
                </a:moveTo>
                <a:lnTo>
                  <a:pt x="1948825" y="0"/>
                </a:lnTo>
                <a:lnTo>
                  <a:pt x="1948825" y="1588294"/>
                </a:lnTo>
                <a:lnTo>
                  <a:pt x="0" y="1588294"/>
                </a:lnTo>
                <a:lnTo>
                  <a:pt x="0" y="0"/>
                </a:lnTo>
                <a:close/>
              </a:path>
            </a:pathLst>
          </a:custGeom>
          <a:blipFill>
            <a:blip r:embed="rId11">
              <a:alphaModFix amt="80000"/>
              <a:extLst>
                <a:ext uri="{96DAC541-7B7A-43D3-8B79-37D633B846F1}">
                  <asvg:svgBlip xmlns:asvg="http://schemas.microsoft.com/office/drawing/2016/SVG/main" r:embed="rId12"/>
                </a:ext>
              </a:extLst>
            </a:blip>
            <a:stretch>
              <a:fillRect l="-22" t="0" r="-22" b="0"/>
            </a:stretch>
          </a:blipFill>
        </p:spPr>
      </p:sp>
      <p:sp>
        <p:nvSpPr>
          <p:cNvPr name="TextBox 10" id="10"/>
          <p:cNvSpPr txBox="true"/>
          <p:nvPr/>
        </p:nvSpPr>
        <p:spPr>
          <a:xfrm rot="0">
            <a:off x="979722" y="2182139"/>
            <a:ext cx="8668655" cy="742928"/>
          </a:xfrm>
          <a:prstGeom prst="rect">
            <a:avLst/>
          </a:prstGeom>
        </p:spPr>
        <p:txBody>
          <a:bodyPr anchor="t" rtlCol="false" tIns="0" lIns="0" bIns="0" rIns="0">
            <a:spAutoFit/>
          </a:bodyPr>
          <a:lstStyle/>
          <a:p>
            <a:pPr algn="l">
              <a:lnSpc>
                <a:spcPts val="5879"/>
              </a:lnSpc>
            </a:pPr>
            <a:r>
              <a:rPr lang="en-US" b="true" sz="4899">
                <a:gradFill>
                  <a:gsLst>
                    <a:gs pos="0">
                      <a:srgbClr val="004AAD">
                        <a:alpha val="100000"/>
                      </a:srgbClr>
                    </a:gs>
                    <a:gs pos="100000">
                      <a:srgbClr val="CB6CE6">
                        <a:alpha val="100000"/>
                      </a:srgbClr>
                    </a:gs>
                  </a:gsLst>
                  <a:lin ang="0"/>
                </a:gradFill>
                <a:latin typeface="Inter Bold"/>
                <a:ea typeface="Inter Bold"/>
                <a:cs typeface="Inter Bold"/>
                <a:sym typeface="Inter Bold"/>
              </a:rPr>
              <a:t>CV Parser Engine</a:t>
            </a:r>
          </a:p>
        </p:txBody>
      </p:sp>
      <p:sp>
        <p:nvSpPr>
          <p:cNvPr name="TextBox 11" id="11"/>
          <p:cNvSpPr txBox="true"/>
          <p:nvPr/>
        </p:nvSpPr>
        <p:spPr>
          <a:xfrm rot="0">
            <a:off x="361674" y="5771902"/>
            <a:ext cx="10495919" cy="1800064"/>
          </a:xfrm>
          <a:prstGeom prst="rect">
            <a:avLst/>
          </a:prstGeom>
        </p:spPr>
        <p:txBody>
          <a:bodyPr anchor="t" rtlCol="false" tIns="0" lIns="0" bIns="0" rIns="0">
            <a:spAutoFit/>
          </a:bodyPr>
          <a:lstStyle/>
          <a:p>
            <a:pPr algn="l">
              <a:lnSpc>
                <a:spcPts val="4743"/>
              </a:lnSpc>
            </a:pPr>
            <a:r>
              <a:rPr lang="en-US" b="true" sz="3951">
                <a:solidFill>
                  <a:srgbClr val="1C5F8A"/>
                </a:solidFill>
                <a:latin typeface="Inter Bold"/>
                <a:ea typeface="Inter Bold"/>
                <a:cs typeface="Inter Bold"/>
                <a:sym typeface="Inter Bold"/>
              </a:rPr>
              <a:t>Conception et réalisation d'une plateforme intelligente d'analyse sécurisée de CVs et de gestion des candidatures RH </a:t>
            </a:r>
          </a:p>
        </p:txBody>
      </p:sp>
      <p:sp>
        <p:nvSpPr>
          <p:cNvPr name="TextBox 12" id="12"/>
          <p:cNvSpPr txBox="true"/>
          <p:nvPr/>
        </p:nvSpPr>
        <p:spPr>
          <a:xfrm rot="0">
            <a:off x="1500691" y="8707469"/>
            <a:ext cx="3472605" cy="371475"/>
          </a:xfrm>
          <a:prstGeom prst="rect">
            <a:avLst/>
          </a:prstGeom>
        </p:spPr>
        <p:txBody>
          <a:bodyPr anchor="t" rtlCol="false" tIns="0" lIns="0" bIns="0" rIns="0">
            <a:spAutoFit/>
          </a:bodyPr>
          <a:lstStyle/>
          <a:p>
            <a:pPr algn="l">
              <a:lnSpc>
                <a:spcPts val="2832"/>
              </a:lnSpc>
            </a:pPr>
            <a:r>
              <a:rPr lang="en-US" sz="2360" b="true">
                <a:solidFill>
                  <a:srgbClr val="4B5563"/>
                </a:solidFill>
                <a:latin typeface="Inter Bold"/>
                <a:ea typeface="Inter Bold"/>
                <a:cs typeface="Inter Bold"/>
                <a:sym typeface="Inter Bold"/>
              </a:rPr>
              <a:t>Présenté par</a:t>
            </a:r>
          </a:p>
        </p:txBody>
      </p:sp>
      <p:sp>
        <p:nvSpPr>
          <p:cNvPr name="TextBox 13" id="13"/>
          <p:cNvSpPr txBox="true"/>
          <p:nvPr/>
        </p:nvSpPr>
        <p:spPr>
          <a:xfrm rot="0">
            <a:off x="2777955" y="9169450"/>
            <a:ext cx="4568885" cy="295275"/>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Youssef Taicha</a:t>
            </a:r>
          </a:p>
        </p:txBody>
      </p:sp>
      <p:sp>
        <p:nvSpPr>
          <p:cNvPr name="TextBox 14" id="14"/>
          <p:cNvSpPr txBox="true"/>
          <p:nvPr/>
        </p:nvSpPr>
        <p:spPr>
          <a:xfrm rot="0">
            <a:off x="12350667" y="8991390"/>
            <a:ext cx="4568885" cy="666750"/>
          </a:xfrm>
          <a:prstGeom prst="rect">
            <a:avLst/>
          </a:prstGeom>
        </p:spPr>
        <p:txBody>
          <a:bodyPr anchor="t" rtlCol="false" tIns="0" lIns="0" bIns="0" rIns="0">
            <a:spAutoFit/>
          </a:bodyPr>
          <a:lstStyle/>
          <a:p>
            <a:pPr algn="l">
              <a:lnSpc>
                <a:spcPts val="2638"/>
              </a:lnSpc>
            </a:pPr>
            <a:r>
              <a:rPr lang="en-US" sz="2199" b="true">
                <a:solidFill>
                  <a:srgbClr val="FFFFFF"/>
                </a:solidFill>
                <a:latin typeface="Inter Bold"/>
                <a:ea typeface="Inter Bold"/>
                <a:cs typeface="Inter Bold"/>
                <a:sym typeface="Inter Bold"/>
              </a:rPr>
              <a:t>EST Meknès — UMI · Génie Informatique · 2025/2026</a:t>
            </a:r>
          </a:p>
        </p:txBody>
      </p:sp>
      <p:grpSp>
        <p:nvGrpSpPr>
          <p:cNvPr name="Group 15" id="15"/>
          <p:cNvGrpSpPr/>
          <p:nvPr/>
        </p:nvGrpSpPr>
        <p:grpSpPr>
          <a:xfrm rot="0">
            <a:off x="0" y="0"/>
            <a:ext cx="2496080" cy="1968070"/>
            <a:chOff x="0" y="0"/>
            <a:chExt cx="4509389" cy="3555492"/>
          </a:xfrm>
        </p:grpSpPr>
        <p:sp>
          <p:nvSpPr>
            <p:cNvPr name="Freeform 16" id="16"/>
            <p:cNvSpPr/>
            <p:nvPr/>
          </p:nvSpPr>
          <p:spPr>
            <a:xfrm flipH="false" flipV="false" rot="0">
              <a:off x="0" y="0"/>
              <a:ext cx="4509389" cy="3555492"/>
            </a:xfrm>
            <a:custGeom>
              <a:avLst/>
              <a:gdLst/>
              <a:ahLst/>
              <a:cxnLst/>
              <a:rect r="r" b="b" t="t" l="l"/>
              <a:pathLst>
                <a:path h="3555492" w="4509389">
                  <a:moveTo>
                    <a:pt x="253746" y="0"/>
                  </a:moveTo>
                  <a:lnTo>
                    <a:pt x="4255643" y="0"/>
                  </a:lnTo>
                  <a:cubicBezTo>
                    <a:pt x="4322953" y="0"/>
                    <a:pt x="4387469" y="26797"/>
                    <a:pt x="4435094" y="74295"/>
                  </a:cubicBezTo>
                  <a:cubicBezTo>
                    <a:pt x="4482719" y="121793"/>
                    <a:pt x="4509389" y="186436"/>
                    <a:pt x="4509389" y="253746"/>
                  </a:cubicBezTo>
                  <a:lnTo>
                    <a:pt x="4509389" y="3301746"/>
                  </a:lnTo>
                  <a:cubicBezTo>
                    <a:pt x="4509389" y="3369056"/>
                    <a:pt x="4482592" y="3433572"/>
                    <a:pt x="4435094" y="3481197"/>
                  </a:cubicBezTo>
                  <a:cubicBezTo>
                    <a:pt x="4387596" y="3528822"/>
                    <a:pt x="4322953" y="3555492"/>
                    <a:pt x="4255643" y="3555492"/>
                  </a:cubicBezTo>
                  <a:lnTo>
                    <a:pt x="253746" y="3555492"/>
                  </a:lnTo>
                  <a:cubicBezTo>
                    <a:pt x="186436" y="3555492"/>
                    <a:pt x="121920" y="3528695"/>
                    <a:pt x="74295" y="3481197"/>
                  </a:cubicBezTo>
                  <a:cubicBezTo>
                    <a:pt x="26670" y="3433699"/>
                    <a:pt x="0" y="3369056"/>
                    <a:pt x="0" y="3301873"/>
                  </a:cubicBezTo>
                  <a:lnTo>
                    <a:pt x="0" y="253873"/>
                  </a:lnTo>
                  <a:cubicBezTo>
                    <a:pt x="0" y="186436"/>
                    <a:pt x="26797" y="121920"/>
                    <a:pt x="74295" y="74295"/>
                  </a:cubicBezTo>
                  <a:cubicBezTo>
                    <a:pt x="121793" y="26670"/>
                    <a:pt x="186436" y="0"/>
                    <a:pt x="253746" y="0"/>
                  </a:cubicBezTo>
                  <a:close/>
                </a:path>
              </a:pathLst>
            </a:custGeom>
            <a:blipFill>
              <a:blip r:embed="rId13"/>
              <a:stretch>
                <a:fillRect l="0" t="-13414" r="0" b="-13414"/>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1537276" y="1490006"/>
            <a:ext cx="11399050" cy="0"/>
          </a:xfrm>
          <a:prstGeom prst="line">
            <a:avLst/>
          </a:prstGeom>
          <a:ln cap="rnd" w="57150">
            <a:solidFill>
              <a:srgbClr val="FF5300"/>
            </a:solidFill>
            <a:prstDash val="solid"/>
            <a:headEnd type="none" len="sm" w="sm"/>
            <a:tailEnd type="none" len="sm" w="sm"/>
          </a:ln>
        </p:spPr>
      </p:sp>
      <p:sp>
        <p:nvSpPr>
          <p:cNvPr name="Freeform 3" id="3"/>
          <p:cNvSpPr/>
          <p:nvPr/>
        </p:nvSpPr>
        <p:spPr>
          <a:xfrm flipH="false" flipV="false" rot="0">
            <a:off x="350681" y="8726519"/>
            <a:ext cx="1150010" cy="1150010"/>
          </a:xfrm>
          <a:custGeom>
            <a:avLst/>
            <a:gdLst/>
            <a:ahLst/>
            <a:cxnLst/>
            <a:rect r="r" b="b" t="t" l="l"/>
            <a:pathLst>
              <a:path h="1150010" w="1150010">
                <a:moveTo>
                  <a:pt x="0" y="0"/>
                </a:moveTo>
                <a:lnTo>
                  <a:pt x="1150010" y="0"/>
                </a:lnTo>
                <a:lnTo>
                  <a:pt x="1150010" y="1150010"/>
                </a:lnTo>
                <a:lnTo>
                  <a:pt x="0" y="11500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14485" y="8990323"/>
            <a:ext cx="622411" cy="622411"/>
          </a:xfrm>
          <a:custGeom>
            <a:avLst/>
            <a:gdLst/>
            <a:ahLst/>
            <a:cxnLst/>
            <a:rect r="r" b="b" t="t" l="l"/>
            <a:pathLst>
              <a:path h="622411" w="622411">
                <a:moveTo>
                  <a:pt x="0" y="0"/>
                </a:moveTo>
                <a:lnTo>
                  <a:pt x="622411" y="0"/>
                </a:lnTo>
                <a:lnTo>
                  <a:pt x="622411" y="622411"/>
                </a:lnTo>
                <a:lnTo>
                  <a:pt x="0" y="6224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70837" y="538669"/>
            <a:ext cx="8816297" cy="8645647"/>
          </a:xfrm>
          <a:custGeom>
            <a:avLst/>
            <a:gdLst/>
            <a:ahLst/>
            <a:cxnLst/>
            <a:rect r="r" b="b" t="t" l="l"/>
            <a:pathLst>
              <a:path h="8645647" w="8816297">
                <a:moveTo>
                  <a:pt x="0" y="0"/>
                </a:moveTo>
                <a:lnTo>
                  <a:pt x="8816297" y="0"/>
                </a:lnTo>
                <a:lnTo>
                  <a:pt x="8816297" y="8645647"/>
                </a:lnTo>
                <a:lnTo>
                  <a:pt x="0" y="8645647"/>
                </a:lnTo>
                <a:lnTo>
                  <a:pt x="0" y="0"/>
                </a:lnTo>
                <a:close/>
              </a:path>
            </a:pathLst>
          </a:custGeom>
          <a:blipFill>
            <a:blip r:embed="rId6">
              <a:extLst>
                <a:ext uri="{96DAC541-7B7A-43D3-8B79-37D633B846F1}">
                  <asvg:svgBlip xmlns:asvg="http://schemas.microsoft.com/office/drawing/2016/SVG/main" r:embed="rId7"/>
                </a:ext>
              </a:extLst>
            </a:blip>
            <a:stretch>
              <a:fillRect l="0" t="-36" r="0" b="-36"/>
            </a:stretch>
          </a:blipFill>
        </p:spPr>
      </p:sp>
      <p:sp>
        <p:nvSpPr>
          <p:cNvPr name="Freeform 6" id="6"/>
          <p:cNvSpPr/>
          <p:nvPr/>
        </p:nvSpPr>
        <p:spPr>
          <a:xfrm flipH="false" flipV="false" rot="0">
            <a:off x="16602262" y="5388950"/>
            <a:ext cx="4084872" cy="4114800"/>
          </a:xfrm>
          <a:custGeom>
            <a:avLst/>
            <a:gdLst/>
            <a:ahLst/>
            <a:cxnLst/>
            <a:rect r="r" b="b" t="t" l="l"/>
            <a:pathLst>
              <a:path h="4114800" w="4084872">
                <a:moveTo>
                  <a:pt x="0" y="0"/>
                </a:moveTo>
                <a:lnTo>
                  <a:pt x="4084872" y="0"/>
                </a:lnTo>
                <a:lnTo>
                  <a:pt x="4084872" y="4114800"/>
                </a:lnTo>
                <a:lnTo>
                  <a:pt x="0" y="4114800"/>
                </a:lnTo>
                <a:lnTo>
                  <a:pt x="0" y="0"/>
                </a:lnTo>
                <a:close/>
              </a:path>
            </a:pathLst>
          </a:custGeom>
          <a:blipFill>
            <a:blip r:embed="rId8">
              <a:alphaModFix amt="40000"/>
              <a:extLst>
                <a:ext uri="{96DAC541-7B7A-43D3-8B79-37D633B846F1}">
                  <asvg:svgBlip xmlns:asvg="http://schemas.microsoft.com/office/drawing/2016/SVG/main" r:embed="rId9"/>
                </a:ext>
              </a:extLst>
            </a:blip>
            <a:stretch>
              <a:fillRect l="-133" t="0" r="-133" b="0"/>
            </a:stretch>
          </a:blipFill>
        </p:spPr>
      </p:sp>
      <p:grpSp>
        <p:nvGrpSpPr>
          <p:cNvPr name="Group 7" id="7"/>
          <p:cNvGrpSpPr/>
          <p:nvPr/>
        </p:nvGrpSpPr>
        <p:grpSpPr>
          <a:xfrm rot="0">
            <a:off x="12459554" y="233385"/>
            <a:ext cx="5645068" cy="7536617"/>
            <a:chOff x="0" y="0"/>
            <a:chExt cx="9282240" cy="12392533"/>
          </a:xfrm>
        </p:grpSpPr>
        <p:sp>
          <p:nvSpPr>
            <p:cNvPr name="Freeform 8" id="8"/>
            <p:cNvSpPr/>
            <p:nvPr/>
          </p:nvSpPr>
          <p:spPr>
            <a:xfrm flipH="false" flipV="false" rot="0">
              <a:off x="40" y="0"/>
              <a:ext cx="9282236" cy="12392533"/>
            </a:xfrm>
            <a:custGeom>
              <a:avLst/>
              <a:gdLst/>
              <a:ahLst/>
              <a:cxnLst/>
              <a:rect r="r" b="b" t="t" l="l"/>
              <a:pathLst>
                <a:path h="12392533" w="9282236">
                  <a:moveTo>
                    <a:pt x="6517727" y="0"/>
                  </a:moveTo>
                  <a:lnTo>
                    <a:pt x="504785" y="0"/>
                  </a:lnTo>
                  <a:cubicBezTo>
                    <a:pt x="355052" y="0"/>
                    <a:pt x="213066" y="66421"/>
                    <a:pt x="117181" y="181483"/>
                  </a:cubicBezTo>
                  <a:cubicBezTo>
                    <a:pt x="21296" y="296545"/>
                    <a:pt x="-18709" y="448056"/>
                    <a:pt x="8215" y="595376"/>
                  </a:cubicBezTo>
                  <a:lnTo>
                    <a:pt x="2050629" y="11797157"/>
                  </a:lnTo>
                  <a:cubicBezTo>
                    <a:pt x="2113494" y="12141962"/>
                    <a:pt x="2413849" y="12392533"/>
                    <a:pt x="2764369" y="12392533"/>
                  </a:cubicBezTo>
                  <a:lnTo>
                    <a:pt x="8777311" y="12392533"/>
                  </a:lnTo>
                  <a:cubicBezTo>
                    <a:pt x="8927044" y="12392533"/>
                    <a:pt x="9069030" y="12326112"/>
                    <a:pt x="9165042" y="12211050"/>
                  </a:cubicBezTo>
                  <a:cubicBezTo>
                    <a:pt x="9261054" y="12095988"/>
                    <a:pt x="9300932" y="11944476"/>
                    <a:pt x="9274008" y="11797157"/>
                  </a:cubicBezTo>
                  <a:lnTo>
                    <a:pt x="7231594" y="595376"/>
                  </a:lnTo>
                  <a:cubicBezTo>
                    <a:pt x="7168602" y="250571"/>
                    <a:pt x="6868247" y="0"/>
                    <a:pt x="6517727" y="0"/>
                  </a:cubicBezTo>
                  <a:close/>
                </a:path>
              </a:pathLst>
            </a:custGeom>
            <a:blipFill>
              <a:blip r:embed="rId10"/>
              <a:stretch>
                <a:fillRect l="-50349" t="0" r="-50348" b="0"/>
              </a:stretch>
            </a:blipFill>
          </p:spPr>
        </p:sp>
      </p:grpSp>
      <p:sp>
        <p:nvSpPr>
          <p:cNvPr name="Freeform 9" id="9"/>
          <p:cNvSpPr/>
          <p:nvPr/>
        </p:nvSpPr>
        <p:spPr>
          <a:xfrm flipH="false" flipV="false" rot="0">
            <a:off x="17777790" y="667284"/>
            <a:ext cx="1948825" cy="1588294"/>
          </a:xfrm>
          <a:custGeom>
            <a:avLst/>
            <a:gdLst/>
            <a:ahLst/>
            <a:cxnLst/>
            <a:rect r="r" b="b" t="t" l="l"/>
            <a:pathLst>
              <a:path h="1588294" w="1948825">
                <a:moveTo>
                  <a:pt x="0" y="0"/>
                </a:moveTo>
                <a:lnTo>
                  <a:pt x="1948824" y="0"/>
                </a:lnTo>
                <a:lnTo>
                  <a:pt x="1948824" y="1588293"/>
                </a:lnTo>
                <a:lnTo>
                  <a:pt x="0" y="1588293"/>
                </a:lnTo>
                <a:lnTo>
                  <a:pt x="0" y="0"/>
                </a:lnTo>
                <a:close/>
              </a:path>
            </a:pathLst>
          </a:custGeom>
          <a:blipFill>
            <a:blip r:embed="rId11">
              <a:alphaModFix amt="80000"/>
              <a:extLst>
                <a:ext uri="{96DAC541-7B7A-43D3-8B79-37D633B846F1}">
                  <asvg:svgBlip xmlns:asvg="http://schemas.microsoft.com/office/drawing/2016/SVG/main" r:embed="rId12"/>
                </a:ext>
              </a:extLst>
            </a:blip>
            <a:stretch>
              <a:fillRect l="-22" t="0" r="-22" b="0"/>
            </a:stretch>
          </a:blipFill>
        </p:spPr>
      </p:sp>
      <p:sp>
        <p:nvSpPr>
          <p:cNvPr name="TextBox 10" id="10"/>
          <p:cNvSpPr txBox="true"/>
          <p:nvPr/>
        </p:nvSpPr>
        <p:spPr>
          <a:xfrm rot="0">
            <a:off x="182281" y="233385"/>
            <a:ext cx="7164560" cy="1228046"/>
          </a:xfrm>
          <a:prstGeom prst="rect">
            <a:avLst/>
          </a:prstGeom>
        </p:spPr>
        <p:txBody>
          <a:bodyPr anchor="t" rtlCol="false" tIns="0" lIns="0" bIns="0" rIns="0">
            <a:spAutoFit/>
          </a:bodyPr>
          <a:lstStyle/>
          <a:p>
            <a:pPr algn="l">
              <a:lnSpc>
                <a:spcPts val="4859"/>
              </a:lnSpc>
            </a:pPr>
            <a:r>
              <a:rPr lang="en-US" b="true" sz="4049">
                <a:gradFill>
                  <a:gsLst>
                    <a:gs pos="0">
                      <a:srgbClr val="004AAD">
                        <a:alpha val="100000"/>
                      </a:srgbClr>
                    </a:gs>
                    <a:gs pos="100000">
                      <a:srgbClr val="CB6CE6">
                        <a:alpha val="100000"/>
                      </a:srgbClr>
                    </a:gs>
                  </a:gsLst>
                  <a:lin ang="0"/>
                </a:gradFill>
                <a:latin typeface="Inter Bold"/>
                <a:ea typeface="Inter Bold"/>
                <a:cs typeface="Inter Bold"/>
                <a:sym typeface="Inter Bold"/>
              </a:rPr>
              <a:t>CV Parser Engine</a:t>
            </a:r>
          </a:p>
          <a:p>
            <a:pPr algn="l">
              <a:lnSpc>
                <a:spcPts val="4859"/>
              </a:lnSpc>
            </a:pPr>
          </a:p>
        </p:txBody>
      </p:sp>
      <p:sp>
        <p:nvSpPr>
          <p:cNvPr name="TextBox 11" id="11"/>
          <p:cNvSpPr txBox="true"/>
          <p:nvPr/>
        </p:nvSpPr>
        <p:spPr>
          <a:xfrm rot="0">
            <a:off x="644571" y="3585879"/>
            <a:ext cx="11807533" cy="4800328"/>
          </a:xfrm>
          <a:prstGeom prst="rect">
            <a:avLst/>
          </a:prstGeom>
        </p:spPr>
        <p:txBody>
          <a:bodyPr anchor="t" rtlCol="false" tIns="0" lIns="0" bIns="0" rIns="0">
            <a:spAutoFit/>
          </a:bodyPr>
          <a:lstStyle/>
          <a:p>
            <a:pPr algn="l">
              <a:lnSpc>
                <a:spcPts val="4743"/>
              </a:lnSpc>
            </a:pPr>
            <a:r>
              <a:rPr lang="en-US" sz="3951" b="true">
                <a:solidFill>
                  <a:srgbClr val="1C5F8A"/>
                </a:solidFill>
                <a:latin typeface="Inter Bold"/>
                <a:ea typeface="Inter Bold"/>
                <a:cs typeface="Inter Bold"/>
                <a:sym typeface="Inter Bold"/>
              </a:rPr>
              <a:t>K</a:t>
            </a:r>
            <a:r>
              <a:rPr lang="en-US" b="true" sz="3951">
                <a:solidFill>
                  <a:srgbClr val="1C5F8A"/>
                </a:solidFill>
                <a:latin typeface="Inter Bold"/>
                <a:ea typeface="Inter Bold"/>
                <a:cs typeface="Inter Bold"/>
                <a:sym typeface="Inter Bold"/>
              </a:rPr>
              <a:t>inova Tech (Casablanca) est une entreprise marocaine spécialisée en Intelligence Artificielle, Cybersécurité et Infrastructures Cloud. Elle accompagne les organisations dans leur transformation numérique souveraine, en alliant automatisation des processus métiers et respect strict de la protection des données                           (conformité CNDP / Loi 09-08).</a:t>
            </a:r>
          </a:p>
        </p:txBody>
      </p:sp>
      <p:sp>
        <p:nvSpPr>
          <p:cNvPr name="TextBox 12" id="12"/>
          <p:cNvSpPr txBox="true"/>
          <p:nvPr/>
        </p:nvSpPr>
        <p:spPr>
          <a:xfrm rot="0">
            <a:off x="1575305" y="9014689"/>
            <a:ext cx="3732324" cy="389021"/>
          </a:xfrm>
          <a:prstGeom prst="rect">
            <a:avLst/>
          </a:prstGeom>
        </p:spPr>
        <p:txBody>
          <a:bodyPr anchor="t" rtlCol="false" tIns="0" lIns="0" bIns="0" rIns="0">
            <a:spAutoFit/>
          </a:bodyPr>
          <a:lstStyle/>
          <a:p>
            <a:pPr algn="l">
              <a:lnSpc>
                <a:spcPts val="3043"/>
              </a:lnSpc>
            </a:pPr>
            <a:r>
              <a:rPr lang="en-US" sz="2536" b="true">
                <a:solidFill>
                  <a:srgbClr val="4B5563"/>
                </a:solidFill>
                <a:latin typeface="Inter Bold"/>
                <a:ea typeface="Inter Bold"/>
                <a:cs typeface="Inter Bold"/>
                <a:sym typeface="Inter Bold"/>
              </a:rPr>
              <a:t>Présenté par</a:t>
            </a:r>
          </a:p>
        </p:txBody>
      </p:sp>
      <p:sp>
        <p:nvSpPr>
          <p:cNvPr name="TextBox 13" id="13"/>
          <p:cNvSpPr txBox="true"/>
          <p:nvPr/>
        </p:nvSpPr>
        <p:spPr>
          <a:xfrm rot="0">
            <a:off x="2543112" y="9533874"/>
            <a:ext cx="5154627" cy="342655"/>
          </a:xfrm>
          <a:prstGeom prst="rect">
            <a:avLst/>
          </a:prstGeom>
        </p:spPr>
        <p:txBody>
          <a:bodyPr anchor="t" rtlCol="false" tIns="0" lIns="0" bIns="0" rIns="0">
            <a:spAutoFit/>
          </a:bodyPr>
          <a:lstStyle/>
          <a:p>
            <a:pPr algn="l">
              <a:lnSpc>
                <a:spcPts val="2706"/>
              </a:lnSpc>
            </a:pPr>
            <a:r>
              <a:rPr lang="en-US" sz="2255" b="true">
                <a:solidFill>
                  <a:srgbClr val="111827"/>
                </a:solidFill>
                <a:latin typeface="Inter Bold"/>
                <a:ea typeface="Inter Bold"/>
                <a:cs typeface="Inter Bold"/>
                <a:sym typeface="Inter Bold"/>
              </a:rPr>
              <a:t>Youssef Taicha</a:t>
            </a:r>
          </a:p>
        </p:txBody>
      </p:sp>
      <p:sp>
        <p:nvSpPr>
          <p:cNvPr name="TextBox 14" id="14"/>
          <p:cNvSpPr txBox="true"/>
          <p:nvPr/>
        </p:nvSpPr>
        <p:spPr>
          <a:xfrm rot="0">
            <a:off x="14459537" y="8194135"/>
            <a:ext cx="4568885" cy="666750"/>
          </a:xfrm>
          <a:prstGeom prst="rect">
            <a:avLst/>
          </a:prstGeom>
        </p:spPr>
        <p:txBody>
          <a:bodyPr anchor="t" rtlCol="false" tIns="0" lIns="0" bIns="0" rIns="0">
            <a:spAutoFit/>
          </a:bodyPr>
          <a:lstStyle/>
          <a:p>
            <a:pPr algn="l">
              <a:lnSpc>
                <a:spcPts val="2638"/>
              </a:lnSpc>
            </a:pPr>
            <a:r>
              <a:rPr lang="en-US" sz="2199" b="true">
                <a:solidFill>
                  <a:srgbClr val="FFFFFF"/>
                </a:solidFill>
                <a:latin typeface="Inter Bold"/>
                <a:ea typeface="Inter Bold"/>
                <a:cs typeface="Inter Bold"/>
                <a:sym typeface="Inter Bold"/>
              </a:rPr>
              <a:t>EST Meknès — UMI · Génie Informatique · 2025/2026</a:t>
            </a:r>
          </a:p>
        </p:txBody>
      </p:sp>
      <p:grpSp>
        <p:nvGrpSpPr>
          <p:cNvPr name="Group 15" id="15"/>
          <p:cNvGrpSpPr/>
          <p:nvPr/>
        </p:nvGrpSpPr>
        <p:grpSpPr>
          <a:xfrm rot="0">
            <a:off x="6758200" y="-589589"/>
            <a:ext cx="4149670" cy="3271866"/>
            <a:chOff x="0" y="0"/>
            <a:chExt cx="4509389" cy="3555492"/>
          </a:xfrm>
        </p:grpSpPr>
        <p:sp>
          <p:nvSpPr>
            <p:cNvPr name="Freeform 16" id="16"/>
            <p:cNvSpPr/>
            <p:nvPr/>
          </p:nvSpPr>
          <p:spPr>
            <a:xfrm flipH="false" flipV="false" rot="0">
              <a:off x="0" y="0"/>
              <a:ext cx="4509389" cy="3555492"/>
            </a:xfrm>
            <a:custGeom>
              <a:avLst/>
              <a:gdLst/>
              <a:ahLst/>
              <a:cxnLst/>
              <a:rect r="r" b="b" t="t" l="l"/>
              <a:pathLst>
                <a:path h="3555492" w="4509389">
                  <a:moveTo>
                    <a:pt x="253746" y="0"/>
                  </a:moveTo>
                  <a:lnTo>
                    <a:pt x="4255643" y="0"/>
                  </a:lnTo>
                  <a:cubicBezTo>
                    <a:pt x="4322953" y="0"/>
                    <a:pt x="4387469" y="26797"/>
                    <a:pt x="4435094" y="74295"/>
                  </a:cubicBezTo>
                  <a:cubicBezTo>
                    <a:pt x="4482719" y="121793"/>
                    <a:pt x="4509389" y="186436"/>
                    <a:pt x="4509389" y="253746"/>
                  </a:cubicBezTo>
                  <a:lnTo>
                    <a:pt x="4509389" y="3301746"/>
                  </a:lnTo>
                  <a:cubicBezTo>
                    <a:pt x="4509389" y="3369056"/>
                    <a:pt x="4482592" y="3433572"/>
                    <a:pt x="4435094" y="3481197"/>
                  </a:cubicBezTo>
                  <a:cubicBezTo>
                    <a:pt x="4387596" y="3528822"/>
                    <a:pt x="4322953" y="3555492"/>
                    <a:pt x="4255643" y="3555492"/>
                  </a:cubicBezTo>
                  <a:lnTo>
                    <a:pt x="253746" y="3555492"/>
                  </a:lnTo>
                  <a:cubicBezTo>
                    <a:pt x="186436" y="3555492"/>
                    <a:pt x="121920" y="3528695"/>
                    <a:pt x="74295" y="3481197"/>
                  </a:cubicBezTo>
                  <a:cubicBezTo>
                    <a:pt x="26670" y="3433699"/>
                    <a:pt x="0" y="3369056"/>
                    <a:pt x="0" y="3301873"/>
                  </a:cubicBezTo>
                  <a:lnTo>
                    <a:pt x="0" y="253873"/>
                  </a:lnTo>
                  <a:cubicBezTo>
                    <a:pt x="0" y="186436"/>
                    <a:pt x="26797" y="121920"/>
                    <a:pt x="74295" y="74295"/>
                  </a:cubicBezTo>
                  <a:cubicBezTo>
                    <a:pt x="121793" y="26670"/>
                    <a:pt x="186436" y="0"/>
                    <a:pt x="253746" y="0"/>
                  </a:cubicBezTo>
                  <a:close/>
                </a:path>
              </a:pathLst>
            </a:custGeom>
            <a:blipFill>
              <a:blip r:embed="rId13"/>
              <a:stretch>
                <a:fillRect l="0" t="-13414" r="0" b="-13414"/>
              </a:stretch>
            </a:blipFill>
          </p:spPr>
        </p:sp>
      </p:grpSp>
      <p:sp>
        <p:nvSpPr>
          <p:cNvPr name="AutoShape 17" id="17"/>
          <p:cNvSpPr/>
          <p:nvPr/>
        </p:nvSpPr>
        <p:spPr>
          <a:xfrm>
            <a:off x="1212633" y="8891749"/>
            <a:ext cx="5149270" cy="0"/>
          </a:xfrm>
          <a:prstGeom prst="line">
            <a:avLst/>
          </a:prstGeom>
          <a:ln cap="rnd" w="57150">
            <a:solidFill>
              <a:srgbClr val="FF5300"/>
            </a:solidFill>
            <a:prstDash val="solid"/>
            <a:headEnd type="none" len="sm" w="sm"/>
            <a:tailEnd type="none" len="sm" w="sm"/>
          </a:ln>
        </p:spPr>
      </p:sp>
      <p:sp>
        <p:nvSpPr>
          <p:cNvPr name="TextBox 18" id="18"/>
          <p:cNvSpPr txBox="true"/>
          <p:nvPr/>
        </p:nvSpPr>
        <p:spPr>
          <a:xfrm rot="0">
            <a:off x="0" y="2199290"/>
            <a:ext cx="5120426" cy="819075"/>
          </a:xfrm>
          <a:prstGeom prst="rect">
            <a:avLst/>
          </a:prstGeom>
        </p:spPr>
        <p:txBody>
          <a:bodyPr anchor="t" rtlCol="false" tIns="0" lIns="0" bIns="0" rIns="0">
            <a:spAutoFit/>
          </a:bodyPr>
          <a:lstStyle/>
          <a:p>
            <a:pPr algn="ctr">
              <a:lnSpc>
                <a:spcPts val="3239"/>
              </a:lnSpc>
              <a:spcBef>
                <a:spcPct val="0"/>
              </a:spcBef>
            </a:pPr>
            <a:r>
              <a:rPr lang="en-US" b="true" sz="2698">
                <a:gradFill>
                  <a:gsLst>
                    <a:gs pos="0">
                      <a:srgbClr val="004AAD">
                        <a:alpha val="100000"/>
                      </a:srgbClr>
                    </a:gs>
                    <a:gs pos="100000">
                      <a:srgbClr val="CB6CE6">
                        <a:alpha val="100000"/>
                      </a:srgbClr>
                    </a:gs>
                  </a:gsLst>
                  <a:lin ang="0"/>
                </a:gradFill>
                <a:latin typeface="Inter Bold"/>
                <a:ea typeface="Inter Bold"/>
                <a:cs typeface="Inter Bold"/>
                <a:sym typeface="Inter Bold"/>
              </a:rPr>
              <a:t>présentationde l'entreprise d'accueil Kinova Tech</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11122628" y="-108499"/>
            <a:ext cx="7703334" cy="10395499"/>
          </a:xfrm>
          <a:custGeom>
            <a:avLst/>
            <a:gdLst/>
            <a:ahLst/>
            <a:cxnLst/>
            <a:rect r="r" b="b" t="t" l="l"/>
            <a:pathLst>
              <a:path h="10395499" w="7703334">
                <a:moveTo>
                  <a:pt x="0" y="0"/>
                </a:moveTo>
                <a:lnTo>
                  <a:pt x="7703334" y="0"/>
                </a:lnTo>
                <a:lnTo>
                  <a:pt x="7703334" y="10395499"/>
                </a:lnTo>
                <a:lnTo>
                  <a:pt x="0" y="10395499"/>
                </a:lnTo>
                <a:lnTo>
                  <a:pt x="0" y="0"/>
                </a:lnTo>
                <a:close/>
              </a:path>
            </a:pathLst>
          </a:custGeom>
          <a:blipFill>
            <a:blip r:embed="rId4">
              <a:extLst>
                <a:ext uri="{96DAC541-7B7A-43D3-8B79-37D633B846F1}">
                  <asvg:svgBlip xmlns:asvg="http://schemas.microsoft.com/office/drawing/2016/SVG/main" r:embed="rId5"/>
                </a:ext>
              </a:extLst>
            </a:blip>
            <a:stretch>
              <a:fillRect l="0" t="-12" r="0" b="-12"/>
            </a:stretch>
          </a:blipFill>
        </p:spPr>
      </p:sp>
      <p:sp>
        <p:nvSpPr>
          <p:cNvPr name="Freeform 4" id="4"/>
          <p:cNvSpPr/>
          <p:nvPr/>
        </p:nvSpPr>
        <p:spPr>
          <a:xfrm flipH="false" flipV="false" rot="0">
            <a:off x="3970191"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6">
              <a:extLst>
                <a:ext uri="{96DAC541-7B7A-43D3-8B79-37D633B846F1}">
                  <asvg:svgBlip xmlns:asvg="http://schemas.microsoft.com/office/drawing/2016/SVG/main" r:embed="rId7"/>
                </a:ext>
              </a:extLst>
            </a:blip>
            <a:stretch>
              <a:fillRect l="-5163" t="0" r="-5172" b="0"/>
            </a:stretch>
          </a:blipFill>
        </p:spPr>
      </p:sp>
      <p:sp>
        <p:nvSpPr>
          <p:cNvPr name="Freeform 5" id="5"/>
          <p:cNvSpPr/>
          <p:nvPr/>
        </p:nvSpPr>
        <p:spPr>
          <a:xfrm flipH="false" flipV="false" rot="0">
            <a:off x="4175646"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6">
              <a:extLst>
                <a:ext uri="{96DAC541-7B7A-43D3-8B79-37D633B846F1}">
                  <asvg:svgBlip xmlns:asvg="http://schemas.microsoft.com/office/drawing/2016/SVG/main" r:embed="rId7"/>
                </a:ext>
              </a:extLst>
            </a:blip>
            <a:stretch>
              <a:fillRect l="-5163" t="0" r="-5172" b="0"/>
            </a:stretch>
          </a:blipFill>
        </p:spPr>
      </p:sp>
      <p:sp>
        <p:nvSpPr>
          <p:cNvPr name="Freeform 6" id="6"/>
          <p:cNvSpPr/>
          <p:nvPr/>
        </p:nvSpPr>
        <p:spPr>
          <a:xfrm flipH="false" flipV="false" rot="0">
            <a:off x="4381100"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6">
              <a:extLst>
                <a:ext uri="{96DAC541-7B7A-43D3-8B79-37D633B846F1}">
                  <asvg:svgBlip xmlns:asvg="http://schemas.microsoft.com/office/drawing/2016/SVG/main" r:embed="rId7"/>
                </a:ext>
              </a:extLst>
            </a:blip>
            <a:stretch>
              <a:fillRect l="-5163" t="0" r="-5172" b="0"/>
            </a:stretch>
          </a:blipFill>
        </p:spPr>
      </p:sp>
      <p:sp>
        <p:nvSpPr>
          <p:cNvPr name="AutoShape 7" id="7"/>
          <p:cNvSpPr/>
          <p:nvPr/>
        </p:nvSpPr>
        <p:spPr>
          <a:xfrm>
            <a:off x="0" y="3169834"/>
            <a:ext cx="7063250" cy="0"/>
          </a:xfrm>
          <a:prstGeom prst="line">
            <a:avLst/>
          </a:prstGeom>
          <a:ln cap="rnd" w="47625">
            <a:solidFill>
              <a:srgbClr val="FF5300"/>
            </a:solidFill>
            <a:prstDash val="solid"/>
            <a:headEnd type="none" len="sm" w="sm"/>
            <a:tailEnd type="none" len="sm" w="sm"/>
          </a:ln>
        </p:spPr>
      </p:sp>
      <p:grpSp>
        <p:nvGrpSpPr>
          <p:cNvPr name="Group 8" id="8"/>
          <p:cNvGrpSpPr/>
          <p:nvPr/>
        </p:nvGrpSpPr>
        <p:grpSpPr>
          <a:xfrm rot="0">
            <a:off x="-854021" y="5896928"/>
            <a:ext cx="10575884" cy="6009694"/>
            <a:chOff x="0" y="0"/>
            <a:chExt cx="14101178" cy="8012925"/>
          </a:xfrm>
        </p:grpSpPr>
        <p:sp>
          <p:nvSpPr>
            <p:cNvPr name="Freeform 9" id="9"/>
            <p:cNvSpPr/>
            <p:nvPr/>
          </p:nvSpPr>
          <p:spPr>
            <a:xfrm flipH="false" flipV="false" rot="0">
              <a:off x="-84" y="0"/>
              <a:ext cx="14101142" cy="8013065"/>
            </a:xfrm>
            <a:custGeom>
              <a:avLst/>
              <a:gdLst/>
              <a:ahLst/>
              <a:cxnLst/>
              <a:rect r="r" b="b" t="t" l="l"/>
              <a:pathLst>
                <a:path h="8013065" w="14101142">
                  <a:moveTo>
                    <a:pt x="4218516" y="0"/>
                  </a:moveTo>
                  <a:lnTo>
                    <a:pt x="9882716" y="0"/>
                  </a:lnTo>
                  <a:cubicBezTo>
                    <a:pt x="10676593" y="0"/>
                    <a:pt x="11392619" y="477139"/>
                    <a:pt x="11698562" y="1209675"/>
                  </a:cubicBezTo>
                  <a:lnTo>
                    <a:pt x="14033711" y="6803390"/>
                  </a:lnTo>
                  <a:cubicBezTo>
                    <a:pt x="14146233" y="7072884"/>
                    <a:pt x="14116642" y="7380860"/>
                    <a:pt x="13954590" y="7623937"/>
                  </a:cubicBezTo>
                  <a:cubicBezTo>
                    <a:pt x="13792538" y="7867015"/>
                    <a:pt x="13519870" y="8013065"/>
                    <a:pt x="13227770" y="8013065"/>
                  </a:cubicBezTo>
                  <a:lnTo>
                    <a:pt x="873336" y="8013065"/>
                  </a:lnTo>
                  <a:cubicBezTo>
                    <a:pt x="581236" y="8013065"/>
                    <a:pt x="308440" y="7867142"/>
                    <a:pt x="146515" y="7623937"/>
                  </a:cubicBezTo>
                  <a:cubicBezTo>
                    <a:pt x="-15410" y="7380732"/>
                    <a:pt x="-45128" y="7072885"/>
                    <a:pt x="67394" y="6803390"/>
                  </a:cubicBezTo>
                  <a:lnTo>
                    <a:pt x="2402797" y="1209675"/>
                  </a:lnTo>
                  <a:cubicBezTo>
                    <a:pt x="2708613" y="477139"/>
                    <a:pt x="3424766" y="0"/>
                    <a:pt x="4218516" y="0"/>
                  </a:cubicBezTo>
                  <a:close/>
                </a:path>
              </a:pathLst>
            </a:custGeom>
            <a:blipFill>
              <a:blip r:embed="rId8"/>
              <a:stretch>
                <a:fillRect l="0" t="-37989" r="0" b="-37987"/>
              </a:stretch>
            </a:blipFill>
          </p:spPr>
        </p:sp>
      </p:grpSp>
      <p:sp>
        <p:nvSpPr>
          <p:cNvPr name="Freeform 10" id="10"/>
          <p:cNvSpPr/>
          <p:nvPr/>
        </p:nvSpPr>
        <p:spPr>
          <a:xfrm flipH="false" flipV="false" rot="0">
            <a:off x="10142563" y="690858"/>
            <a:ext cx="7235619" cy="1999212"/>
          </a:xfrm>
          <a:custGeom>
            <a:avLst/>
            <a:gdLst/>
            <a:ahLst/>
            <a:cxnLst/>
            <a:rect r="r" b="b" t="t" l="l"/>
            <a:pathLst>
              <a:path h="1999212" w="7235619">
                <a:moveTo>
                  <a:pt x="0" y="0"/>
                </a:moveTo>
                <a:lnTo>
                  <a:pt x="7235619" y="0"/>
                </a:lnTo>
                <a:lnTo>
                  <a:pt x="7235619" y="1999212"/>
                </a:lnTo>
                <a:lnTo>
                  <a:pt x="0" y="1999212"/>
                </a:lnTo>
                <a:lnTo>
                  <a:pt x="0" y="0"/>
                </a:lnTo>
                <a:close/>
              </a:path>
            </a:pathLst>
          </a:custGeom>
          <a:blipFill>
            <a:blip r:embed="rId9">
              <a:extLst>
                <a:ext uri="{96DAC541-7B7A-43D3-8B79-37D633B846F1}">
                  <asvg:svgBlip xmlns:asvg="http://schemas.microsoft.com/office/drawing/2016/SVG/main" r:embed="rId10"/>
                </a:ext>
              </a:extLst>
            </a:blip>
            <a:stretch>
              <a:fillRect l="0" t="-2" r="0" b="-2"/>
            </a:stretch>
          </a:blipFill>
        </p:spPr>
      </p:sp>
      <p:sp>
        <p:nvSpPr>
          <p:cNvPr name="Freeform 11" id="11"/>
          <p:cNvSpPr/>
          <p:nvPr/>
        </p:nvSpPr>
        <p:spPr>
          <a:xfrm flipH="false" flipV="false" rot="0">
            <a:off x="10531002" y="1196369"/>
            <a:ext cx="1151087" cy="1151087"/>
          </a:xfrm>
          <a:custGeom>
            <a:avLst/>
            <a:gdLst/>
            <a:ahLst/>
            <a:cxnLst/>
            <a:rect r="r" b="b" t="t" l="l"/>
            <a:pathLst>
              <a:path h="1151087" w="1151087">
                <a:moveTo>
                  <a:pt x="0" y="0"/>
                </a:moveTo>
                <a:lnTo>
                  <a:pt x="1151087" y="0"/>
                </a:lnTo>
                <a:lnTo>
                  <a:pt x="1151087" y="1151086"/>
                </a:lnTo>
                <a:lnTo>
                  <a:pt x="0" y="11510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0804893" y="1470260"/>
            <a:ext cx="603304" cy="603304"/>
          </a:xfrm>
          <a:custGeom>
            <a:avLst/>
            <a:gdLst/>
            <a:ahLst/>
            <a:cxnLst/>
            <a:rect r="r" b="b" t="t" l="l"/>
            <a:pathLst>
              <a:path h="603304" w="603304">
                <a:moveTo>
                  <a:pt x="0" y="0"/>
                </a:moveTo>
                <a:lnTo>
                  <a:pt x="603304" y="0"/>
                </a:lnTo>
                <a:lnTo>
                  <a:pt x="603304" y="603304"/>
                </a:lnTo>
                <a:lnTo>
                  <a:pt x="0" y="6033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AutoShape 13" id="13"/>
          <p:cNvSpPr/>
          <p:nvPr/>
        </p:nvSpPr>
        <p:spPr>
          <a:xfrm rot="27120">
            <a:off x="11355724" y="1705556"/>
            <a:ext cx="1208637" cy="0"/>
          </a:xfrm>
          <a:prstGeom prst="line">
            <a:avLst/>
          </a:prstGeom>
          <a:ln cap="rnd" w="9525">
            <a:solidFill>
              <a:srgbClr val="CBCBCB"/>
            </a:solidFill>
            <a:prstDash val="solid"/>
            <a:headEnd type="none" len="sm" w="sm"/>
            <a:tailEnd type="none" len="sm" w="sm"/>
          </a:ln>
        </p:spPr>
      </p:sp>
      <p:sp>
        <p:nvSpPr>
          <p:cNvPr name="Freeform 14" id="14"/>
          <p:cNvSpPr/>
          <p:nvPr/>
        </p:nvSpPr>
        <p:spPr>
          <a:xfrm flipH="false" flipV="false" rot="0">
            <a:off x="10142563" y="2967733"/>
            <a:ext cx="7235619" cy="1999212"/>
          </a:xfrm>
          <a:custGeom>
            <a:avLst/>
            <a:gdLst/>
            <a:ahLst/>
            <a:cxnLst/>
            <a:rect r="r" b="b" t="t" l="l"/>
            <a:pathLst>
              <a:path h="1999212" w="7235619">
                <a:moveTo>
                  <a:pt x="0" y="0"/>
                </a:moveTo>
                <a:lnTo>
                  <a:pt x="7235619" y="0"/>
                </a:lnTo>
                <a:lnTo>
                  <a:pt x="7235619" y="1999212"/>
                </a:lnTo>
                <a:lnTo>
                  <a:pt x="0" y="1999212"/>
                </a:lnTo>
                <a:lnTo>
                  <a:pt x="0" y="0"/>
                </a:lnTo>
                <a:close/>
              </a:path>
            </a:pathLst>
          </a:custGeom>
          <a:blipFill>
            <a:blip r:embed="rId9">
              <a:extLst>
                <a:ext uri="{96DAC541-7B7A-43D3-8B79-37D633B846F1}">
                  <asvg:svgBlip xmlns:asvg="http://schemas.microsoft.com/office/drawing/2016/SVG/main" r:embed="rId10"/>
                </a:ext>
              </a:extLst>
            </a:blip>
            <a:stretch>
              <a:fillRect l="0" t="-2" r="0" b="-2"/>
            </a:stretch>
          </a:blipFill>
        </p:spPr>
      </p:sp>
      <p:sp>
        <p:nvSpPr>
          <p:cNvPr name="Freeform 15" id="15"/>
          <p:cNvSpPr/>
          <p:nvPr/>
        </p:nvSpPr>
        <p:spPr>
          <a:xfrm flipH="false" flipV="false" rot="0">
            <a:off x="10531002" y="3473244"/>
            <a:ext cx="1151087" cy="1151087"/>
          </a:xfrm>
          <a:custGeom>
            <a:avLst/>
            <a:gdLst/>
            <a:ahLst/>
            <a:cxnLst/>
            <a:rect r="r" b="b" t="t" l="l"/>
            <a:pathLst>
              <a:path h="1151087" w="1151087">
                <a:moveTo>
                  <a:pt x="0" y="0"/>
                </a:moveTo>
                <a:lnTo>
                  <a:pt x="1151087" y="0"/>
                </a:lnTo>
                <a:lnTo>
                  <a:pt x="1151087" y="1151086"/>
                </a:lnTo>
                <a:lnTo>
                  <a:pt x="0" y="11510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6" id="16"/>
          <p:cNvSpPr/>
          <p:nvPr/>
        </p:nvSpPr>
        <p:spPr>
          <a:xfrm rot="27120">
            <a:off x="11355724" y="3982422"/>
            <a:ext cx="1208637" cy="0"/>
          </a:xfrm>
          <a:prstGeom prst="line">
            <a:avLst/>
          </a:prstGeom>
          <a:ln cap="rnd" w="9525">
            <a:solidFill>
              <a:srgbClr val="CBCBCB"/>
            </a:solidFill>
            <a:prstDash val="solid"/>
            <a:headEnd type="none" len="sm" w="sm"/>
            <a:tailEnd type="none" len="sm" w="sm"/>
          </a:ln>
        </p:spPr>
      </p:sp>
      <p:sp>
        <p:nvSpPr>
          <p:cNvPr name="Freeform 17" id="17"/>
          <p:cNvSpPr/>
          <p:nvPr/>
        </p:nvSpPr>
        <p:spPr>
          <a:xfrm flipH="false" flipV="false" rot="0">
            <a:off x="10142563" y="5244598"/>
            <a:ext cx="7235619" cy="1999212"/>
          </a:xfrm>
          <a:custGeom>
            <a:avLst/>
            <a:gdLst/>
            <a:ahLst/>
            <a:cxnLst/>
            <a:rect r="r" b="b" t="t" l="l"/>
            <a:pathLst>
              <a:path h="1999212" w="7235619">
                <a:moveTo>
                  <a:pt x="0" y="0"/>
                </a:moveTo>
                <a:lnTo>
                  <a:pt x="7235619" y="0"/>
                </a:lnTo>
                <a:lnTo>
                  <a:pt x="7235619" y="1999212"/>
                </a:lnTo>
                <a:lnTo>
                  <a:pt x="0" y="1999212"/>
                </a:lnTo>
                <a:lnTo>
                  <a:pt x="0" y="0"/>
                </a:lnTo>
                <a:close/>
              </a:path>
            </a:pathLst>
          </a:custGeom>
          <a:blipFill>
            <a:blip r:embed="rId9">
              <a:extLst>
                <a:ext uri="{96DAC541-7B7A-43D3-8B79-37D633B846F1}">
                  <asvg:svgBlip xmlns:asvg="http://schemas.microsoft.com/office/drawing/2016/SVG/main" r:embed="rId10"/>
                </a:ext>
              </a:extLst>
            </a:blip>
            <a:stretch>
              <a:fillRect l="0" t="-2" r="0" b="-2"/>
            </a:stretch>
          </a:blipFill>
        </p:spPr>
      </p:sp>
      <p:sp>
        <p:nvSpPr>
          <p:cNvPr name="Freeform 18" id="18"/>
          <p:cNvSpPr/>
          <p:nvPr/>
        </p:nvSpPr>
        <p:spPr>
          <a:xfrm flipH="false" flipV="false" rot="0">
            <a:off x="10531002" y="5750109"/>
            <a:ext cx="1151087" cy="1151087"/>
          </a:xfrm>
          <a:custGeom>
            <a:avLst/>
            <a:gdLst/>
            <a:ahLst/>
            <a:cxnLst/>
            <a:rect r="r" b="b" t="t" l="l"/>
            <a:pathLst>
              <a:path h="1151087" w="1151087">
                <a:moveTo>
                  <a:pt x="0" y="0"/>
                </a:moveTo>
                <a:lnTo>
                  <a:pt x="1151087" y="0"/>
                </a:lnTo>
                <a:lnTo>
                  <a:pt x="1151087" y="1151087"/>
                </a:lnTo>
                <a:lnTo>
                  <a:pt x="0" y="115108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9" id="19"/>
          <p:cNvSpPr/>
          <p:nvPr/>
        </p:nvSpPr>
        <p:spPr>
          <a:xfrm rot="27120">
            <a:off x="11355724" y="6259297"/>
            <a:ext cx="1208637" cy="0"/>
          </a:xfrm>
          <a:prstGeom prst="line">
            <a:avLst/>
          </a:prstGeom>
          <a:ln cap="rnd" w="9525">
            <a:solidFill>
              <a:srgbClr val="CBCBCB"/>
            </a:solidFill>
            <a:prstDash val="solid"/>
            <a:headEnd type="none" len="sm" w="sm"/>
            <a:tailEnd type="none" len="sm" w="sm"/>
          </a:ln>
        </p:spPr>
      </p:sp>
      <p:sp>
        <p:nvSpPr>
          <p:cNvPr name="Freeform 20" id="20"/>
          <p:cNvSpPr/>
          <p:nvPr/>
        </p:nvSpPr>
        <p:spPr>
          <a:xfrm flipH="false" flipV="false" rot="0">
            <a:off x="10142563" y="7521473"/>
            <a:ext cx="7235619" cy="1999212"/>
          </a:xfrm>
          <a:custGeom>
            <a:avLst/>
            <a:gdLst/>
            <a:ahLst/>
            <a:cxnLst/>
            <a:rect r="r" b="b" t="t" l="l"/>
            <a:pathLst>
              <a:path h="1999212" w="7235619">
                <a:moveTo>
                  <a:pt x="0" y="0"/>
                </a:moveTo>
                <a:lnTo>
                  <a:pt x="7235619" y="0"/>
                </a:lnTo>
                <a:lnTo>
                  <a:pt x="7235619" y="1999212"/>
                </a:lnTo>
                <a:lnTo>
                  <a:pt x="0" y="1999212"/>
                </a:lnTo>
                <a:lnTo>
                  <a:pt x="0" y="0"/>
                </a:lnTo>
                <a:close/>
              </a:path>
            </a:pathLst>
          </a:custGeom>
          <a:blipFill>
            <a:blip r:embed="rId9">
              <a:extLst>
                <a:ext uri="{96DAC541-7B7A-43D3-8B79-37D633B846F1}">
                  <asvg:svgBlip xmlns:asvg="http://schemas.microsoft.com/office/drawing/2016/SVG/main" r:embed="rId10"/>
                </a:ext>
              </a:extLst>
            </a:blip>
            <a:stretch>
              <a:fillRect l="0" t="-2" r="0" b="-2"/>
            </a:stretch>
          </a:blipFill>
        </p:spPr>
      </p:sp>
      <p:sp>
        <p:nvSpPr>
          <p:cNvPr name="Freeform 21" id="21"/>
          <p:cNvSpPr/>
          <p:nvPr/>
        </p:nvSpPr>
        <p:spPr>
          <a:xfrm flipH="false" flipV="false" rot="0">
            <a:off x="10531002" y="8026984"/>
            <a:ext cx="1151087" cy="1151087"/>
          </a:xfrm>
          <a:custGeom>
            <a:avLst/>
            <a:gdLst/>
            <a:ahLst/>
            <a:cxnLst/>
            <a:rect r="r" b="b" t="t" l="l"/>
            <a:pathLst>
              <a:path h="1151087" w="1151087">
                <a:moveTo>
                  <a:pt x="0" y="0"/>
                </a:moveTo>
                <a:lnTo>
                  <a:pt x="1151087" y="0"/>
                </a:lnTo>
                <a:lnTo>
                  <a:pt x="1151087" y="1151087"/>
                </a:lnTo>
                <a:lnTo>
                  <a:pt x="0" y="115108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22" id="22"/>
          <p:cNvSpPr/>
          <p:nvPr/>
        </p:nvSpPr>
        <p:spPr>
          <a:xfrm rot="5345820">
            <a:off x="11341398" y="8516312"/>
            <a:ext cx="1208713" cy="0"/>
          </a:xfrm>
          <a:prstGeom prst="line">
            <a:avLst/>
          </a:prstGeom>
          <a:ln cap="rnd" w="9525">
            <a:solidFill>
              <a:srgbClr val="CBCBCB"/>
            </a:solidFill>
            <a:prstDash val="solid"/>
            <a:headEnd type="none" len="sm" w="sm"/>
            <a:tailEnd type="none" len="sm" w="sm"/>
          </a:ln>
        </p:spPr>
      </p:sp>
      <p:sp>
        <p:nvSpPr>
          <p:cNvPr name="Freeform 23" id="23"/>
          <p:cNvSpPr/>
          <p:nvPr/>
        </p:nvSpPr>
        <p:spPr>
          <a:xfrm flipH="false" flipV="false" rot="0">
            <a:off x="10908411" y="3777291"/>
            <a:ext cx="428444" cy="542992"/>
          </a:xfrm>
          <a:custGeom>
            <a:avLst/>
            <a:gdLst/>
            <a:ahLst/>
            <a:cxnLst/>
            <a:rect r="r" b="b" t="t" l="l"/>
            <a:pathLst>
              <a:path h="542992" w="428444">
                <a:moveTo>
                  <a:pt x="0" y="0"/>
                </a:moveTo>
                <a:lnTo>
                  <a:pt x="428444" y="0"/>
                </a:lnTo>
                <a:lnTo>
                  <a:pt x="428444" y="542992"/>
                </a:lnTo>
                <a:lnTo>
                  <a:pt x="0" y="542992"/>
                </a:lnTo>
                <a:lnTo>
                  <a:pt x="0" y="0"/>
                </a:lnTo>
                <a:close/>
              </a:path>
            </a:pathLst>
          </a:custGeom>
          <a:blipFill>
            <a:blip r:embed="rId15">
              <a:extLst>
                <a:ext uri="{96DAC541-7B7A-43D3-8B79-37D633B846F1}">
                  <asvg:svgBlip xmlns:asvg="http://schemas.microsoft.com/office/drawing/2016/SVG/main" r:embed="rId16"/>
                </a:ext>
              </a:extLst>
            </a:blip>
            <a:stretch>
              <a:fillRect l="0" t="-849" r="0" b="-850"/>
            </a:stretch>
          </a:blipFill>
        </p:spPr>
      </p:sp>
      <p:sp>
        <p:nvSpPr>
          <p:cNvPr name="Freeform 24" id="24"/>
          <p:cNvSpPr/>
          <p:nvPr/>
        </p:nvSpPr>
        <p:spPr>
          <a:xfrm flipH="false" flipV="false" rot="0">
            <a:off x="10831554" y="6056747"/>
            <a:ext cx="549973" cy="632155"/>
          </a:xfrm>
          <a:custGeom>
            <a:avLst/>
            <a:gdLst/>
            <a:ahLst/>
            <a:cxnLst/>
            <a:rect r="r" b="b" t="t" l="l"/>
            <a:pathLst>
              <a:path h="632155" w="549973">
                <a:moveTo>
                  <a:pt x="0" y="0"/>
                </a:moveTo>
                <a:lnTo>
                  <a:pt x="549973" y="0"/>
                </a:lnTo>
                <a:lnTo>
                  <a:pt x="549973" y="632156"/>
                </a:lnTo>
                <a:lnTo>
                  <a:pt x="0" y="632156"/>
                </a:lnTo>
                <a:lnTo>
                  <a:pt x="0" y="0"/>
                </a:lnTo>
                <a:close/>
              </a:path>
            </a:pathLst>
          </a:custGeom>
          <a:blipFill>
            <a:blip r:embed="rId17">
              <a:extLst>
                <a:ext uri="{96DAC541-7B7A-43D3-8B79-37D633B846F1}">
                  <asvg:svgBlip xmlns:asvg="http://schemas.microsoft.com/office/drawing/2016/SVG/main" r:embed="rId18"/>
                </a:ext>
              </a:extLst>
            </a:blip>
            <a:stretch>
              <a:fillRect l="0" t="-250" r="0" b="-250"/>
            </a:stretch>
          </a:blipFill>
        </p:spPr>
      </p:sp>
      <p:sp>
        <p:nvSpPr>
          <p:cNvPr name="Freeform 25" id="25"/>
          <p:cNvSpPr/>
          <p:nvPr/>
        </p:nvSpPr>
        <p:spPr>
          <a:xfrm flipH="false" flipV="false" rot="0">
            <a:off x="10872616" y="8284254"/>
            <a:ext cx="554631" cy="617506"/>
          </a:xfrm>
          <a:custGeom>
            <a:avLst/>
            <a:gdLst/>
            <a:ahLst/>
            <a:cxnLst/>
            <a:rect r="r" b="b" t="t" l="l"/>
            <a:pathLst>
              <a:path h="617506" w="554631">
                <a:moveTo>
                  <a:pt x="0" y="0"/>
                </a:moveTo>
                <a:lnTo>
                  <a:pt x="554631" y="0"/>
                </a:lnTo>
                <a:lnTo>
                  <a:pt x="554631" y="617506"/>
                </a:lnTo>
                <a:lnTo>
                  <a:pt x="0" y="617506"/>
                </a:lnTo>
                <a:lnTo>
                  <a:pt x="0" y="0"/>
                </a:lnTo>
                <a:close/>
              </a:path>
            </a:pathLst>
          </a:custGeom>
          <a:blipFill>
            <a:blip r:embed="rId19">
              <a:extLst>
                <a:ext uri="{96DAC541-7B7A-43D3-8B79-37D633B846F1}">
                  <asvg:svgBlip xmlns:asvg="http://schemas.microsoft.com/office/drawing/2016/SVG/main" r:embed="rId20"/>
                </a:ext>
              </a:extLst>
            </a:blip>
            <a:stretch>
              <a:fillRect l="-528" t="0" r="-530" b="0"/>
            </a:stretch>
          </a:blipFill>
        </p:spPr>
      </p:sp>
      <p:sp>
        <p:nvSpPr>
          <p:cNvPr name="TextBox 26" id="26"/>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02</a:t>
            </a:r>
          </a:p>
        </p:txBody>
      </p:sp>
      <p:sp>
        <p:nvSpPr>
          <p:cNvPr name="TextBox 27" id="27"/>
          <p:cNvSpPr txBox="true"/>
          <p:nvPr/>
        </p:nvSpPr>
        <p:spPr>
          <a:xfrm rot="0">
            <a:off x="960701" y="110909"/>
            <a:ext cx="3526107" cy="447818"/>
          </a:xfrm>
          <a:prstGeom prst="rect">
            <a:avLst/>
          </a:prstGeom>
        </p:spPr>
        <p:txBody>
          <a:bodyPr anchor="t" rtlCol="false" tIns="0" lIns="0" bIns="0" rIns="0">
            <a:spAutoFit/>
          </a:bodyPr>
          <a:lstStyle/>
          <a:p>
            <a:pPr algn="l">
              <a:lnSpc>
                <a:spcPts val="2422"/>
              </a:lnSpc>
            </a:pPr>
            <a:r>
              <a:rPr lang="en-US" sz="2018" b="true">
                <a:solidFill>
                  <a:srgbClr val="FF6B00"/>
                </a:solidFill>
                <a:latin typeface="Inter Bold"/>
                <a:ea typeface="Inter Bold"/>
                <a:cs typeface="Inter Bold"/>
                <a:sym typeface="Inter Bold"/>
              </a:rPr>
              <a:t>02 — LA PROBLÉMATIQUE</a:t>
            </a:r>
          </a:p>
        </p:txBody>
      </p:sp>
      <p:sp>
        <p:nvSpPr>
          <p:cNvPr name="TextBox 28" id="28"/>
          <p:cNvSpPr txBox="true"/>
          <p:nvPr/>
        </p:nvSpPr>
        <p:spPr>
          <a:xfrm rot="0">
            <a:off x="308600" y="3483273"/>
            <a:ext cx="9413272" cy="2143735"/>
          </a:xfrm>
          <a:prstGeom prst="rect">
            <a:avLst/>
          </a:prstGeom>
        </p:spPr>
        <p:txBody>
          <a:bodyPr anchor="t" rtlCol="false" tIns="0" lIns="0" bIns="0" rIns="0">
            <a:spAutoFit/>
          </a:bodyPr>
          <a:lstStyle/>
          <a:p>
            <a:pPr algn="l">
              <a:lnSpc>
                <a:spcPts val="3510"/>
              </a:lnSpc>
            </a:pPr>
            <a:r>
              <a:rPr lang="en-US" sz="2925">
                <a:solidFill>
                  <a:srgbClr val="4B5563"/>
                </a:solidFill>
                <a:latin typeface="Inter"/>
                <a:ea typeface="Inter"/>
                <a:cs typeface="Inter"/>
                <a:sym typeface="Inter"/>
              </a:rPr>
              <a:t>Les cabinets de recrutement et directions RH reçoivent quotidiennement des milliers de candidatures dans des formats hétérogènes (PDF, DOCX, scans), ce qui ralentit le processus et augmente les risques.</a:t>
            </a:r>
          </a:p>
        </p:txBody>
      </p:sp>
      <p:sp>
        <p:nvSpPr>
          <p:cNvPr name="TextBox 29" id="29"/>
          <p:cNvSpPr txBox="true"/>
          <p:nvPr/>
        </p:nvSpPr>
        <p:spPr>
          <a:xfrm rot="0">
            <a:off x="922572" y="1828009"/>
            <a:ext cx="7984998" cy="914356"/>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LE TRI MANUEL DE CVS</a:t>
            </a:r>
          </a:p>
          <a:p>
            <a:pPr algn="l">
              <a:lnSpc>
                <a:spcPts val="3600"/>
              </a:lnSpc>
            </a:pPr>
            <a:r>
              <a:rPr lang="en-US" sz="3000" b="true">
                <a:solidFill>
                  <a:srgbClr val="FF6B00"/>
                </a:solidFill>
                <a:latin typeface="Inter Bold"/>
                <a:ea typeface="Inter Bold"/>
                <a:cs typeface="Inter Bold"/>
                <a:sym typeface="Inter Bold"/>
              </a:rPr>
              <a:t>F</a:t>
            </a:r>
            <a:r>
              <a:rPr lang="en-US" b="true" sz="3000">
                <a:gradFill>
                  <a:gsLst>
                    <a:gs pos="0">
                      <a:srgbClr val="FF3131">
                        <a:alpha val="100000"/>
                      </a:srgbClr>
                    </a:gs>
                    <a:gs pos="100000">
                      <a:srgbClr val="FF914D">
                        <a:alpha val="100000"/>
                      </a:srgbClr>
                    </a:gs>
                  </a:gsLst>
                  <a:lin ang="0"/>
                </a:gradFill>
                <a:latin typeface="Inter Bold"/>
                <a:ea typeface="Inter Bold"/>
                <a:cs typeface="Inter Bold"/>
                <a:sym typeface="Inter Bold"/>
              </a:rPr>
              <a:t>REINE LE RECRUTEMENT</a:t>
            </a:r>
          </a:p>
        </p:txBody>
      </p:sp>
      <p:sp>
        <p:nvSpPr>
          <p:cNvPr name="TextBox 30" id="30"/>
          <p:cNvSpPr txBox="true"/>
          <p:nvPr/>
        </p:nvSpPr>
        <p:spPr>
          <a:xfrm rot="0">
            <a:off x="12076528" y="1317441"/>
            <a:ext cx="5187125" cy="1046417"/>
          </a:xfrm>
          <a:prstGeom prst="rect">
            <a:avLst/>
          </a:prstGeom>
        </p:spPr>
        <p:txBody>
          <a:bodyPr anchor="t" rtlCol="false" tIns="0" lIns="0" bIns="0" rIns="0">
            <a:spAutoFit/>
          </a:bodyPr>
          <a:lstStyle/>
          <a:p>
            <a:pPr algn="l">
              <a:lnSpc>
                <a:spcPts val="2717"/>
              </a:lnSpc>
            </a:pPr>
            <a:r>
              <a:rPr lang="en-US" sz="2264" b="true">
                <a:solidFill>
                  <a:srgbClr val="4B5563"/>
                </a:solidFill>
                <a:latin typeface="Inter Bold"/>
                <a:ea typeface="Inter Bold"/>
                <a:cs typeface="Inter Bold"/>
                <a:sym typeface="Inter Bold"/>
              </a:rPr>
              <a:t>Le tri manuel de chaque CV prend des heures et ralentit tout le processus de recrutement.</a:t>
            </a:r>
          </a:p>
        </p:txBody>
      </p:sp>
      <p:sp>
        <p:nvSpPr>
          <p:cNvPr name="TextBox 31" id="31"/>
          <p:cNvSpPr txBox="true"/>
          <p:nvPr/>
        </p:nvSpPr>
        <p:spPr>
          <a:xfrm rot="0">
            <a:off x="12007663" y="842601"/>
            <a:ext cx="2445972" cy="325936"/>
          </a:xfrm>
          <a:prstGeom prst="rect">
            <a:avLst/>
          </a:prstGeom>
        </p:spPr>
        <p:txBody>
          <a:bodyPr anchor="t" rtlCol="false" tIns="0" lIns="0" bIns="0" rIns="0">
            <a:spAutoFit/>
          </a:bodyPr>
          <a:lstStyle/>
          <a:p>
            <a:pPr algn="l">
              <a:lnSpc>
                <a:spcPts val="2668"/>
              </a:lnSpc>
            </a:pPr>
            <a:r>
              <a:rPr lang="en-US" sz="2223" b="true">
                <a:solidFill>
                  <a:srgbClr val="111827"/>
                </a:solidFill>
                <a:latin typeface="Inter Bold"/>
                <a:ea typeface="Inter Bold"/>
                <a:cs typeface="Inter Bold"/>
                <a:sym typeface="Inter Bold"/>
              </a:rPr>
              <a:t>TEMPS PERDU</a:t>
            </a:r>
          </a:p>
        </p:txBody>
      </p:sp>
      <p:sp>
        <p:nvSpPr>
          <p:cNvPr name="TextBox 32" id="32"/>
          <p:cNvSpPr txBox="true"/>
          <p:nvPr/>
        </p:nvSpPr>
        <p:spPr>
          <a:xfrm rot="0">
            <a:off x="16571462" y="806377"/>
            <a:ext cx="857526" cy="561975"/>
          </a:xfrm>
          <a:prstGeom prst="rect">
            <a:avLst/>
          </a:prstGeom>
        </p:spPr>
        <p:txBody>
          <a:bodyPr anchor="t" rtlCol="false" tIns="0" lIns="0" bIns="0" rIns="0">
            <a:spAutoFit/>
          </a:bodyPr>
          <a:lstStyle/>
          <a:p>
            <a:pPr algn="l">
              <a:lnSpc>
                <a:spcPts val="4320"/>
              </a:lnSpc>
            </a:pPr>
            <a:r>
              <a:rPr lang="en-US" sz="3600" b="true">
                <a:solidFill>
                  <a:srgbClr val="DCE1E6"/>
                </a:solidFill>
                <a:latin typeface="Inter Bold"/>
                <a:ea typeface="Inter Bold"/>
                <a:cs typeface="Inter Bold"/>
                <a:sym typeface="Inter Bold"/>
              </a:rPr>
              <a:t>01</a:t>
            </a:r>
          </a:p>
        </p:txBody>
      </p:sp>
      <p:sp>
        <p:nvSpPr>
          <p:cNvPr name="TextBox 33" id="33"/>
          <p:cNvSpPr txBox="true"/>
          <p:nvPr/>
        </p:nvSpPr>
        <p:spPr>
          <a:xfrm rot="0">
            <a:off x="12076528" y="3560883"/>
            <a:ext cx="5439642" cy="994258"/>
          </a:xfrm>
          <a:prstGeom prst="rect">
            <a:avLst/>
          </a:prstGeom>
        </p:spPr>
        <p:txBody>
          <a:bodyPr anchor="t" rtlCol="false" tIns="0" lIns="0" bIns="0" rIns="0">
            <a:spAutoFit/>
          </a:bodyPr>
          <a:lstStyle/>
          <a:p>
            <a:pPr algn="l">
              <a:lnSpc>
                <a:spcPts val="2660"/>
              </a:lnSpc>
            </a:pPr>
            <a:r>
              <a:rPr lang="en-US" sz="2217" b="true">
                <a:solidFill>
                  <a:srgbClr val="4B5563"/>
                </a:solidFill>
                <a:latin typeface="Inter Bold"/>
                <a:ea typeface="Inter Bold"/>
                <a:cs typeface="Inter Bold"/>
                <a:sym typeface="Inter Bold"/>
              </a:rPr>
              <a:t>Formats disparates (PDF, DOCX, images scannées) rendent l'extraction et la comparaison difficiles.</a:t>
            </a:r>
          </a:p>
        </p:txBody>
      </p:sp>
      <p:sp>
        <p:nvSpPr>
          <p:cNvPr name="TextBox 34" id="34"/>
          <p:cNvSpPr txBox="true"/>
          <p:nvPr/>
        </p:nvSpPr>
        <p:spPr>
          <a:xfrm rot="0">
            <a:off x="12076528" y="3169834"/>
            <a:ext cx="5352469" cy="338728"/>
          </a:xfrm>
          <a:prstGeom prst="rect">
            <a:avLst/>
          </a:prstGeom>
        </p:spPr>
        <p:txBody>
          <a:bodyPr anchor="t" rtlCol="false" tIns="0" lIns="0" bIns="0" rIns="0">
            <a:spAutoFit/>
          </a:bodyPr>
          <a:lstStyle/>
          <a:p>
            <a:pPr algn="l">
              <a:lnSpc>
                <a:spcPts val="2181"/>
              </a:lnSpc>
            </a:pPr>
            <a:r>
              <a:rPr lang="en-US" sz="1818" b="true">
                <a:solidFill>
                  <a:srgbClr val="111827"/>
                </a:solidFill>
                <a:latin typeface="Inter Bold"/>
                <a:ea typeface="Inter Bold"/>
                <a:cs typeface="Inter Bold"/>
                <a:sym typeface="Inter Bold"/>
              </a:rPr>
              <a:t>DONNÉES HÉTÉROGÈNES</a:t>
            </a:r>
          </a:p>
        </p:txBody>
      </p:sp>
      <p:sp>
        <p:nvSpPr>
          <p:cNvPr name="TextBox 35" id="35"/>
          <p:cNvSpPr txBox="true"/>
          <p:nvPr/>
        </p:nvSpPr>
        <p:spPr>
          <a:xfrm rot="0">
            <a:off x="16638441" y="3038970"/>
            <a:ext cx="598456" cy="1102081"/>
          </a:xfrm>
          <a:prstGeom prst="rect">
            <a:avLst/>
          </a:prstGeom>
        </p:spPr>
        <p:txBody>
          <a:bodyPr anchor="t" rtlCol="false" tIns="0" lIns="0" bIns="0" rIns="0">
            <a:spAutoFit/>
          </a:bodyPr>
          <a:lstStyle/>
          <a:p>
            <a:pPr algn="l">
              <a:lnSpc>
                <a:spcPts val="4320"/>
              </a:lnSpc>
            </a:pPr>
            <a:r>
              <a:rPr lang="en-US" sz="3600" b="true">
                <a:solidFill>
                  <a:srgbClr val="DCE1E6"/>
                </a:solidFill>
                <a:latin typeface="Inter Bold"/>
                <a:ea typeface="Inter Bold"/>
                <a:cs typeface="Inter Bold"/>
                <a:sym typeface="Inter Bold"/>
              </a:rPr>
              <a:t>02</a:t>
            </a:r>
          </a:p>
        </p:txBody>
      </p:sp>
      <p:sp>
        <p:nvSpPr>
          <p:cNvPr name="TextBox 36" id="36"/>
          <p:cNvSpPr txBox="true"/>
          <p:nvPr/>
        </p:nvSpPr>
        <p:spPr>
          <a:xfrm rot="0">
            <a:off x="11955285" y="5896928"/>
            <a:ext cx="5560876" cy="1004268"/>
          </a:xfrm>
          <a:prstGeom prst="rect">
            <a:avLst/>
          </a:prstGeom>
        </p:spPr>
        <p:txBody>
          <a:bodyPr anchor="t" rtlCol="false" tIns="0" lIns="0" bIns="0" rIns="0">
            <a:spAutoFit/>
          </a:bodyPr>
          <a:lstStyle/>
          <a:p>
            <a:pPr algn="l">
              <a:lnSpc>
                <a:spcPts val="2663"/>
              </a:lnSpc>
            </a:pPr>
            <a:r>
              <a:rPr lang="en-US" sz="2219" b="true">
                <a:solidFill>
                  <a:srgbClr val="4B5563"/>
                </a:solidFill>
                <a:latin typeface="Inter Bold"/>
                <a:ea typeface="Inter Bold"/>
                <a:cs typeface="Inter Bold"/>
                <a:sym typeface="Inter Bold"/>
              </a:rPr>
              <a:t>Traiter des données personnelles sans anonymisation expose à un risque légal (Loi 09-08 / CNDP).</a:t>
            </a:r>
          </a:p>
        </p:txBody>
      </p:sp>
      <p:sp>
        <p:nvSpPr>
          <p:cNvPr name="TextBox 37" id="37"/>
          <p:cNvSpPr txBox="true"/>
          <p:nvPr/>
        </p:nvSpPr>
        <p:spPr>
          <a:xfrm rot="0">
            <a:off x="12111495" y="5462245"/>
            <a:ext cx="4888735" cy="290332"/>
          </a:xfrm>
          <a:prstGeom prst="rect">
            <a:avLst/>
          </a:prstGeom>
        </p:spPr>
        <p:txBody>
          <a:bodyPr anchor="t" rtlCol="false" tIns="0" lIns="0" bIns="0" rIns="0">
            <a:spAutoFit/>
          </a:bodyPr>
          <a:lstStyle/>
          <a:p>
            <a:pPr algn="l">
              <a:lnSpc>
                <a:spcPts val="1992"/>
              </a:lnSpc>
            </a:pPr>
            <a:r>
              <a:rPr lang="en-US" sz="1659" b="true">
                <a:solidFill>
                  <a:srgbClr val="111827"/>
                </a:solidFill>
                <a:latin typeface="Inter Bold"/>
                <a:ea typeface="Inter Bold"/>
                <a:cs typeface="Inter Bold"/>
                <a:sym typeface="Inter Bold"/>
              </a:rPr>
              <a:t>RISQUE DE CONFORMITÉ</a:t>
            </a:r>
          </a:p>
        </p:txBody>
      </p:sp>
      <p:sp>
        <p:nvSpPr>
          <p:cNvPr name="TextBox 38" id="38"/>
          <p:cNvSpPr txBox="true"/>
          <p:nvPr/>
        </p:nvSpPr>
        <p:spPr>
          <a:xfrm rot="0">
            <a:off x="16571462" y="5296976"/>
            <a:ext cx="598456" cy="1102081"/>
          </a:xfrm>
          <a:prstGeom prst="rect">
            <a:avLst/>
          </a:prstGeom>
        </p:spPr>
        <p:txBody>
          <a:bodyPr anchor="t" rtlCol="false" tIns="0" lIns="0" bIns="0" rIns="0">
            <a:spAutoFit/>
          </a:bodyPr>
          <a:lstStyle/>
          <a:p>
            <a:pPr algn="l">
              <a:lnSpc>
                <a:spcPts val="4320"/>
              </a:lnSpc>
            </a:pPr>
            <a:r>
              <a:rPr lang="en-US" sz="3600" b="true">
                <a:solidFill>
                  <a:srgbClr val="DCE1E6"/>
                </a:solidFill>
                <a:latin typeface="Inter Bold"/>
                <a:ea typeface="Inter Bold"/>
                <a:cs typeface="Inter Bold"/>
                <a:sym typeface="Inter Bold"/>
              </a:rPr>
              <a:t>03</a:t>
            </a:r>
          </a:p>
        </p:txBody>
      </p:sp>
      <p:sp>
        <p:nvSpPr>
          <p:cNvPr name="TextBox 39" id="39"/>
          <p:cNvSpPr txBox="true"/>
          <p:nvPr/>
        </p:nvSpPr>
        <p:spPr>
          <a:xfrm rot="0">
            <a:off x="12034237" y="8066265"/>
            <a:ext cx="5135680" cy="1072525"/>
          </a:xfrm>
          <a:prstGeom prst="rect">
            <a:avLst/>
          </a:prstGeom>
        </p:spPr>
        <p:txBody>
          <a:bodyPr anchor="t" rtlCol="false" tIns="0" lIns="0" bIns="0" rIns="0">
            <a:spAutoFit/>
          </a:bodyPr>
          <a:lstStyle/>
          <a:p>
            <a:pPr algn="l">
              <a:lnSpc>
                <a:spcPts val="2887"/>
              </a:lnSpc>
            </a:pPr>
            <a:r>
              <a:rPr lang="en-US" sz="2406" b="true">
                <a:solidFill>
                  <a:srgbClr val="4B5563"/>
                </a:solidFill>
                <a:latin typeface="Inter Bold"/>
                <a:ea typeface="Inter Bold"/>
                <a:cs typeface="Inter Bold"/>
                <a:sym typeface="Inter Bold"/>
              </a:rPr>
              <a:t>Sans outil de recherche/filtrage, identifier rapidement les bons profils reste impossible.</a:t>
            </a:r>
          </a:p>
        </p:txBody>
      </p:sp>
      <p:sp>
        <p:nvSpPr>
          <p:cNvPr name="TextBox 40" id="40"/>
          <p:cNvSpPr txBox="true"/>
          <p:nvPr/>
        </p:nvSpPr>
        <p:spPr>
          <a:xfrm rot="0">
            <a:off x="12076528" y="7671625"/>
            <a:ext cx="5615321" cy="355359"/>
          </a:xfrm>
          <a:prstGeom prst="rect">
            <a:avLst/>
          </a:prstGeom>
        </p:spPr>
        <p:txBody>
          <a:bodyPr anchor="t" rtlCol="false" tIns="0" lIns="0" bIns="0" rIns="0">
            <a:spAutoFit/>
          </a:bodyPr>
          <a:lstStyle/>
          <a:p>
            <a:pPr algn="l">
              <a:lnSpc>
                <a:spcPts val="2288"/>
              </a:lnSpc>
            </a:pPr>
            <a:r>
              <a:rPr lang="en-US" sz="1907" b="true">
                <a:solidFill>
                  <a:srgbClr val="111827"/>
                </a:solidFill>
                <a:latin typeface="Inter Bold"/>
                <a:ea typeface="Inter Bold"/>
                <a:cs typeface="Inter Bold"/>
                <a:sym typeface="Inter Bold"/>
              </a:rPr>
              <a:t>MANQUE DE VISIBILITÉ</a:t>
            </a:r>
          </a:p>
        </p:txBody>
      </p:sp>
      <p:sp>
        <p:nvSpPr>
          <p:cNvPr name="TextBox 41" id="41"/>
          <p:cNvSpPr txBox="true"/>
          <p:nvPr/>
        </p:nvSpPr>
        <p:spPr>
          <a:xfrm rot="0">
            <a:off x="16424062" y="7591301"/>
            <a:ext cx="1027224" cy="561975"/>
          </a:xfrm>
          <a:prstGeom prst="rect">
            <a:avLst/>
          </a:prstGeom>
        </p:spPr>
        <p:txBody>
          <a:bodyPr anchor="t" rtlCol="false" tIns="0" lIns="0" bIns="0" rIns="0">
            <a:spAutoFit/>
          </a:bodyPr>
          <a:lstStyle/>
          <a:p>
            <a:pPr algn="l">
              <a:lnSpc>
                <a:spcPts val="4320"/>
              </a:lnSpc>
            </a:pPr>
            <a:r>
              <a:rPr lang="en-US" sz="3600" b="true">
                <a:solidFill>
                  <a:srgbClr val="DCE1E6"/>
                </a:solidFill>
                <a:latin typeface="Inter Bold"/>
                <a:ea typeface="Inter Bold"/>
                <a:cs typeface="Inter Bold"/>
                <a:sym typeface="Inter Bold"/>
              </a:rPr>
              <a:t>04</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160691"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4366146"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4571600"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TextBox 6" id="6"/>
          <p:cNvSpPr txBox="true"/>
          <p:nvPr/>
        </p:nvSpPr>
        <p:spPr>
          <a:xfrm rot="0">
            <a:off x="932097" y="1807493"/>
            <a:ext cx="7984998" cy="3254245"/>
          </a:xfrm>
          <a:prstGeom prst="rect">
            <a:avLst/>
          </a:prstGeom>
        </p:spPr>
        <p:txBody>
          <a:bodyPr anchor="t" rtlCol="false" tIns="0" lIns="0" bIns="0" rIns="0">
            <a:spAutoFit/>
          </a:bodyPr>
          <a:lstStyle/>
          <a:p>
            <a:pPr algn="l">
              <a:lnSpc>
                <a:spcPts val="3120"/>
              </a:lnSpc>
            </a:pPr>
            <a:r>
              <a:rPr lang="en-US" sz="2600" b="true">
                <a:solidFill>
                  <a:srgbClr val="111827"/>
                </a:solidFill>
                <a:latin typeface="Inter Bold"/>
                <a:ea typeface="Inter Bold"/>
                <a:cs typeface="Inter Bold"/>
                <a:sym typeface="Inter Bold"/>
              </a:rPr>
              <a:t>KINOVATECH CV PARSER ENGINE,</a:t>
            </a:r>
          </a:p>
          <a:p>
            <a:pPr algn="l">
              <a:lnSpc>
                <a:spcPts val="3120"/>
              </a:lnSpc>
            </a:pPr>
            <a:r>
              <a:rPr lang="en-US" sz="2600" b="true">
                <a:solidFill>
                  <a:srgbClr val="FF6B00"/>
                </a:solidFill>
                <a:latin typeface="Inter Bold"/>
                <a:ea typeface="Inter Bold"/>
                <a:cs typeface="Inter Bold"/>
                <a:sym typeface="Inter Bold"/>
              </a:rPr>
              <a:t>LA SOLUTION QUI FAIT AVANCER LE RECRUTEMENT</a:t>
            </a:r>
          </a:p>
        </p:txBody>
      </p:sp>
      <p:sp>
        <p:nvSpPr>
          <p:cNvPr name="AutoShape 7" id="7"/>
          <p:cNvSpPr/>
          <p:nvPr/>
        </p:nvSpPr>
        <p:spPr>
          <a:xfrm flipV="true">
            <a:off x="0" y="3689015"/>
            <a:ext cx="6978451" cy="0"/>
          </a:xfrm>
          <a:prstGeom prst="line">
            <a:avLst/>
          </a:prstGeom>
          <a:ln cap="rnd" w="47625">
            <a:solidFill>
              <a:srgbClr val="FF5300"/>
            </a:solidFill>
            <a:prstDash val="solid"/>
            <a:headEnd type="none" len="sm" w="sm"/>
            <a:tailEnd type="none" len="sm" w="sm"/>
          </a:ln>
        </p:spPr>
      </p:sp>
      <p:grpSp>
        <p:nvGrpSpPr>
          <p:cNvPr name="Group 8" id="8"/>
          <p:cNvGrpSpPr/>
          <p:nvPr/>
        </p:nvGrpSpPr>
        <p:grpSpPr>
          <a:xfrm rot="0">
            <a:off x="8955005" y="568452"/>
            <a:ext cx="11354419" cy="5520404"/>
            <a:chOff x="0" y="0"/>
            <a:chExt cx="15139226" cy="7360539"/>
          </a:xfrm>
        </p:grpSpPr>
        <p:sp>
          <p:nvSpPr>
            <p:cNvPr name="Freeform 9" id="9"/>
            <p:cNvSpPr/>
            <p:nvPr/>
          </p:nvSpPr>
          <p:spPr>
            <a:xfrm flipH="false" flipV="false" rot="0">
              <a:off x="30" y="0"/>
              <a:ext cx="15139230" cy="7360539"/>
            </a:xfrm>
            <a:custGeom>
              <a:avLst/>
              <a:gdLst/>
              <a:ahLst/>
              <a:cxnLst/>
              <a:rect r="r" b="b" t="t" l="l"/>
              <a:pathLst>
                <a:path h="7360539" w="15139230">
                  <a:moveTo>
                    <a:pt x="2614265" y="7360539"/>
                  </a:moveTo>
                  <a:lnTo>
                    <a:pt x="12524964" y="7360539"/>
                  </a:lnTo>
                  <a:cubicBezTo>
                    <a:pt x="12754707" y="7360539"/>
                    <a:pt x="12958033" y="7211695"/>
                    <a:pt x="13027503" y="6992620"/>
                  </a:cubicBezTo>
                  <a:lnTo>
                    <a:pt x="15126051" y="367919"/>
                  </a:lnTo>
                  <a:cubicBezTo>
                    <a:pt x="15153230" y="282067"/>
                    <a:pt x="15137863" y="188341"/>
                    <a:pt x="15084649" y="115697"/>
                  </a:cubicBezTo>
                  <a:cubicBezTo>
                    <a:pt x="15031437" y="43053"/>
                    <a:pt x="14946727" y="0"/>
                    <a:pt x="14856683" y="0"/>
                  </a:cubicBezTo>
                  <a:lnTo>
                    <a:pt x="282545" y="0"/>
                  </a:lnTo>
                  <a:cubicBezTo>
                    <a:pt x="192502" y="0"/>
                    <a:pt x="107793" y="42926"/>
                    <a:pt x="54580" y="115697"/>
                  </a:cubicBezTo>
                  <a:cubicBezTo>
                    <a:pt x="1367" y="188468"/>
                    <a:pt x="-14000" y="282067"/>
                    <a:pt x="13178" y="367919"/>
                  </a:cubicBezTo>
                  <a:lnTo>
                    <a:pt x="2111726" y="6992620"/>
                  </a:lnTo>
                  <a:cubicBezTo>
                    <a:pt x="2181068" y="7211695"/>
                    <a:pt x="2384395" y="7360538"/>
                    <a:pt x="2614265" y="7360538"/>
                  </a:cubicBezTo>
                  <a:close/>
                </a:path>
              </a:pathLst>
            </a:custGeom>
            <a:blipFill>
              <a:blip r:embed="rId6"/>
              <a:stretch>
                <a:fillRect l="0" t="-18560" r="0" b="-18560"/>
              </a:stretch>
            </a:blipFill>
          </p:spPr>
        </p:sp>
      </p:grpSp>
      <p:sp>
        <p:nvSpPr>
          <p:cNvPr name="TextBox 10" id="10"/>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03</a:t>
            </a:r>
          </a:p>
        </p:txBody>
      </p:sp>
      <p:sp>
        <p:nvSpPr>
          <p:cNvPr name="TextBox 11" id="11"/>
          <p:cNvSpPr txBox="true"/>
          <p:nvPr/>
        </p:nvSpPr>
        <p:spPr>
          <a:xfrm rot="0">
            <a:off x="1233745" y="229095"/>
            <a:ext cx="4551436" cy="510607"/>
          </a:xfrm>
          <a:prstGeom prst="rect">
            <a:avLst/>
          </a:prstGeom>
        </p:spPr>
        <p:txBody>
          <a:bodyPr anchor="t" rtlCol="false" tIns="0" lIns="0" bIns="0" rIns="0">
            <a:spAutoFit/>
          </a:bodyPr>
          <a:lstStyle/>
          <a:p>
            <a:pPr algn="l">
              <a:lnSpc>
                <a:spcPts val="2884"/>
              </a:lnSpc>
            </a:pPr>
            <a:r>
              <a:rPr lang="en-US" sz="2403" b="true">
                <a:solidFill>
                  <a:srgbClr val="FF6B00"/>
                </a:solidFill>
                <a:latin typeface="Inter Bold"/>
                <a:ea typeface="Inter Bold"/>
                <a:cs typeface="Inter Bold"/>
                <a:sym typeface="Inter Bold"/>
              </a:rPr>
              <a:t>03 — LA SOLUTION</a:t>
            </a:r>
          </a:p>
        </p:txBody>
      </p:sp>
      <p:sp>
        <p:nvSpPr>
          <p:cNvPr name="TextBox 12" id="12"/>
          <p:cNvSpPr txBox="true"/>
          <p:nvPr/>
        </p:nvSpPr>
        <p:spPr>
          <a:xfrm rot="0">
            <a:off x="1233745" y="5942305"/>
            <a:ext cx="9783023" cy="1892341"/>
          </a:xfrm>
          <a:prstGeom prst="rect">
            <a:avLst/>
          </a:prstGeom>
        </p:spPr>
        <p:txBody>
          <a:bodyPr anchor="t" rtlCol="false" tIns="0" lIns="0" bIns="0" rIns="0">
            <a:spAutoFit/>
          </a:bodyPr>
          <a:lstStyle/>
          <a:p>
            <a:pPr algn="l">
              <a:lnSpc>
                <a:spcPts val="3711"/>
              </a:lnSpc>
            </a:pPr>
            <a:r>
              <a:rPr lang="en-US" sz="3093" b="true">
                <a:solidFill>
                  <a:srgbClr val="4B5563"/>
                </a:solidFill>
                <a:latin typeface="Inter Bold"/>
                <a:ea typeface="Inter Bold"/>
                <a:cs typeface="Inter Bold"/>
                <a:sym typeface="Inter Bold"/>
              </a:rPr>
              <a:t>Un moteur intelligent qui ingère, anonymise, structure et enrichit automatiquement chaque CV — du fichier brut à la fiche candidat exploitable, en conformité CNDP.</a:t>
            </a:r>
          </a:p>
        </p:txBody>
      </p:sp>
      <p:sp>
        <p:nvSpPr>
          <p:cNvPr name="Freeform 13" id="13"/>
          <p:cNvSpPr/>
          <p:nvPr/>
        </p:nvSpPr>
        <p:spPr>
          <a:xfrm flipH="false" flipV="false" rot="0">
            <a:off x="-244869" y="9875549"/>
            <a:ext cx="8916819" cy="2903877"/>
          </a:xfrm>
          <a:custGeom>
            <a:avLst/>
            <a:gdLst/>
            <a:ahLst/>
            <a:cxnLst/>
            <a:rect r="r" b="b" t="t" l="l"/>
            <a:pathLst>
              <a:path h="2903877" w="8916819">
                <a:moveTo>
                  <a:pt x="0" y="0"/>
                </a:moveTo>
                <a:lnTo>
                  <a:pt x="8916820" y="0"/>
                </a:lnTo>
                <a:lnTo>
                  <a:pt x="8916820" y="2903877"/>
                </a:lnTo>
                <a:lnTo>
                  <a:pt x="0" y="2903877"/>
                </a:lnTo>
                <a:lnTo>
                  <a:pt x="0" y="0"/>
                </a:lnTo>
                <a:close/>
              </a:path>
            </a:pathLst>
          </a:custGeom>
          <a:blipFill>
            <a:blip r:embed="rId7">
              <a:extLst>
                <a:ext uri="{96DAC541-7B7A-43D3-8B79-37D633B846F1}">
                  <asvg:svgBlip xmlns:asvg="http://schemas.microsoft.com/office/drawing/2016/SVG/main" r:embed="rId8"/>
                </a:ext>
              </a:extLst>
            </a:blip>
            <a:stretch>
              <a:fillRect l="-23" t="0" r="-23" b="0"/>
            </a:stretch>
          </a:blipFill>
        </p:spPr>
      </p:sp>
      <p:sp>
        <p:nvSpPr>
          <p:cNvPr name="AutoShape 14" id="14"/>
          <p:cNvSpPr/>
          <p:nvPr/>
        </p:nvSpPr>
        <p:spPr>
          <a:xfrm rot="16920">
            <a:off x="1842583" y="11449536"/>
            <a:ext cx="1935556" cy="0"/>
          </a:xfrm>
          <a:prstGeom prst="line">
            <a:avLst/>
          </a:prstGeom>
          <a:ln cap="rnd" w="9525">
            <a:solidFill>
              <a:srgbClr val="4C5A6D"/>
            </a:solidFill>
            <a:prstDash val="solid"/>
            <a:headEnd type="none" len="sm" w="sm"/>
            <a:tailEnd type="none" len="sm" w="sm"/>
          </a:ln>
        </p:spPr>
      </p:sp>
      <p:sp>
        <p:nvSpPr>
          <p:cNvPr name="AutoShape 15" id="15"/>
          <p:cNvSpPr/>
          <p:nvPr/>
        </p:nvSpPr>
        <p:spPr>
          <a:xfrm rot="16920">
            <a:off x="4781045" y="11449536"/>
            <a:ext cx="1935556" cy="0"/>
          </a:xfrm>
          <a:prstGeom prst="line">
            <a:avLst/>
          </a:prstGeom>
          <a:ln cap="rnd" w="9525">
            <a:solidFill>
              <a:srgbClr val="4C5A6D"/>
            </a:solidFill>
            <a:prstDash val="solid"/>
            <a:headEnd type="none" len="sm" w="sm"/>
            <a:tailEnd type="none" len="sm" w="sm"/>
          </a:ln>
        </p:spPr>
      </p:sp>
      <p:sp>
        <p:nvSpPr>
          <p:cNvPr name="TextBox 16" id="16"/>
          <p:cNvSpPr txBox="true"/>
          <p:nvPr/>
        </p:nvSpPr>
        <p:spPr>
          <a:xfrm rot="0">
            <a:off x="479841" y="10722883"/>
            <a:ext cx="2159546" cy="422062"/>
          </a:xfrm>
          <a:prstGeom prst="rect">
            <a:avLst/>
          </a:prstGeom>
        </p:spPr>
        <p:txBody>
          <a:bodyPr anchor="t" rtlCol="false" tIns="0" lIns="0" bIns="0" rIns="0">
            <a:spAutoFit/>
          </a:bodyPr>
          <a:lstStyle/>
          <a:p>
            <a:pPr algn="l">
              <a:lnSpc>
                <a:spcPts val="2638"/>
              </a:lnSpc>
            </a:pPr>
            <a:r>
              <a:rPr lang="en-US" sz="2199" b="true">
                <a:solidFill>
                  <a:srgbClr val="FFFFFF"/>
                </a:solidFill>
                <a:latin typeface="Inter Bold"/>
                <a:ea typeface="Inter Bold"/>
                <a:cs typeface="Inter Bold"/>
                <a:sym typeface="Inter Bold"/>
              </a:rPr>
              <a:t>43 / 43</a:t>
            </a:r>
          </a:p>
        </p:txBody>
      </p:sp>
      <p:sp>
        <p:nvSpPr>
          <p:cNvPr name="TextBox 17" id="17"/>
          <p:cNvSpPr txBox="true"/>
          <p:nvPr/>
        </p:nvSpPr>
        <p:spPr>
          <a:xfrm rot="0">
            <a:off x="257556" y="11624215"/>
            <a:ext cx="2529088" cy="493528"/>
          </a:xfrm>
          <a:prstGeom prst="rect">
            <a:avLst/>
          </a:prstGeom>
        </p:spPr>
        <p:txBody>
          <a:bodyPr anchor="t" rtlCol="false" tIns="0" lIns="0" bIns="0" rIns="0">
            <a:spAutoFit/>
          </a:bodyPr>
          <a:lstStyle/>
          <a:p>
            <a:pPr algn="l">
              <a:lnSpc>
                <a:spcPts val="1942"/>
              </a:lnSpc>
            </a:pPr>
            <a:r>
              <a:rPr lang="en-US" sz="1619">
                <a:solidFill>
                  <a:srgbClr val="D7DEE8"/>
                </a:solidFill>
                <a:latin typeface="Inter"/>
                <a:ea typeface="Inter"/>
                <a:cs typeface="Inter"/>
                <a:sym typeface="Inter"/>
              </a:rPr>
              <a:t>Validation de l'ensemble des cas d'utilisation.</a:t>
            </a:r>
          </a:p>
        </p:txBody>
      </p:sp>
      <p:sp>
        <p:nvSpPr>
          <p:cNvPr name="TextBox 18" id="18"/>
          <p:cNvSpPr txBox="true"/>
          <p:nvPr/>
        </p:nvSpPr>
        <p:spPr>
          <a:xfrm rot="0">
            <a:off x="257556" y="11179121"/>
            <a:ext cx="2833145" cy="264319"/>
          </a:xfrm>
          <a:prstGeom prst="rect">
            <a:avLst/>
          </a:prstGeom>
        </p:spPr>
        <p:txBody>
          <a:bodyPr anchor="t" rtlCol="false" tIns="0" lIns="0" bIns="0" rIns="0">
            <a:spAutoFit/>
          </a:bodyPr>
          <a:lstStyle/>
          <a:p>
            <a:pPr algn="l">
              <a:lnSpc>
                <a:spcPts val="1970"/>
              </a:lnSpc>
            </a:pPr>
            <a:r>
              <a:rPr lang="en-US" sz="1643" b="true">
                <a:solidFill>
                  <a:srgbClr val="FF6B00"/>
                </a:solidFill>
                <a:latin typeface="Inter Bold"/>
                <a:ea typeface="Inter Bold"/>
                <a:cs typeface="Inter Bold"/>
                <a:sym typeface="Inter Bold"/>
              </a:rPr>
              <a:t>TESTS PASSÉS (100%)</a:t>
            </a:r>
          </a:p>
        </p:txBody>
      </p:sp>
      <p:sp>
        <p:nvSpPr>
          <p:cNvPr name="TextBox 19" id="19"/>
          <p:cNvSpPr txBox="true"/>
          <p:nvPr/>
        </p:nvSpPr>
        <p:spPr>
          <a:xfrm rot="0">
            <a:off x="3230099" y="10722883"/>
            <a:ext cx="2159546" cy="422062"/>
          </a:xfrm>
          <a:prstGeom prst="rect">
            <a:avLst/>
          </a:prstGeom>
        </p:spPr>
        <p:txBody>
          <a:bodyPr anchor="t" rtlCol="false" tIns="0" lIns="0" bIns="0" rIns="0">
            <a:spAutoFit/>
          </a:bodyPr>
          <a:lstStyle/>
          <a:p>
            <a:pPr algn="l">
              <a:lnSpc>
                <a:spcPts val="2638"/>
              </a:lnSpc>
            </a:pPr>
            <a:r>
              <a:rPr lang="en-US" sz="2199" b="true">
                <a:solidFill>
                  <a:srgbClr val="FFFFFF"/>
                </a:solidFill>
                <a:latin typeface="Inter Bold"/>
                <a:ea typeface="Inter Bold"/>
                <a:cs typeface="Inter Bold"/>
                <a:sym typeface="Inter Bold"/>
              </a:rPr>
              <a:t>&lt; 0.5s</a:t>
            </a:r>
          </a:p>
        </p:txBody>
      </p:sp>
      <p:sp>
        <p:nvSpPr>
          <p:cNvPr name="TextBox 20" id="20"/>
          <p:cNvSpPr txBox="true"/>
          <p:nvPr/>
        </p:nvSpPr>
        <p:spPr>
          <a:xfrm rot="0">
            <a:off x="3135906" y="11613109"/>
            <a:ext cx="2347922" cy="504634"/>
          </a:xfrm>
          <a:prstGeom prst="rect">
            <a:avLst/>
          </a:prstGeom>
        </p:spPr>
        <p:txBody>
          <a:bodyPr anchor="t" rtlCol="false" tIns="0" lIns="0" bIns="0" rIns="0">
            <a:spAutoFit/>
          </a:bodyPr>
          <a:lstStyle/>
          <a:p>
            <a:pPr algn="l">
              <a:lnSpc>
                <a:spcPts val="2055"/>
              </a:lnSpc>
            </a:pPr>
            <a:r>
              <a:rPr lang="en-US" sz="1713">
                <a:solidFill>
                  <a:srgbClr val="D7DEE8"/>
                </a:solidFill>
                <a:latin typeface="Inter"/>
                <a:ea typeface="Inter"/>
                <a:cs typeface="Inter"/>
                <a:sym typeface="Inter"/>
              </a:rPr>
              <a:t>Exécution haute performance.</a:t>
            </a:r>
          </a:p>
        </p:txBody>
      </p:sp>
      <p:sp>
        <p:nvSpPr>
          <p:cNvPr name="TextBox 21" id="21"/>
          <p:cNvSpPr txBox="true"/>
          <p:nvPr/>
        </p:nvSpPr>
        <p:spPr>
          <a:xfrm rot="0">
            <a:off x="3230099" y="11232242"/>
            <a:ext cx="2523487" cy="419100"/>
          </a:xfrm>
          <a:prstGeom prst="rect">
            <a:avLst/>
          </a:prstGeom>
        </p:spPr>
        <p:txBody>
          <a:bodyPr anchor="t" rtlCol="false" tIns="0" lIns="0" bIns="0" rIns="0">
            <a:spAutoFit/>
          </a:bodyPr>
          <a:lstStyle/>
          <a:p>
            <a:pPr algn="l">
              <a:lnSpc>
                <a:spcPts val="1678"/>
              </a:lnSpc>
            </a:pPr>
            <a:r>
              <a:rPr lang="en-US" sz="1398" b="true">
                <a:solidFill>
                  <a:srgbClr val="FF6B00"/>
                </a:solidFill>
                <a:latin typeface="Inter Bold"/>
                <a:ea typeface="Inter Bold"/>
                <a:cs typeface="Inter Bold"/>
                <a:sym typeface="Inter Bold"/>
              </a:rPr>
              <a:t>TEMPS MOYEN / CV (SNF-01)</a:t>
            </a:r>
          </a:p>
        </p:txBody>
      </p:sp>
      <p:sp>
        <p:nvSpPr>
          <p:cNvPr name="TextBox 22" id="22"/>
          <p:cNvSpPr txBox="true"/>
          <p:nvPr/>
        </p:nvSpPr>
        <p:spPr>
          <a:xfrm rot="0">
            <a:off x="6146121" y="10722883"/>
            <a:ext cx="2525830" cy="422062"/>
          </a:xfrm>
          <a:prstGeom prst="rect">
            <a:avLst/>
          </a:prstGeom>
        </p:spPr>
        <p:txBody>
          <a:bodyPr anchor="t" rtlCol="false" tIns="0" lIns="0" bIns="0" rIns="0">
            <a:spAutoFit/>
          </a:bodyPr>
          <a:lstStyle/>
          <a:p>
            <a:pPr algn="l">
              <a:lnSpc>
                <a:spcPts val="2638"/>
              </a:lnSpc>
            </a:pPr>
            <a:r>
              <a:rPr lang="en-US" sz="2199" b="true">
                <a:solidFill>
                  <a:srgbClr val="FFFFFF"/>
                </a:solidFill>
                <a:latin typeface="Inter Bold"/>
                <a:ea typeface="Inter Bold"/>
                <a:cs typeface="Inter Bold"/>
                <a:sym typeface="Inter Bold"/>
              </a:rPr>
              <a:t>3</a:t>
            </a:r>
          </a:p>
        </p:txBody>
      </p:sp>
      <p:sp>
        <p:nvSpPr>
          <p:cNvPr name="TextBox 23" id="23"/>
          <p:cNvSpPr txBox="true"/>
          <p:nvPr/>
        </p:nvSpPr>
        <p:spPr>
          <a:xfrm rot="0">
            <a:off x="5984977" y="11656457"/>
            <a:ext cx="2592334" cy="510702"/>
          </a:xfrm>
          <a:prstGeom prst="rect">
            <a:avLst/>
          </a:prstGeom>
        </p:spPr>
        <p:txBody>
          <a:bodyPr anchor="t" rtlCol="false" tIns="0" lIns="0" bIns="0" rIns="0">
            <a:spAutoFit/>
          </a:bodyPr>
          <a:lstStyle/>
          <a:p>
            <a:pPr algn="l">
              <a:lnSpc>
                <a:spcPts val="2081"/>
              </a:lnSpc>
            </a:pPr>
            <a:r>
              <a:rPr lang="en-US" sz="1734">
                <a:solidFill>
                  <a:srgbClr val="D7DEE8"/>
                </a:solidFill>
                <a:latin typeface="Inter"/>
                <a:ea typeface="Inter"/>
                <a:cs typeface="Inter"/>
                <a:sym typeface="Inter"/>
              </a:rPr>
              <a:t>Ingestion, Anonymisation &amp; Extraction.</a:t>
            </a:r>
          </a:p>
        </p:txBody>
      </p:sp>
      <p:sp>
        <p:nvSpPr>
          <p:cNvPr name="TextBox 24" id="24"/>
          <p:cNvSpPr txBox="true"/>
          <p:nvPr/>
        </p:nvSpPr>
        <p:spPr>
          <a:xfrm rot="0">
            <a:off x="6146121" y="11232242"/>
            <a:ext cx="2304174" cy="190500"/>
          </a:xfrm>
          <a:prstGeom prst="rect">
            <a:avLst/>
          </a:prstGeom>
        </p:spPr>
        <p:txBody>
          <a:bodyPr anchor="t" rtlCol="false" tIns="0" lIns="0" bIns="0" rIns="0">
            <a:spAutoFit/>
          </a:bodyPr>
          <a:lstStyle/>
          <a:p>
            <a:pPr algn="l">
              <a:lnSpc>
                <a:spcPts val="1558"/>
              </a:lnSpc>
            </a:pPr>
            <a:r>
              <a:rPr lang="en-US" sz="1299" b="true">
                <a:solidFill>
                  <a:srgbClr val="FF6B00"/>
                </a:solidFill>
                <a:latin typeface="Inter Bold"/>
                <a:ea typeface="Inter Bold"/>
                <a:cs typeface="Inter Bold"/>
                <a:sym typeface="Inter Bold"/>
              </a:rPr>
              <a:t>COUCHES DE TRAITEMENT</a:t>
            </a:r>
          </a:p>
        </p:txBody>
      </p:sp>
      <p:sp>
        <p:nvSpPr>
          <p:cNvPr name="Freeform 25" id="25"/>
          <p:cNvSpPr/>
          <p:nvPr/>
        </p:nvSpPr>
        <p:spPr>
          <a:xfrm flipH="false" flipV="false" rot="0">
            <a:off x="10798302" y="10083927"/>
            <a:ext cx="1573978" cy="1377229"/>
          </a:xfrm>
          <a:custGeom>
            <a:avLst/>
            <a:gdLst/>
            <a:ahLst/>
            <a:cxnLst/>
            <a:rect r="r" b="b" t="t" l="l"/>
            <a:pathLst>
              <a:path h="1377229" w="1573978">
                <a:moveTo>
                  <a:pt x="0" y="0"/>
                </a:moveTo>
                <a:lnTo>
                  <a:pt x="1573978" y="0"/>
                </a:lnTo>
                <a:lnTo>
                  <a:pt x="1573978" y="1377229"/>
                </a:lnTo>
                <a:lnTo>
                  <a:pt x="0" y="1377229"/>
                </a:lnTo>
                <a:lnTo>
                  <a:pt x="0" y="0"/>
                </a:lnTo>
                <a:close/>
              </a:path>
            </a:pathLst>
          </a:custGeom>
          <a:blipFill>
            <a:blip r:embed="rId9">
              <a:extLst>
                <a:ext uri="{96DAC541-7B7A-43D3-8B79-37D633B846F1}">
                  <asvg:svgBlip xmlns:asvg="http://schemas.microsoft.com/office/drawing/2016/SVG/main" r:embed="rId10"/>
                </a:ext>
              </a:extLst>
            </a:blip>
            <a:stretch>
              <a:fillRect l="-85" t="0" r="-86" b="0"/>
            </a:stretch>
          </a:blipFill>
        </p:spPr>
      </p:sp>
      <p:sp>
        <p:nvSpPr>
          <p:cNvPr name="Freeform 26" id="26"/>
          <p:cNvSpPr/>
          <p:nvPr/>
        </p:nvSpPr>
        <p:spPr>
          <a:xfrm flipH="false" flipV="false" rot="0">
            <a:off x="13414534" y="10083927"/>
            <a:ext cx="1573978" cy="1377229"/>
          </a:xfrm>
          <a:custGeom>
            <a:avLst/>
            <a:gdLst/>
            <a:ahLst/>
            <a:cxnLst/>
            <a:rect r="r" b="b" t="t" l="l"/>
            <a:pathLst>
              <a:path h="1377229" w="1573978">
                <a:moveTo>
                  <a:pt x="0" y="0"/>
                </a:moveTo>
                <a:lnTo>
                  <a:pt x="1573977" y="0"/>
                </a:lnTo>
                <a:lnTo>
                  <a:pt x="1573977" y="1377229"/>
                </a:lnTo>
                <a:lnTo>
                  <a:pt x="0" y="1377229"/>
                </a:lnTo>
                <a:lnTo>
                  <a:pt x="0" y="0"/>
                </a:lnTo>
                <a:close/>
              </a:path>
            </a:pathLst>
          </a:custGeom>
          <a:blipFill>
            <a:blip r:embed="rId9">
              <a:extLst>
                <a:ext uri="{96DAC541-7B7A-43D3-8B79-37D633B846F1}">
                  <asvg:svgBlip xmlns:asvg="http://schemas.microsoft.com/office/drawing/2016/SVG/main" r:embed="rId10"/>
                </a:ext>
              </a:extLst>
            </a:blip>
            <a:stretch>
              <a:fillRect l="-85" t="0" r="-86" b="0"/>
            </a:stretch>
          </a:blipFill>
        </p:spPr>
      </p:sp>
      <p:sp>
        <p:nvSpPr>
          <p:cNvPr name="Freeform 27" id="27"/>
          <p:cNvSpPr/>
          <p:nvPr/>
        </p:nvSpPr>
        <p:spPr>
          <a:xfrm flipH="false" flipV="false" rot="0">
            <a:off x="16030765" y="10083927"/>
            <a:ext cx="1573978" cy="1377229"/>
          </a:xfrm>
          <a:custGeom>
            <a:avLst/>
            <a:gdLst/>
            <a:ahLst/>
            <a:cxnLst/>
            <a:rect r="r" b="b" t="t" l="l"/>
            <a:pathLst>
              <a:path h="1377229" w="1573978">
                <a:moveTo>
                  <a:pt x="0" y="0"/>
                </a:moveTo>
                <a:lnTo>
                  <a:pt x="1573978" y="0"/>
                </a:lnTo>
                <a:lnTo>
                  <a:pt x="1573978" y="1377229"/>
                </a:lnTo>
                <a:lnTo>
                  <a:pt x="0" y="1377229"/>
                </a:lnTo>
                <a:lnTo>
                  <a:pt x="0" y="0"/>
                </a:lnTo>
                <a:close/>
              </a:path>
            </a:pathLst>
          </a:custGeom>
          <a:blipFill>
            <a:blip r:embed="rId9">
              <a:extLst>
                <a:ext uri="{96DAC541-7B7A-43D3-8B79-37D633B846F1}">
                  <asvg:svgBlip xmlns:asvg="http://schemas.microsoft.com/office/drawing/2016/SVG/main" r:embed="rId10"/>
                </a:ext>
              </a:extLst>
            </a:blip>
            <a:stretch>
              <a:fillRect l="-85" t="0" r="-86" b="0"/>
            </a:stretch>
          </a:blipFill>
        </p:spPr>
      </p:sp>
      <p:sp>
        <p:nvSpPr>
          <p:cNvPr name="Freeform 28" id="28"/>
          <p:cNvSpPr/>
          <p:nvPr/>
        </p:nvSpPr>
        <p:spPr>
          <a:xfrm flipH="false" flipV="false" rot="0">
            <a:off x="12647057" y="10635558"/>
            <a:ext cx="492700" cy="404012"/>
          </a:xfrm>
          <a:custGeom>
            <a:avLst/>
            <a:gdLst/>
            <a:ahLst/>
            <a:cxnLst/>
            <a:rect r="r" b="b" t="t" l="l"/>
            <a:pathLst>
              <a:path h="404012" w="492700">
                <a:moveTo>
                  <a:pt x="0" y="0"/>
                </a:moveTo>
                <a:lnTo>
                  <a:pt x="492700" y="0"/>
                </a:lnTo>
                <a:lnTo>
                  <a:pt x="492700" y="404012"/>
                </a:lnTo>
                <a:lnTo>
                  <a:pt x="0" y="404012"/>
                </a:lnTo>
                <a:lnTo>
                  <a:pt x="0" y="0"/>
                </a:lnTo>
                <a:close/>
              </a:path>
            </a:pathLst>
          </a:custGeom>
          <a:blipFill>
            <a:blip r:embed="rId11">
              <a:extLst>
                <a:ext uri="{96DAC541-7B7A-43D3-8B79-37D633B846F1}">
                  <asvg:svgBlip xmlns:asvg="http://schemas.microsoft.com/office/drawing/2016/SVG/main" r:embed="rId12"/>
                </a:ext>
              </a:extLst>
            </a:blip>
            <a:stretch>
              <a:fillRect l="0" t="-422" r="0" b="-422"/>
            </a:stretch>
          </a:blipFill>
        </p:spPr>
      </p:sp>
      <p:sp>
        <p:nvSpPr>
          <p:cNvPr name="Freeform 29" id="29"/>
          <p:cNvSpPr/>
          <p:nvPr/>
        </p:nvSpPr>
        <p:spPr>
          <a:xfrm flipH="false" flipV="false" rot="0">
            <a:off x="15264736" y="10635558"/>
            <a:ext cx="492700" cy="404012"/>
          </a:xfrm>
          <a:custGeom>
            <a:avLst/>
            <a:gdLst/>
            <a:ahLst/>
            <a:cxnLst/>
            <a:rect r="r" b="b" t="t" l="l"/>
            <a:pathLst>
              <a:path h="404012" w="492700">
                <a:moveTo>
                  <a:pt x="0" y="0"/>
                </a:moveTo>
                <a:lnTo>
                  <a:pt x="492700" y="0"/>
                </a:lnTo>
                <a:lnTo>
                  <a:pt x="492700" y="404012"/>
                </a:lnTo>
                <a:lnTo>
                  <a:pt x="0" y="404012"/>
                </a:lnTo>
                <a:lnTo>
                  <a:pt x="0" y="0"/>
                </a:lnTo>
                <a:close/>
              </a:path>
            </a:pathLst>
          </a:custGeom>
          <a:blipFill>
            <a:blip r:embed="rId11">
              <a:extLst>
                <a:ext uri="{96DAC541-7B7A-43D3-8B79-37D633B846F1}">
                  <asvg:svgBlip xmlns:asvg="http://schemas.microsoft.com/office/drawing/2016/SVG/main" r:embed="rId12"/>
                </a:ext>
              </a:extLst>
            </a:blip>
            <a:stretch>
              <a:fillRect l="0" t="-422" r="0" b="-422"/>
            </a:stretch>
          </a:blipFill>
        </p:spPr>
      </p:sp>
      <p:sp>
        <p:nvSpPr>
          <p:cNvPr name="Freeform 30" id="30"/>
          <p:cNvSpPr/>
          <p:nvPr/>
        </p:nvSpPr>
        <p:spPr>
          <a:xfrm flipH="false" flipV="false" rot="0">
            <a:off x="11210401" y="10443258"/>
            <a:ext cx="749798" cy="767058"/>
          </a:xfrm>
          <a:custGeom>
            <a:avLst/>
            <a:gdLst/>
            <a:ahLst/>
            <a:cxnLst/>
            <a:rect r="r" b="b" t="t" l="l"/>
            <a:pathLst>
              <a:path h="767058" w="749798">
                <a:moveTo>
                  <a:pt x="0" y="0"/>
                </a:moveTo>
                <a:lnTo>
                  <a:pt x="749799" y="0"/>
                </a:lnTo>
                <a:lnTo>
                  <a:pt x="749799" y="767057"/>
                </a:lnTo>
                <a:lnTo>
                  <a:pt x="0" y="767057"/>
                </a:lnTo>
                <a:lnTo>
                  <a:pt x="0" y="0"/>
                </a:lnTo>
                <a:close/>
              </a:path>
            </a:pathLst>
          </a:custGeom>
          <a:blipFill>
            <a:blip r:embed="rId13">
              <a:extLst>
                <a:ext uri="{96DAC541-7B7A-43D3-8B79-37D633B846F1}">
                  <asvg:svgBlip xmlns:asvg="http://schemas.microsoft.com/office/drawing/2016/SVG/main" r:embed="rId14"/>
                </a:ext>
              </a:extLst>
            </a:blip>
            <a:stretch>
              <a:fillRect l="0" t="-111" r="0" b="-112"/>
            </a:stretch>
          </a:blipFill>
        </p:spPr>
      </p:sp>
      <p:sp>
        <p:nvSpPr>
          <p:cNvPr name="Freeform 31" id="31"/>
          <p:cNvSpPr/>
          <p:nvPr/>
        </p:nvSpPr>
        <p:spPr>
          <a:xfrm flipH="false" flipV="false" rot="0">
            <a:off x="13766673" y="10486892"/>
            <a:ext cx="890197" cy="679790"/>
          </a:xfrm>
          <a:custGeom>
            <a:avLst/>
            <a:gdLst/>
            <a:ahLst/>
            <a:cxnLst/>
            <a:rect r="r" b="b" t="t" l="l"/>
            <a:pathLst>
              <a:path h="679790" w="890197">
                <a:moveTo>
                  <a:pt x="0" y="0"/>
                </a:moveTo>
                <a:lnTo>
                  <a:pt x="890197" y="0"/>
                </a:lnTo>
                <a:lnTo>
                  <a:pt x="890197" y="679789"/>
                </a:lnTo>
                <a:lnTo>
                  <a:pt x="0" y="679789"/>
                </a:lnTo>
                <a:lnTo>
                  <a:pt x="0" y="0"/>
                </a:lnTo>
                <a:close/>
              </a:path>
            </a:pathLst>
          </a:custGeom>
          <a:blipFill>
            <a:blip r:embed="rId15">
              <a:extLst>
                <a:ext uri="{96DAC541-7B7A-43D3-8B79-37D633B846F1}">
                  <asvg:svgBlip xmlns:asvg="http://schemas.microsoft.com/office/drawing/2016/SVG/main" r:embed="rId16"/>
                </a:ext>
              </a:extLst>
            </a:blip>
            <a:stretch>
              <a:fillRect l="-909" t="0" r="-909" b="0"/>
            </a:stretch>
          </a:blipFill>
        </p:spPr>
      </p:sp>
      <p:sp>
        <p:nvSpPr>
          <p:cNvPr name="Freeform 32" id="32"/>
          <p:cNvSpPr/>
          <p:nvPr/>
        </p:nvSpPr>
        <p:spPr>
          <a:xfrm flipH="false" flipV="false" rot="0">
            <a:off x="16471821" y="10410196"/>
            <a:ext cx="708108" cy="800119"/>
          </a:xfrm>
          <a:custGeom>
            <a:avLst/>
            <a:gdLst/>
            <a:ahLst/>
            <a:cxnLst/>
            <a:rect r="r" b="b" t="t" l="l"/>
            <a:pathLst>
              <a:path h="800119" w="708108">
                <a:moveTo>
                  <a:pt x="0" y="0"/>
                </a:moveTo>
                <a:lnTo>
                  <a:pt x="708107" y="0"/>
                </a:lnTo>
                <a:lnTo>
                  <a:pt x="708107" y="800119"/>
                </a:lnTo>
                <a:lnTo>
                  <a:pt x="0" y="800119"/>
                </a:lnTo>
                <a:lnTo>
                  <a:pt x="0" y="0"/>
                </a:lnTo>
                <a:close/>
              </a:path>
            </a:pathLst>
          </a:custGeom>
          <a:blipFill>
            <a:blip r:embed="rId17">
              <a:extLst>
                <a:ext uri="{96DAC541-7B7A-43D3-8B79-37D633B846F1}">
                  <asvg:svgBlip xmlns:asvg="http://schemas.microsoft.com/office/drawing/2016/SVG/main" r:embed="rId18"/>
                </a:ext>
              </a:extLst>
            </a:blip>
            <a:stretch>
              <a:fillRect l="0" t="-149" r="0" b="-149"/>
            </a:stretch>
          </a:blipFill>
        </p:spPr>
      </p:sp>
      <p:sp>
        <p:nvSpPr>
          <p:cNvPr name="TextBox 33" id="33"/>
          <p:cNvSpPr txBox="true"/>
          <p:nvPr/>
        </p:nvSpPr>
        <p:spPr>
          <a:xfrm rot="0">
            <a:off x="10871454" y="11585105"/>
            <a:ext cx="1500826" cy="190500"/>
          </a:xfrm>
          <a:prstGeom prst="rect">
            <a:avLst/>
          </a:prstGeom>
        </p:spPr>
        <p:txBody>
          <a:bodyPr anchor="t" rtlCol="false" tIns="0" lIns="0" bIns="0" rIns="0">
            <a:spAutoFit/>
          </a:bodyPr>
          <a:lstStyle/>
          <a:p>
            <a:pPr algn="l" marL="297059" indent="-99020" lvl="2">
              <a:lnSpc>
                <a:spcPts val="1558"/>
              </a:lnSpc>
              <a:buFont typeface="Arial"/>
              <a:buChar char="⚬"/>
            </a:pPr>
            <a:r>
              <a:rPr lang="en-US" b="true" sz="1299" i="true" u="sng">
                <a:solidFill>
                  <a:srgbClr val="111827"/>
                </a:solidFill>
                <a:latin typeface="Inter Bold Italics"/>
                <a:ea typeface="Inter Bold Italics"/>
                <a:cs typeface="Inter Bold Italics"/>
                <a:sym typeface="Inter Bold Italics"/>
              </a:rPr>
              <a:t>MASQUER</a:t>
            </a:r>
          </a:p>
        </p:txBody>
      </p:sp>
      <p:sp>
        <p:nvSpPr>
          <p:cNvPr name="TextBox 34" id="34"/>
          <p:cNvSpPr txBox="true"/>
          <p:nvPr/>
        </p:nvSpPr>
        <p:spPr>
          <a:xfrm rot="0">
            <a:off x="13451110" y="11600678"/>
            <a:ext cx="1500826" cy="190500"/>
          </a:xfrm>
          <a:prstGeom prst="rect">
            <a:avLst/>
          </a:prstGeom>
        </p:spPr>
        <p:txBody>
          <a:bodyPr anchor="t" rtlCol="false" tIns="0" lIns="0" bIns="0" rIns="0">
            <a:spAutoFit/>
          </a:bodyPr>
          <a:lstStyle/>
          <a:p>
            <a:pPr algn="l" marL="297059" indent="-99020" lvl="2">
              <a:lnSpc>
                <a:spcPts val="1558"/>
              </a:lnSpc>
              <a:buFont typeface="Arial"/>
              <a:buChar char="⚬"/>
            </a:pPr>
            <a:r>
              <a:rPr lang="en-US" b="true" sz="1299" i="true" u="sng">
                <a:solidFill>
                  <a:srgbClr val="111827"/>
                </a:solidFill>
                <a:latin typeface="Inter Bold Italics"/>
                <a:ea typeface="Inter Bold Italics"/>
                <a:cs typeface="Inter Bold Italics"/>
                <a:sym typeface="Inter Bold Italics"/>
              </a:rPr>
              <a:t>EXTRAIRE</a:t>
            </a:r>
          </a:p>
        </p:txBody>
      </p:sp>
      <p:sp>
        <p:nvSpPr>
          <p:cNvPr name="TextBox 35" id="35"/>
          <p:cNvSpPr txBox="true"/>
          <p:nvPr/>
        </p:nvSpPr>
        <p:spPr>
          <a:xfrm rot="0">
            <a:off x="16103918" y="11565207"/>
            <a:ext cx="1500826" cy="190500"/>
          </a:xfrm>
          <a:prstGeom prst="rect">
            <a:avLst/>
          </a:prstGeom>
        </p:spPr>
        <p:txBody>
          <a:bodyPr anchor="t" rtlCol="false" tIns="0" lIns="0" bIns="0" rIns="0">
            <a:spAutoFit/>
          </a:bodyPr>
          <a:lstStyle/>
          <a:p>
            <a:pPr algn="l" marL="297059" indent="-99020" lvl="2">
              <a:lnSpc>
                <a:spcPts val="1558"/>
              </a:lnSpc>
              <a:buFont typeface="Arial"/>
              <a:buChar char="⚬"/>
            </a:pPr>
            <a:r>
              <a:rPr lang="en-US" b="true" sz="1299" i="true" u="sng">
                <a:solidFill>
                  <a:srgbClr val="111827"/>
                </a:solidFill>
                <a:latin typeface="Inter Bold Italics"/>
                <a:ea typeface="Inter Bold Italics"/>
                <a:cs typeface="Inter Bold Italics"/>
                <a:sym typeface="Inter Bold Italics"/>
              </a:rPr>
              <a:t>ENRICHIR</a:t>
            </a:r>
          </a:p>
        </p:txBody>
      </p:sp>
      <p:sp>
        <p:nvSpPr>
          <p:cNvPr name="TextBox 36" id="36"/>
          <p:cNvSpPr txBox="true"/>
          <p:nvPr/>
        </p:nvSpPr>
        <p:spPr>
          <a:xfrm rot="0">
            <a:off x="10317566" y="11782092"/>
            <a:ext cx="2575846" cy="2083594"/>
          </a:xfrm>
          <a:prstGeom prst="rect">
            <a:avLst/>
          </a:prstGeom>
        </p:spPr>
        <p:txBody>
          <a:bodyPr anchor="t" rtlCol="false" tIns="0" lIns="0" bIns="0" rIns="0">
            <a:spAutoFit/>
          </a:bodyPr>
          <a:lstStyle/>
          <a:p>
            <a:pPr algn="l">
              <a:lnSpc>
                <a:spcPts val="2349"/>
              </a:lnSpc>
            </a:pPr>
            <a:r>
              <a:rPr lang="en-US" sz="1956" b="true">
                <a:solidFill>
                  <a:srgbClr val="4B5563"/>
                </a:solidFill>
                <a:latin typeface="Inter Bold"/>
                <a:ea typeface="Inter Bold"/>
                <a:cs typeface="Inter Bold"/>
                <a:sym typeface="Inter Bold"/>
              </a:rPr>
              <a:t>Détection et substitution déterministe des PII (email, téléphone, CIN, nom) par regex, avant tout traitement.</a:t>
            </a:r>
          </a:p>
        </p:txBody>
      </p:sp>
      <p:sp>
        <p:nvSpPr>
          <p:cNvPr name="TextBox 37" id="37"/>
          <p:cNvSpPr txBox="true"/>
          <p:nvPr/>
        </p:nvSpPr>
        <p:spPr>
          <a:xfrm rot="0">
            <a:off x="13036010" y="11798760"/>
            <a:ext cx="2228736" cy="1915497"/>
          </a:xfrm>
          <a:prstGeom prst="rect">
            <a:avLst/>
          </a:prstGeom>
        </p:spPr>
        <p:txBody>
          <a:bodyPr anchor="t" rtlCol="false" tIns="0" lIns="0" bIns="0" rIns="0">
            <a:spAutoFit/>
          </a:bodyPr>
          <a:lstStyle/>
          <a:p>
            <a:pPr algn="l">
              <a:lnSpc>
                <a:spcPts val="2193"/>
              </a:lnSpc>
            </a:pPr>
            <a:r>
              <a:rPr lang="en-US" sz="1827" b="true">
                <a:solidFill>
                  <a:srgbClr val="4B5563"/>
                </a:solidFill>
                <a:latin typeface="Inter Bold"/>
                <a:ea typeface="Inter Bold"/>
                <a:cs typeface="Inter Bold"/>
                <a:sym typeface="Inter Bold"/>
              </a:rPr>
              <a:t>Reconnaissance d'entités nommées (spaCy fr_core_news_lg) pour identifier postes, diplômes, entreprises.</a:t>
            </a:r>
          </a:p>
        </p:txBody>
      </p:sp>
      <p:sp>
        <p:nvSpPr>
          <p:cNvPr name="TextBox 38" id="38"/>
          <p:cNvSpPr txBox="true"/>
          <p:nvPr/>
        </p:nvSpPr>
        <p:spPr>
          <a:xfrm rot="0">
            <a:off x="15698124" y="11949884"/>
            <a:ext cx="2791968" cy="1764373"/>
          </a:xfrm>
          <a:prstGeom prst="rect">
            <a:avLst/>
          </a:prstGeom>
        </p:spPr>
        <p:txBody>
          <a:bodyPr anchor="t" rtlCol="false" tIns="0" lIns="0" bIns="0" rIns="0">
            <a:spAutoFit/>
          </a:bodyPr>
          <a:lstStyle/>
          <a:p>
            <a:pPr algn="l">
              <a:lnSpc>
                <a:spcPts val="2378"/>
              </a:lnSpc>
            </a:pPr>
            <a:r>
              <a:rPr lang="en-US" sz="1982" b="true">
                <a:solidFill>
                  <a:srgbClr val="4B5563"/>
                </a:solidFill>
                <a:latin typeface="Inter Bold"/>
                <a:ea typeface="Inter Bold"/>
                <a:cs typeface="Inter Bold"/>
                <a:sym typeface="Inter Bold"/>
              </a:rPr>
              <a:t>Génération d'un résumé de profil via LLM, après validation d'un security gate garantissant zéro PII brute.</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160691"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4366146"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4571600"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TextBox 6" id="6"/>
          <p:cNvSpPr txBox="true"/>
          <p:nvPr/>
        </p:nvSpPr>
        <p:spPr>
          <a:xfrm rot="0">
            <a:off x="932097" y="1807493"/>
            <a:ext cx="8211903" cy="1171443"/>
          </a:xfrm>
          <a:prstGeom prst="rect">
            <a:avLst/>
          </a:prstGeom>
        </p:spPr>
        <p:txBody>
          <a:bodyPr anchor="t" rtlCol="false" tIns="0" lIns="0" bIns="0" rIns="0">
            <a:spAutoFit/>
          </a:bodyPr>
          <a:lstStyle/>
          <a:p>
            <a:pPr algn="l">
              <a:lnSpc>
                <a:spcPts val="3120"/>
              </a:lnSpc>
            </a:pPr>
            <a:r>
              <a:rPr lang="en-US" sz="2600" b="true">
                <a:solidFill>
                  <a:srgbClr val="111827"/>
                </a:solidFill>
                <a:latin typeface="Inter Bold"/>
                <a:ea typeface="Inter Bold"/>
                <a:cs typeface="Inter Bold"/>
                <a:sym typeface="Inter Bold"/>
              </a:rPr>
              <a:t>KINOVATECH CV PARSER ENGINE,</a:t>
            </a:r>
          </a:p>
          <a:p>
            <a:pPr algn="l">
              <a:lnSpc>
                <a:spcPts val="3120"/>
              </a:lnSpc>
            </a:pPr>
            <a:r>
              <a:rPr lang="en-US" sz="2600" b="true">
                <a:solidFill>
                  <a:srgbClr val="FF6B00"/>
                </a:solidFill>
                <a:latin typeface="Inter Bold"/>
                <a:ea typeface="Inter Bold"/>
                <a:cs typeface="Inter Bold"/>
                <a:sym typeface="Inter Bold"/>
              </a:rPr>
              <a:t>LA SOLUTION QUI FAIT AVANCER LE RECRUTEMENT</a:t>
            </a:r>
          </a:p>
        </p:txBody>
      </p:sp>
      <p:sp>
        <p:nvSpPr>
          <p:cNvPr name="AutoShape 7" id="7"/>
          <p:cNvSpPr/>
          <p:nvPr/>
        </p:nvSpPr>
        <p:spPr>
          <a:xfrm flipV="true">
            <a:off x="-275442" y="3611861"/>
            <a:ext cx="7176739" cy="0"/>
          </a:xfrm>
          <a:prstGeom prst="line">
            <a:avLst/>
          </a:prstGeom>
          <a:ln cap="rnd" w="47625">
            <a:solidFill>
              <a:srgbClr val="FF5300"/>
            </a:solidFill>
            <a:prstDash val="solid"/>
            <a:headEnd type="none" len="sm" w="sm"/>
            <a:tailEnd type="none" len="sm" w="sm"/>
          </a:ln>
        </p:spPr>
      </p:sp>
      <p:grpSp>
        <p:nvGrpSpPr>
          <p:cNvPr name="Group 8" id="8"/>
          <p:cNvGrpSpPr/>
          <p:nvPr/>
        </p:nvGrpSpPr>
        <p:grpSpPr>
          <a:xfrm rot="0">
            <a:off x="8917114" y="75771"/>
            <a:ext cx="11354419" cy="5520404"/>
            <a:chOff x="0" y="0"/>
            <a:chExt cx="15139226" cy="7360539"/>
          </a:xfrm>
        </p:grpSpPr>
        <p:sp>
          <p:nvSpPr>
            <p:cNvPr name="Freeform 9" id="9"/>
            <p:cNvSpPr/>
            <p:nvPr/>
          </p:nvSpPr>
          <p:spPr>
            <a:xfrm flipH="false" flipV="false" rot="0">
              <a:off x="30" y="0"/>
              <a:ext cx="15139230" cy="7360539"/>
            </a:xfrm>
            <a:custGeom>
              <a:avLst/>
              <a:gdLst/>
              <a:ahLst/>
              <a:cxnLst/>
              <a:rect r="r" b="b" t="t" l="l"/>
              <a:pathLst>
                <a:path h="7360539" w="15139230">
                  <a:moveTo>
                    <a:pt x="2614265" y="7360539"/>
                  </a:moveTo>
                  <a:lnTo>
                    <a:pt x="12524964" y="7360539"/>
                  </a:lnTo>
                  <a:cubicBezTo>
                    <a:pt x="12754707" y="7360539"/>
                    <a:pt x="12958033" y="7211695"/>
                    <a:pt x="13027503" y="6992620"/>
                  </a:cubicBezTo>
                  <a:lnTo>
                    <a:pt x="15126051" y="367919"/>
                  </a:lnTo>
                  <a:cubicBezTo>
                    <a:pt x="15153230" y="282067"/>
                    <a:pt x="15137863" y="188341"/>
                    <a:pt x="15084649" y="115697"/>
                  </a:cubicBezTo>
                  <a:cubicBezTo>
                    <a:pt x="15031437" y="43053"/>
                    <a:pt x="14946727" y="0"/>
                    <a:pt x="14856683" y="0"/>
                  </a:cubicBezTo>
                  <a:lnTo>
                    <a:pt x="282545" y="0"/>
                  </a:lnTo>
                  <a:cubicBezTo>
                    <a:pt x="192502" y="0"/>
                    <a:pt x="107793" y="42926"/>
                    <a:pt x="54580" y="115697"/>
                  </a:cubicBezTo>
                  <a:cubicBezTo>
                    <a:pt x="1367" y="188468"/>
                    <a:pt x="-14000" y="282067"/>
                    <a:pt x="13178" y="367919"/>
                  </a:cubicBezTo>
                  <a:lnTo>
                    <a:pt x="2111726" y="6992620"/>
                  </a:lnTo>
                  <a:cubicBezTo>
                    <a:pt x="2181068" y="7211695"/>
                    <a:pt x="2384395" y="7360538"/>
                    <a:pt x="2614265" y="7360538"/>
                  </a:cubicBezTo>
                  <a:close/>
                </a:path>
              </a:pathLst>
            </a:custGeom>
            <a:blipFill>
              <a:blip r:embed="rId6"/>
              <a:stretch>
                <a:fillRect l="0" t="-18560" r="0" b="-18560"/>
              </a:stretch>
            </a:blipFill>
          </p:spPr>
        </p:sp>
      </p:grpSp>
      <p:sp>
        <p:nvSpPr>
          <p:cNvPr name="TextBox 10" id="10"/>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03</a:t>
            </a:r>
          </a:p>
        </p:txBody>
      </p:sp>
      <p:sp>
        <p:nvSpPr>
          <p:cNvPr name="TextBox 11" id="11"/>
          <p:cNvSpPr txBox="true"/>
          <p:nvPr/>
        </p:nvSpPr>
        <p:spPr>
          <a:xfrm rot="0">
            <a:off x="1233745" y="229095"/>
            <a:ext cx="4551436" cy="510607"/>
          </a:xfrm>
          <a:prstGeom prst="rect">
            <a:avLst/>
          </a:prstGeom>
        </p:spPr>
        <p:txBody>
          <a:bodyPr anchor="t" rtlCol="false" tIns="0" lIns="0" bIns="0" rIns="0">
            <a:spAutoFit/>
          </a:bodyPr>
          <a:lstStyle/>
          <a:p>
            <a:pPr algn="l">
              <a:lnSpc>
                <a:spcPts val="2884"/>
              </a:lnSpc>
            </a:pPr>
            <a:r>
              <a:rPr lang="en-US" sz="2403" b="true">
                <a:solidFill>
                  <a:srgbClr val="FF6B00"/>
                </a:solidFill>
                <a:latin typeface="Inter Bold"/>
                <a:ea typeface="Inter Bold"/>
                <a:cs typeface="Inter Bold"/>
                <a:sym typeface="Inter Bold"/>
              </a:rPr>
              <a:t>03 — LA SOLUTION</a:t>
            </a:r>
          </a:p>
        </p:txBody>
      </p:sp>
      <p:sp>
        <p:nvSpPr>
          <p:cNvPr name="TextBox 12" id="12"/>
          <p:cNvSpPr txBox="true"/>
          <p:nvPr/>
        </p:nvSpPr>
        <p:spPr>
          <a:xfrm rot="0">
            <a:off x="358645" y="4006177"/>
            <a:ext cx="6865344" cy="1314602"/>
          </a:xfrm>
          <a:prstGeom prst="rect">
            <a:avLst/>
          </a:prstGeom>
        </p:spPr>
        <p:txBody>
          <a:bodyPr anchor="t" rtlCol="false" tIns="0" lIns="0" bIns="0" rIns="0">
            <a:spAutoFit/>
          </a:bodyPr>
          <a:lstStyle/>
          <a:p>
            <a:pPr algn="l">
              <a:lnSpc>
                <a:spcPts val="2603"/>
              </a:lnSpc>
            </a:pPr>
            <a:r>
              <a:rPr lang="en-US" sz="2169" b="true">
                <a:solidFill>
                  <a:srgbClr val="4B5563"/>
                </a:solidFill>
                <a:latin typeface="Inter Bold"/>
                <a:ea typeface="Inter Bold"/>
                <a:cs typeface="Inter Bold"/>
                <a:sym typeface="Inter Bold"/>
              </a:rPr>
              <a:t>Un moteur intelligent qui ingère, anonymise, structure et enrichit automatiquement chaque CV — du fichier brut à la fiche candidat exploitable, en conformité CNDP.</a:t>
            </a:r>
          </a:p>
        </p:txBody>
      </p:sp>
      <p:sp>
        <p:nvSpPr>
          <p:cNvPr name="Freeform 13" id="13"/>
          <p:cNvSpPr/>
          <p:nvPr/>
        </p:nvSpPr>
        <p:spPr>
          <a:xfrm flipH="false" flipV="false" rot="0">
            <a:off x="-536134" y="5700922"/>
            <a:ext cx="10163746" cy="3309957"/>
          </a:xfrm>
          <a:custGeom>
            <a:avLst/>
            <a:gdLst/>
            <a:ahLst/>
            <a:cxnLst/>
            <a:rect r="r" b="b" t="t" l="l"/>
            <a:pathLst>
              <a:path h="3309957" w="10163746">
                <a:moveTo>
                  <a:pt x="0" y="0"/>
                </a:moveTo>
                <a:lnTo>
                  <a:pt x="10163747" y="0"/>
                </a:lnTo>
                <a:lnTo>
                  <a:pt x="10163747" y="3309957"/>
                </a:lnTo>
                <a:lnTo>
                  <a:pt x="0" y="3309957"/>
                </a:lnTo>
                <a:lnTo>
                  <a:pt x="0" y="0"/>
                </a:lnTo>
                <a:close/>
              </a:path>
            </a:pathLst>
          </a:custGeom>
          <a:blipFill>
            <a:blip r:embed="rId7">
              <a:extLst>
                <a:ext uri="{96DAC541-7B7A-43D3-8B79-37D633B846F1}">
                  <asvg:svgBlip xmlns:asvg="http://schemas.microsoft.com/office/drawing/2016/SVG/main" r:embed="rId8"/>
                </a:ext>
              </a:extLst>
            </a:blip>
            <a:stretch>
              <a:fillRect l="0" t="-27" r="0" b="-27"/>
            </a:stretch>
          </a:blipFill>
        </p:spPr>
      </p:sp>
      <p:sp>
        <p:nvSpPr>
          <p:cNvPr name="AutoShape 14" id="14"/>
          <p:cNvSpPr/>
          <p:nvPr/>
        </p:nvSpPr>
        <p:spPr>
          <a:xfrm rot="5366160">
            <a:off x="1883864" y="7413708"/>
            <a:ext cx="2146668" cy="0"/>
          </a:xfrm>
          <a:prstGeom prst="line">
            <a:avLst/>
          </a:prstGeom>
          <a:ln cap="rnd" w="9525">
            <a:solidFill>
              <a:srgbClr val="4C5A6D"/>
            </a:solidFill>
            <a:prstDash val="solid"/>
            <a:headEnd type="none" len="sm" w="sm"/>
            <a:tailEnd type="none" len="sm" w="sm"/>
          </a:ln>
        </p:spPr>
      </p:sp>
      <p:sp>
        <p:nvSpPr>
          <p:cNvPr name="AutoShape 15" id="15"/>
          <p:cNvSpPr/>
          <p:nvPr/>
        </p:nvSpPr>
        <p:spPr>
          <a:xfrm rot="5366160">
            <a:off x="5142728" y="7413708"/>
            <a:ext cx="2146668" cy="0"/>
          </a:xfrm>
          <a:prstGeom prst="line">
            <a:avLst/>
          </a:prstGeom>
          <a:ln cap="rnd" w="9525">
            <a:solidFill>
              <a:srgbClr val="4C5A6D"/>
            </a:solidFill>
            <a:prstDash val="solid"/>
            <a:headEnd type="none" len="sm" w="sm"/>
            <a:tailEnd type="none" len="sm" w="sm"/>
          </a:ln>
        </p:spPr>
      </p:sp>
      <p:sp>
        <p:nvSpPr>
          <p:cNvPr name="TextBox 16" id="16"/>
          <p:cNvSpPr txBox="true"/>
          <p:nvPr/>
        </p:nvSpPr>
        <p:spPr>
          <a:xfrm rot="0">
            <a:off x="372542" y="6585356"/>
            <a:ext cx="2395023" cy="484756"/>
          </a:xfrm>
          <a:prstGeom prst="rect">
            <a:avLst/>
          </a:prstGeom>
        </p:spPr>
        <p:txBody>
          <a:bodyPr anchor="t" rtlCol="false" tIns="0" lIns="0" bIns="0" rIns="0">
            <a:spAutoFit/>
          </a:bodyPr>
          <a:lstStyle/>
          <a:p>
            <a:pPr algn="l">
              <a:lnSpc>
                <a:spcPts val="2926"/>
              </a:lnSpc>
            </a:pPr>
            <a:r>
              <a:rPr lang="en-US" sz="2439" b="true">
                <a:solidFill>
                  <a:srgbClr val="FFFFFF"/>
                </a:solidFill>
                <a:latin typeface="Inter Bold"/>
                <a:ea typeface="Inter Bold"/>
                <a:cs typeface="Inter Bold"/>
                <a:sym typeface="Inter Bold"/>
              </a:rPr>
              <a:t>43 / 43</a:t>
            </a:r>
          </a:p>
        </p:txBody>
      </p:sp>
      <p:sp>
        <p:nvSpPr>
          <p:cNvPr name="TextBox 17" id="17"/>
          <p:cNvSpPr txBox="true"/>
          <p:nvPr/>
        </p:nvSpPr>
        <p:spPr>
          <a:xfrm rot="0">
            <a:off x="126025" y="7620124"/>
            <a:ext cx="2804855" cy="528857"/>
          </a:xfrm>
          <a:prstGeom prst="rect">
            <a:avLst/>
          </a:prstGeom>
        </p:spPr>
        <p:txBody>
          <a:bodyPr anchor="t" rtlCol="false" tIns="0" lIns="0" bIns="0" rIns="0">
            <a:spAutoFit/>
          </a:bodyPr>
          <a:lstStyle/>
          <a:p>
            <a:pPr algn="l">
              <a:lnSpc>
                <a:spcPts val="2155"/>
              </a:lnSpc>
            </a:pPr>
            <a:r>
              <a:rPr lang="en-US" sz="1796">
                <a:solidFill>
                  <a:srgbClr val="D7DEE8"/>
                </a:solidFill>
                <a:latin typeface="Inter"/>
                <a:ea typeface="Inter"/>
                <a:cs typeface="Inter"/>
                <a:sym typeface="Inter"/>
              </a:rPr>
              <a:t>Validation de l'ensemble des cas d'utilisation.</a:t>
            </a:r>
          </a:p>
        </p:txBody>
      </p:sp>
      <p:sp>
        <p:nvSpPr>
          <p:cNvPr name="TextBox 18" id="18"/>
          <p:cNvSpPr txBox="true"/>
          <p:nvPr/>
        </p:nvSpPr>
        <p:spPr>
          <a:xfrm rot="0">
            <a:off x="126025" y="7126500"/>
            <a:ext cx="3142069" cy="274653"/>
          </a:xfrm>
          <a:prstGeom prst="rect">
            <a:avLst/>
          </a:prstGeom>
        </p:spPr>
        <p:txBody>
          <a:bodyPr anchor="t" rtlCol="false" tIns="0" lIns="0" bIns="0" rIns="0">
            <a:spAutoFit/>
          </a:bodyPr>
          <a:lstStyle/>
          <a:p>
            <a:pPr algn="l">
              <a:lnSpc>
                <a:spcPts val="2185"/>
              </a:lnSpc>
            </a:pPr>
            <a:r>
              <a:rPr lang="en-US" sz="1821" b="true">
                <a:solidFill>
                  <a:srgbClr val="FF6B00"/>
                </a:solidFill>
                <a:latin typeface="Inter Bold"/>
                <a:ea typeface="Inter Bold"/>
                <a:cs typeface="Inter Bold"/>
                <a:sym typeface="Inter Bold"/>
              </a:rPr>
              <a:t>TESTS PASSÉS (100%)</a:t>
            </a:r>
          </a:p>
        </p:txBody>
      </p:sp>
      <p:sp>
        <p:nvSpPr>
          <p:cNvPr name="TextBox 19" id="19"/>
          <p:cNvSpPr txBox="true"/>
          <p:nvPr/>
        </p:nvSpPr>
        <p:spPr>
          <a:xfrm rot="0">
            <a:off x="3422685" y="6585356"/>
            <a:ext cx="2395023" cy="484756"/>
          </a:xfrm>
          <a:prstGeom prst="rect">
            <a:avLst/>
          </a:prstGeom>
        </p:spPr>
        <p:txBody>
          <a:bodyPr anchor="t" rtlCol="false" tIns="0" lIns="0" bIns="0" rIns="0">
            <a:spAutoFit/>
          </a:bodyPr>
          <a:lstStyle/>
          <a:p>
            <a:pPr algn="l">
              <a:lnSpc>
                <a:spcPts val="2926"/>
              </a:lnSpc>
            </a:pPr>
            <a:r>
              <a:rPr lang="en-US" sz="2439" b="true">
                <a:solidFill>
                  <a:srgbClr val="FFFFFF"/>
                </a:solidFill>
                <a:latin typeface="Inter Bold"/>
                <a:ea typeface="Inter Bold"/>
                <a:cs typeface="Inter Bold"/>
                <a:sym typeface="Inter Bold"/>
              </a:rPr>
              <a:t>&lt; 0.5s</a:t>
            </a:r>
          </a:p>
        </p:txBody>
      </p:sp>
      <p:sp>
        <p:nvSpPr>
          <p:cNvPr name="TextBox 20" id="20"/>
          <p:cNvSpPr txBox="true"/>
          <p:nvPr/>
        </p:nvSpPr>
        <p:spPr>
          <a:xfrm rot="0">
            <a:off x="3318234" y="7589320"/>
            <a:ext cx="2603935" cy="559660"/>
          </a:xfrm>
          <a:prstGeom prst="rect">
            <a:avLst/>
          </a:prstGeom>
        </p:spPr>
        <p:txBody>
          <a:bodyPr anchor="t" rtlCol="false" tIns="0" lIns="0" bIns="0" rIns="0">
            <a:spAutoFit/>
          </a:bodyPr>
          <a:lstStyle/>
          <a:p>
            <a:pPr algn="l">
              <a:lnSpc>
                <a:spcPts val="2281"/>
              </a:lnSpc>
            </a:pPr>
            <a:r>
              <a:rPr lang="en-US" sz="1899">
                <a:solidFill>
                  <a:srgbClr val="D7DEE8"/>
                </a:solidFill>
                <a:latin typeface="Inter"/>
                <a:ea typeface="Inter"/>
                <a:cs typeface="Inter"/>
                <a:sym typeface="Inter"/>
              </a:rPr>
              <a:t>Exécution haute performance.</a:t>
            </a:r>
          </a:p>
        </p:txBody>
      </p:sp>
      <p:sp>
        <p:nvSpPr>
          <p:cNvPr name="TextBox 21" id="21"/>
          <p:cNvSpPr txBox="true"/>
          <p:nvPr/>
        </p:nvSpPr>
        <p:spPr>
          <a:xfrm rot="0">
            <a:off x="3422685" y="7166924"/>
            <a:ext cx="2798645" cy="464801"/>
          </a:xfrm>
          <a:prstGeom prst="rect">
            <a:avLst/>
          </a:prstGeom>
        </p:spPr>
        <p:txBody>
          <a:bodyPr anchor="t" rtlCol="false" tIns="0" lIns="0" bIns="0" rIns="0">
            <a:spAutoFit/>
          </a:bodyPr>
          <a:lstStyle/>
          <a:p>
            <a:pPr algn="l">
              <a:lnSpc>
                <a:spcPts val="1863"/>
              </a:lnSpc>
            </a:pPr>
            <a:r>
              <a:rPr lang="en-US" sz="1551" b="true">
                <a:solidFill>
                  <a:srgbClr val="FF6B00"/>
                </a:solidFill>
                <a:latin typeface="Inter Bold"/>
                <a:ea typeface="Inter Bold"/>
                <a:cs typeface="Inter Bold"/>
                <a:sym typeface="Inter Bold"/>
              </a:rPr>
              <a:t>TEMPS MOYEN / CV (SNF-01)</a:t>
            </a:r>
          </a:p>
        </p:txBody>
      </p:sp>
      <p:sp>
        <p:nvSpPr>
          <p:cNvPr name="TextBox 22" id="22"/>
          <p:cNvSpPr txBox="true"/>
          <p:nvPr/>
        </p:nvSpPr>
        <p:spPr>
          <a:xfrm rot="0">
            <a:off x="6656680" y="6585356"/>
            <a:ext cx="2801245" cy="484756"/>
          </a:xfrm>
          <a:prstGeom prst="rect">
            <a:avLst/>
          </a:prstGeom>
        </p:spPr>
        <p:txBody>
          <a:bodyPr anchor="t" rtlCol="false" tIns="0" lIns="0" bIns="0" rIns="0">
            <a:spAutoFit/>
          </a:bodyPr>
          <a:lstStyle/>
          <a:p>
            <a:pPr algn="l">
              <a:lnSpc>
                <a:spcPts val="2926"/>
              </a:lnSpc>
            </a:pPr>
            <a:r>
              <a:rPr lang="en-US" sz="2439" b="true">
                <a:solidFill>
                  <a:srgbClr val="FFFFFF"/>
                </a:solidFill>
                <a:latin typeface="Inter Bold"/>
                <a:ea typeface="Inter Bold"/>
                <a:cs typeface="Inter Bold"/>
                <a:sym typeface="Inter Bold"/>
              </a:rPr>
              <a:t>3</a:t>
            </a:r>
          </a:p>
        </p:txBody>
      </p:sp>
      <p:sp>
        <p:nvSpPr>
          <p:cNvPr name="TextBox 23" id="23"/>
          <p:cNvSpPr txBox="true"/>
          <p:nvPr/>
        </p:nvSpPr>
        <p:spPr>
          <a:xfrm rot="0">
            <a:off x="6477962" y="7620724"/>
            <a:ext cx="2874997" cy="583054"/>
          </a:xfrm>
          <a:prstGeom prst="rect">
            <a:avLst/>
          </a:prstGeom>
        </p:spPr>
        <p:txBody>
          <a:bodyPr anchor="t" rtlCol="false" tIns="0" lIns="0" bIns="0" rIns="0">
            <a:spAutoFit/>
          </a:bodyPr>
          <a:lstStyle/>
          <a:p>
            <a:pPr algn="l">
              <a:lnSpc>
                <a:spcPts val="2308"/>
              </a:lnSpc>
            </a:pPr>
            <a:r>
              <a:rPr lang="en-US" sz="1923">
                <a:solidFill>
                  <a:srgbClr val="D7DEE8"/>
                </a:solidFill>
                <a:latin typeface="Inter"/>
                <a:ea typeface="Inter"/>
                <a:cs typeface="Inter"/>
                <a:sym typeface="Inter"/>
              </a:rPr>
              <a:t>Ingestion, Anonymisation &amp; Extraction.</a:t>
            </a:r>
          </a:p>
        </p:txBody>
      </p:sp>
      <p:sp>
        <p:nvSpPr>
          <p:cNvPr name="TextBox 24" id="24"/>
          <p:cNvSpPr txBox="true"/>
          <p:nvPr/>
        </p:nvSpPr>
        <p:spPr>
          <a:xfrm rot="0">
            <a:off x="6656680" y="7150256"/>
            <a:ext cx="2555415" cy="227943"/>
          </a:xfrm>
          <a:prstGeom prst="rect">
            <a:avLst/>
          </a:prstGeom>
        </p:spPr>
        <p:txBody>
          <a:bodyPr anchor="t" rtlCol="false" tIns="0" lIns="0" bIns="0" rIns="0">
            <a:spAutoFit/>
          </a:bodyPr>
          <a:lstStyle/>
          <a:p>
            <a:pPr algn="l">
              <a:lnSpc>
                <a:spcPts val="1730"/>
              </a:lnSpc>
            </a:pPr>
            <a:r>
              <a:rPr lang="en-US" sz="1440" b="true">
                <a:solidFill>
                  <a:srgbClr val="FF6B00"/>
                </a:solidFill>
                <a:latin typeface="Inter Bold"/>
                <a:ea typeface="Inter Bold"/>
                <a:cs typeface="Inter Bold"/>
                <a:sym typeface="Inter Bold"/>
              </a:rPr>
              <a:t>COUCHES DE TRAITEMENT</a:t>
            </a:r>
          </a:p>
        </p:txBody>
      </p:sp>
      <p:sp>
        <p:nvSpPr>
          <p:cNvPr name="Freeform 25" id="25"/>
          <p:cNvSpPr/>
          <p:nvPr/>
        </p:nvSpPr>
        <p:spPr>
          <a:xfrm flipH="false" flipV="false" rot="0">
            <a:off x="10297601" y="5320779"/>
            <a:ext cx="1638805" cy="1433951"/>
          </a:xfrm>
          <a:custGeom>
            <a:avLst/>
            <a:gdLst/>
            <a:ahLst/>
            <a:cxnLst/>
            <a:rect r="r" b="b" t="t" l="l"/>
            <a:pathLst>
              <a:path h="1433951" w="1638805">
                <a:moveTo>
                  <a:pt x="0" y="0"/>
                </a:moveTo>
                <a:lnTo>
                  <a:pt x="1638805" y="0"/>
                </a:lnTo>
                <a:lnTo>
                  <a:pt x="1638805" y="1433951"/>
                </a:lnTo>
                <a:lnTo>
                  <a:pt x="0" y="1433951"/>
                </a:lnTo>
                <a:lnTo>
                  <a:pt x="0" y="0"/>
                </a:lnTo>
                <a:close/>
              </a:path>
            </a:pathLst>
          </a:custGeom>
          <a:blipFill>
            <a:blip r:embed="rId9">
              <a:extLst>
                <a:ext uri="{96DAC541-7B7A-43D3-8B79-37D633B846F1}">
                  <asvg:svgBlip xmlns:asvg="http://schemas.microsoft.com/office/drawing/2016/SVG/main" r:embed="rId10"/>
                </a:ext>
              </a:extLst>
            </a:blip>
            <a:stretch>
              <a:fillRect l="-124" t="0" r="-123" b="0"/>
            </a:stretch>
          </a:blipFill>
        </p:spPr>
      </p:sp>
      <p:sp>
        <p:nvSpPr>
          <p:cNvPr name="Freeform 26" id="26"/>
          <p:cNvSpPr/>
          <p:nvPr/>
        </p:nvSpPr>
        <p:spPr>
          <a:xfrm flipH="false" flipV="false" rot="0">
            <a:off x="13021589" y="5320779"/>
            <a:ext cx="1638805" cy="1433951"/>
          </a:xfrm>
          <a:custGeom>
            <a:avLst/>
            <a:gdLst/>
            <a:ahLst/>
            <a:cxnLst/>
            <a:rect r="r" b="b" t="t" l="l"/>
            <a:pathLst>
              <a:path h="1433951" w="1638805">
                <a:moveTo>
                  <a:pt x="0" y="0"/>
                </a:moveTo>
                <a:lnTo>
                  <a:pt x="1638805" y="0"/>
                </a:lnTo>
                <a:lnTo>
                  <a:pt x="1638805" y="1433951"/>
                </a:lnTo>
                <a:lnTo>
                  <a:pt x="0" y="1433951"/>
                </a:lnTo>
                <a:lnTo>
                  <a:pt x="0" y="0"/>
                </a:lnTo>
                <a:close/>
              </a:path>
            </a:pathLst>
          </a:custGeom>
          <a:blipFill>
            <a:blip r:embed="rId9">
              <a:extLst>
                <a:ext uri="{96DAC541-7B7A-43D3-8B79-37D633B846F1}">
                  <asvg:svgBlip xmlns:asvg="http://schemas.microsoft.com/office/drawing/2016/SVG/main" r:embed="rId10"/>
                </a:ext>
              </a:extLst>
            </a:blip>
            <a:stretch>
              <a:fillRect l="-124" t="0" r="-123" b="0"/>
            </a:stretch>
          </a:blipFill>
        </p:spPr>
      </p:sp>
      <p:sp>
        <p:nvSpPr>
          <p:cNvPr name="Freeform 27" id="27"/>
          <p:cNvSpPr/>
          <p:nvPr/>
        </p:nvSpPr>
        <p:spPr>
          <a:xfrm flipH="false" flipV="false" rot="0">
            <a:off x="15745577" y="5320779"/>
            <a:ext cx="1638805" cy="1433951"/>
          </a:xfrm>
          <a:custGeom>
            <a:avLst/>
            <a:gdLst/>
            <a:ahLst/>
            <a:cxnLst/>
            <a:rect r="r" b="b" t="t" l="l"/>
            <a:pathLst>
              <a:path h="1433951" w="1638805">
                <a:moveTo>
                  <a:pt x="0" y="0"/>
                </a:moveTo>
                <a:lnTo>
                  <a:pt x="1638805" y="0"/>
                </a:lnTo>
                <a:lnTo>
                  <a:pt x="1638805" y="1433951"/>
                </a:lnTo>
                <a:lnTo>
                  <a:pt x="0" y="1433951"/>
                </a:lnTo>
                <a:lnTo>
                  <a:pt x="0" y="0"/>
                </a:lnTo>
                <a:close/>
              </a:path>
            </a:pathLst>
          </a:custGeom>
          <a:blipFill>
            <a:blip r:embed="rId9">
              <a:extLst>
                <a:ext uri="{96DAC541-7B7A-43D3-8B79-37D633B846F1}">
                  <asvg:svgBlip xmlns:asvg="http://schemas.microsoft.com/office/drawing/2016/SVG/main" r:embed="rId10"/>
                </a:ext>
              </a:extLst>
            </a:blip>
            <a:stretch>
              <a:fillRect l="-124" t="0" r="-123" b="0"/>
            </a:stretch>
          </a:blipFill>
        </p:spPr>
      </p:sp>
      <p:sp>
        <p:nvSpPr>
          <p:cNvPr name="Freeform 28" id="28"/>
          <p:cNvSpPr/>
          <p:nvPr/>
        </p:nvSpPr>
        <p:spPr>
          <a:xfrm flipH="false" flipV="false" rot="0">
            <a:off x="12222499" y="5895127"/>
            <a:ext cx="512997" cy="420653"/>
          </a:xfrm>
          <a:custGeom>
            <a:avLst/>
            <a:gdLst/>
            <a:ahLst/>
            <a:cxnLst/>
            <a:rect r="r" b="b" t="t" l="l"/>
            <a:pathLst>
              <a:path h="420653" w="512997">
                <a:moveTo>
                  <a:pt x="0" y="0"/>
                </a:moveTo>
                <a:lnTo>
                  <a:pt x="512997" y="0"/>
                </a:lnTo>
                <a:lnTo>
                  <a:pt x="512997" y="420653"/>
                </a:lnTo>
                <a:lnTo>
                  <a:pt x="0" y="420653"/>
                </a:lnTo>
                <a:lnTo>
                  <a:pt x="0" y="0"/>
                </a:lnTo>
                <a:close/>
              </a:path>
            </a:pathLst>
          </a:custGeom>
          <a:blipFill>
            <a:blip r:embed="rId11">
              <a:extLst>
                <a:ext uri="{96DAC541-7B7A-43D3-8B79-37D633B846F1}">
                  <asvg:svgBlip xmlns:asvg="http://schemas.microsoft.com/office/drawing/2016/SVG/main" r:embed="rId12"/>
                </a:ext>
              </a:extLst>
            </a:blip>
            <a:stretch>
              <a:fillRect l="0" t="-812" r="0" b="-812"/>
            </a:stretch>
          </a:blipFill>
        </p:spPr>
      </p:sp>
      <p:sp>
        <p:nvSpPr>
          <p:cNvPr name="Freeform 29" id="29"/>
          <p:cNvSpPr/>
          <p:nvPr/>
        </p:nvSpPr>
        <p:spPr>
          <a:xfrm flipH="false" flipV="false" rot="0">
            <a:off x="14947992" y="5895127"/>
            <a:ext cx="512997" cy="420653"/>
          </a:xfrm>
          <a:custGeom>
            <a:avLst/>
            <a:gdLst/>
            <a:ahLst/>
            <a:cxnLst/>
            <a:rect r="r" b="b" t="t" l="l"/>
            <a:pathLst>
              <a:path h="420653" w="512997">
                <a:moveTo>
                  <a:pt x="0" y="0"/>
                </a:moveTo>
                <a:lnTo>
                  <a:pt x="512998" y="0"/>
                </a:lnTo>
                <a:lnTo>
                  <a:pt x="512998" y="420653"/>
                </a:lnTo>
                <a:lnTo>
                  <a:pt x="0" y="420653"/>
                </a:lnTo>
                <a:lnTo>
                  <a:pt x="0" y="0"/>
                </a:lnTo>
                <a:close/>
              </a:path>
            </a:pathLst>
          </a:custGeom>
          <a:blipFill>
            <a:blip r:embed="rId11">
              <a:extLst>
                <a:ext uri="{96DAC541-7B7A-43D3-8B79-37D633B846F1}">
                  <asvg:svgBlip xmlns:asvg="http://schemas.microsoft.com/office/drawing/2016/SVG/main" r:embed="rId12"/>
                </a:ext>
              </a:extLst>
            </a:blip>
            <a:stretch>
              <a:fillRect l="0" t="-812" r="0" b="-812"/>
            </a:stretch>
          </a:blipFill>
        </p:spPr>
      </p:sp>
      <p:sp>
        <p:nvSpPr>
          <p:cNvPr name="Freeform 30" id="30"/>
          <p:cNvSpPr/>
          <p:nvPr/>
        </p:nvSpPr>
        <p:spPr>
          <a:xfrm flipH="false" flipV="false" rot="0">
            <a:off x="10726674" y="5694912"/>
            <a:ext cx="780679" cy="798652"/>
          </a:xfrm>
          <a:custGeom>
            <a:avLst/>
            <a:gdLst/>
            <a:ahLst/>
            <a:cxnLst/>
            <a:rect r="r" b="b" t="t" l="l"/>
            <a:pathLst>
              <a:path h="798652" w="780679">
                <a:moveTo>
                  <a:pt x="0" y="0"/>
                </a:moveTo>
                <a:lnTo>
                  <a:pt x="780679" y="0"/>
                </a:lnTo>
                <a:lnTo>
                  <a:pt x="780679" y="798652"/>
                </a:lnTo>
                <a:lnTo>
                  <a:pt x="0" y="798652"/>
                </a:lnTo>
                <a:lnTo>
                  <a:pt x="0" y="0"/>
                </a:lnTo>
                <a:close/>
              </a:path>
            </a:pathLst>
          </a:custGeom>
          <a:blipFill>
            <a:blip r:embed="rId13">
              <a:extLst>
                <a:ext uri="{96DAC541-7B7A-43D3-8B79-37D633B846F1}">
                  <asvg:svgBlip xmlns:asvg="http://schemas.microsoft.com/office/drawing/2016/SVG/main" r:embed="rId14"/>
                </a:ext>
              </a:extLst>
            </a:blip>
            <a:stretch>
              <a:fillRect l="-541" t="0" r="-542" b="0"/>
            </a:stretch>
          </a:blipFill>
        </p:spPr>
      </p:sp>
      <p:sp>
        <p:nvSpPr>
          <p:cNvPr name="Freeform 31" id="31"/>
          <p:cNvSpPr/>
          <p:nvPr/>
        </p:nvSpPr>
        <p:spPr>
          <a:xfrm flipH="false" flipV="false" rot="0">
            <a:off x="13388235" y="5740336"/>
            <a:ext cx="926859" cy="707793"/>
          </a:xfrm>
          <a:custGeom>
            <a:avLst/>
            <a:gdLst/>
            <a:ahLst/>
            <a:cxnLst/>
            <a:rect r="r" b="b" t="t" l="l"/>
            <a:pathLst>
              <a:path h="707793" w="926859">
                <a:moveTo>
                  <a:pt x="0" y="0"/>
                </a:moveTo>
                <a:lnTo>
                  <a:pt x="926859" y="0"/>
                </a:lnTo>
                <a:lnTo>
                  <a:pt x="926859" y="707794"/>
                </a:lnTo>
                <a:lnTo>
                  <a:pt x="0" y="707794"/>
                </a:lnTo>
                <a:lnTo>
                  <a:pt x="0" y="0"/>
                </a:lnTo>
                <a:close/>
              </a:path>
            </a:pathLst>
          </a:custGeom>
          <a:blipFill>
            <a:blip r:embed="rId15">
              <a:extLst>
                <a:ext uri="{96DAC541-7B7A-43D3-8B79-37D633B846F1}">
                  <asvg:svgBlip xmlns:asvg="http://schemas.microsoft.com/office/drawing/2016/SVG/main" r:embed="rId16"/>
                </a:ext>
              </a:extLst>
            </a:blip>
            <a:stretch>
              <a:fillRect l="-909" t="0" r="-909" b="0"/>
            </a:stretch>
          </a:blipFill>
        </p:spPr>
      </p:sp>
      <p:sp>
        <p:nvSpPr>
          <p:cNvPr name="Freeform 32" id="32"/>
          <p:cNvSpPr/>
          <p:nvPr/>
        </p:nvSpPr>
        <p:spPr>
          <a:xfrm flipH="false" flipV="false" rot="0">
            <a:off x="16204797" y="5660488"/>
            <a:ext cx="737273" cy="833076"/>
          </a:xfrm>
          <a:custGeom>
            <a:avLst/>
            <a:gdLst/>
            <a:ahLst/>
            <a:cxnLst/>
            <a:rect r="r" b="b" t="t" l="l"/>
            <a:pathLst>
              <a:path h="833076" w="737273">
                <a:moveTo>
                  <a:pt x="0" y="0"/>
                </a:moveTo>
                <a:lnTo>
                  <a:pt x="737273" y="0"/>
                </a:lnTo>
                <a:lnTo>
                  <a:pt x="737273" y="833076"/>
                </a:lnTo>
                <a:lnTo>
                  <a:pt x="0" y="833076"/>
                </a:lnTo>
                <a:lnTo>
                  <a:pt x="0" y="0"/>
                </a:lnTo>
                <a:close/>
              </a:path>
            </a:pathLst>
          </a:custGeom>
          <a:blipFill>
            <a:blip r:embed="rId17">
              <a:extLst>
                <a:ext uri="{96DAC541-7B7A-43D3-8B79-37D633B846F1}">
                  <asvg:svgBlip xmlns:asvg="http://schemas.microsoft.com/office/drawing/2016/SVG/main" r:embed="rId18"/>
                </a:ext>
              </a:extLst>
            </a:blip>
            <a:stretch>
              <a:fillRect l="-77" t="0" r="-76" b="0"/>
            </a:stretch>
          </a:blipFill>
        </p:spPr>
      </p:sp>
      <p:sp>
        <p:nvSpPr>
          <p:cNvPr name="TextBox 33" id="33"/>
          <p:cNvSpPr txBox="true"/>
          <p:nvPr/>
        </p:nvSpPr>
        <p:spPr>
          <a:xfrm rot="0">
            <a:off x="10373763" y="6883784"/>
            <a:ext cx="1562643" cy="198349"/>
          </a:xfrm>
          <a:prstGeom prst="rect">
            <a:avLst/>
          </a:prstGeom>
        </p:spPr>
        <p:txBody>
          <a:bodyPr anchor="t" rtlCol="false" tIns="0" lIns="0" bIns="0" rIns="0">
            <a:spAutoFit/>
          </a:bodyPr>
          <a:lstStyle/>
          <a:p>
            <a:pPr algn="l" marL="309354" indent="-103118" lvl="2">
              <a:lnSpc>
                <a:spcPts val="1624"/>
              </a:lnSpc>
              <a:buFont typeface="Arial"/>
              <a:buChar char="⚬"/>
            </a:pPr>
            <a:r>
              <a:rPr lang="en-US" b="true" sz="1353" i="true" u="sng">
                <a:solidFill>
                  <a:srgbClr val="111827"/>
                </a:solidFill>
                <a:latin typeface="Inter Bold Italics"/>
                <a:ea typeface="Inter Bold Italics"/>
                <a:cs typeface="Inter Bold Italics"/>
                <a:sym typeface="Inter Bold Italics"/>
              </a:rPr>
              <a:t>MASQUER</a:t>
            </a:r>
          </a:p>
        </p:txBody>
      </p:sp>
      <p:sp>
        <p:nvSpPr>
          <p:cNvPr name="TextBox 34" id="34"/>
          <p:cNvSpPr txBox="true"/>
          <p:nvPr/>
        </p:nvSpPr>
        <p:spPr>
          <a:xfrm rot="0">
            <a:off x="13059670" y="6900005"/>
            <a:ext cx="1562643" cy="198349"/>
          </a:xfrm>
          <a:prstGeom prst="rect">
            <a:avLst/>
          </a:prstGeom>
        </p:spPr>
        <p:txBody>
          <a:bodyPr anchor="t" rtlCol="false" tIns="0" lIns="0" bIns="0" rIns="0">
            <a:spAutoFit/>
          </a:bodyPr>
          <a:lstStyle/>
          <a:p>
            <a:pPr algn="l" marL="309354" indent="-103118" lvl="2">
              <a:lnSpc>
                <a:spcPts val="1624"/>
              </a:lnSpc>
              <a:buFont typeface="Arial"/>
              <a:buChar char="⚬"/>
            </a:pPr>
            <a:r>
              <a:rPr lang="en-US" b="true" sz="1353" i="true" u="sng">
                <a:solidFill>
                  <a:srgbClr val="111827"/>
                </a:solidFill>
                <a:latin typeface="Inter Bold Italics"/>
                <a:ea typeface="Inter Bold Italics"/>
                <a:cs typeface="Inter Bold Italics"/>
                <a:sym typeface="Inter Bold Italics"/>
              </a:rPr>
              <a:t>EXTRAIRE</a:t>
            </a:r>
          </a:p>
        </p:txBody>
      </p:sp>
      <p:sp>
        <p:nvSpPr>
          <p:cNvPr name="TextBox 35" id="35"/>
          <p:cNvSpPr txBox="true"/>
          <p:nvPr/>
        </p:nvSpPr>
        <p:spPr>
          <a:xfrm rot="0">
            <a:off x="15821739" y="6863067"/>
            <a:ext cx="1562643" cy="198349"/>
          </a:xfrm>
          <a:prstGeom prst="rect">
            <a:avLst/>
          </a:prstGeom>
        </p:spPr>
        <p:txBody>
          <a:bodyPr anchor="t" rtlCol="false" tIns="0" lIns="0" bIns="0" rIns="0">
            <a:spAutoFit/>
          </a:bodyPr>
          <a:lstStyle/>
          <a:p>
            <a:pPr algn="l" marL="309354" indent="-103118" lvl="2">
              <a:lnSpc>
                <a:spcPts val="1624"/>
              </a:lnSpc>
              <a:buFont typeface="Arial"/>
              <a:buChar char="⚬"/>
            </a:pPr>
            <a:r>
              <a:rPr lang="en-US" b="true" sz="1353" i="true" u="sng">
                <a:solidFill>
                  <a:srgbClr val="111827"/>
                </a:solidFill>
                <a:latin typeface="Inter Bold Italics"/>
                <a:ea typeface="Inter Bold Italics"/>
                <a:cs typeface="Inter Bold Italics"/>
                <a:sym typeface="Inter Bold Italics"/>
              </a:rPr>
              <a:t>ENRICHIR</a:t>
            </a:r>
          </a:p>
        </p:txBody>
      </p:sp>
      <p:sp>
        <p:nvSpPr>
          <p:cNvPr name="TextBox 36" id="36"/>
          <p:cNvSpPr txBox="true"/>
          <p:nvPr/>
        </p:nvSpPr>
        <p:spPr>
          <a:xfrm rot="0">
            <a:off x="9797063" y="7089572"/>
            <a:ext cx="2681935" cy="2168728"/>
          </a:xfrm>
          <a:prstGeom prst="rect">
            <a:avLst/>
          </a:prstGeom>
        </p:spPr>
        <p:txBody>
          <a:bodyPr anchor="t" rtlCol="false" tIns="0" lIns="0" bIns="0" rIns="0">
            <a:spAutoFit/>
          </a:bodyPr>
          <a:lstStyle/>
          <a:p>
            <a:pPr algn="l">
              <a:lnSpc>
                <a:spcPts val="2445"/>
              </a:lnSpc>
            </a:pPr>
            <a:r>
              <a:rPr lang="en-US" sz="2037" b="true">
                <a:solidFill>
                  <a:srgbClr val="4B5563"/>
                </a:solidFill>
                <a:latin typeface="Inter Bold"/>
                <a:ea typeface="Inter Bold"/>
                <a:cs typeface="Inter Bold"/>
                <a:sym typeface="Inter Bold"/>
              </a:rPr>
              <a:t>Détection et substitution déterministe des PII (email, téléphone, CIN, nom) par regex, avant tout traitement.</a:t>
            </a:r>
          </a:p>
        </p:txBody>
      </p:sp>
      <p:sp>
        <p:nvSpPr>
          <p:cNvPr name="TextBox 37" id="37"/>
          <p:cNvSpPr txBox="true"/>
          <p:nvPr/>
        </p:nvSpPr>
        <p:spPr>
          <a:xfrm rot="0">
            <a:off x="12627464" y="7106241"/>
            <a:ext cx="2320528" cy="1994392"/>
          </a:xfrm>
          <a:prstGeom prst="rect">
            <a:avLst/>
          </a:prstGeom>
        </p:spPr>
        <p:txBody>
          <a:bodyPr anchor="t" rtlCol="false" tIns="0" lIns="0" bIns="0" rIns="0">
            <a:spAutoFit/>
          </a:bodyPr>
          <a:lstStyle/>
          <a:p>
            <a:pPr algn="l">
              <a:lnSpc>
                <a:spcPts val="2283"/>
              </a:lnSpc>
            </a:pPr>
            <a:r>
              <a:rPr lang="en-US" sz="1902" b="true">
                <a:solidFill>
                  <a:srgbClr val="4B5563"/>
                </a:solidFill>
                <a:latin typeface="Inter Bold"/>
                <a:ea typeface="Inter Bold"/>
                <a:cs typeface="Inter Bold"/>
                <a:sym typeface="Inter Bold"/>
              </a:rPr>
              <a:t>Reconnaissance d'entités nommées (spaCy fr_core_news_lg) pour identifier postes, diplômes, entreprises.</a:t>
            </a:r>
          </a:p>
        </p:txBody>
      </p:sp>
      <p:sp>
        <p:nvSpPr>
          <p:cNvPr name="TextBox 38" id="38"/>
          <p:cNvSpPr txBox="true"/>
          <p:nvPr/>
        </p:nvSpPr>
        <p:spPr>
          <a:xfrm rot="0">
            <a:off x="15399229" y="7246915"/>
            <a:ext cx="2906963" cy="1853717"/>
          </a:xfrm>
          <a:prstGeom prst="rect">
            <a:avLst/>
          </a:prstGeom>
        </p:spPr>
        <p:txBody>
          <a:bodyPr anchor="t" rtlCol="false" tIns="0" lIns="0" bIns="0" rIns="0">
            <a:spAutoFit/>
          </a:bodyPr>
          <a:lstStyle/>
          <a:p>
            <a:pPr algn="l">
              <a:lnSpc>
                <a:spcPts val="2475"/>
              </a:lnSpc>
            </a:pPr>
            <a:r>
              <a:rPr lang="en-US" sz="2063" b="true">
                <a:solidFill>
                  <a:srgbClr val="4B5563"/>
                </a:solidFill>
                <a:latin typeface="Inter Bold"/>
                <a:ea typeface="Inter Bold"/>
                <a:cs typeface="Inter Bold"/>
                <a:sym typeface="Inter Bold"/>
              </a:rPr>
              <a:t>Génération d'un résumé de profil via LLM, après validation d'un security gate garantissant zéro PII brute.</a:t>
            </a:r>
          </a:p>
        </p:txBody>
      </p:sp>
    </p:spTree>
  </p:cSld>
  <p:clrMapOvr>
    <a:masterClrMapping/>
  </p:clrMapOvr>
  <p:transition spd="slow">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160691"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4366146"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4571600"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TextBox 6" id="6"/>
          <p:cNvSpPr txBox="true"/>
          <p:nvPr/>
        </p:nvSpPr>
        <p:spPr>
          <a:xfrm rot="0">
            <a:off x="901846" y="1807493"/>
            <a:ext cx="4383900" cy="4073395"/>
          </a:xfrm>
          <a:prstGeom prst="rect">
            <a:avLst/>
          </a:prstGeom>
        </p:spPr>
        <p:txBody>
          <a:bodyPr anchor="t" rtlCol="false" tIns="0" lIns="0" bIns="0" rIns="0">
            <a:spAutoFit/>
          </a:bodyPr>
          <a:lstStyle/>
          <a:p>
            <a:pPr algn="l">
              <a:lnSpc>
                <a:spcPts val="3358"/>
              </a:lnSpc>
            </a:pPr>
            <a:r>
              <a:rPr lang="en-US" sz="2799" b="true">
                <a:solidFill>
                  <a:srgbClr val="111827"/>
                </a:solidFill>
                <a:latin typeface="Inter Bold"/>
                <a:ea typeface="Inter Bold"/>
                <a:cs typeface="Inter Bold"/>
                <a:sym typeface="Inter Bold"/>
              </a:rPr>
              <a:t>UNE ARCHITECTURE</a:t>
            </a:r>
          </a:p>
          <a:p>
            <a:pPr algn="l">
              <a:lnSpc>
                <a:spcPts val="3358"/>
              </a:lnSpc>
            </a:pPr>
            <a:r>
              <a:rPr lang="en-US" sz="2799" b="true">
                <a:solidFill>
                  <a:srgbClr val="FF6B00"/>
                </a:solidFill>
                <a:latin typeface="Inter Bold"/>
                <a:ea typeface="Inter Bold"/>
                <a:cs typeface="Inter Bold"/>
                <a:sym typeface="Inter Bold"/>
              </a:rPr>
              <a:t>PENSÉE POUR LA CONFORMITÉ ET L'ÉCHELLE</a:t>
            </a:r>
          </a:p>
        </p:txBody>
      </p:sp>
      <p:sp>
        <p:nvSpPr>
          <p:cNvPr name="AutoShape 7" id="7"/>
          <p:cNvSpPr/>
          <p:nvPr/>
        </p:nvSpPr>
        <p:spPr>
          <a:xfrm>
            <a:off x="-724033" y="4417981"/>
            <a:ext cx="5844664" cy="8430"/>
          </a:xfrm>
          <a:prstGeom prst="line">
            <a:avLst/>
          </a:prstGeom>
          <a:ln cap="rnd" w="47625">
            <a:solidFill>
              <a:srgbClr val="FF5300"/>
            </a:solidFill>
            <a:prstDash val="solid"/>
            <a:headEnd type="none" len="sm" w="sm"/>
            <a:tailEnd type="none" len="sm" w="sm"/>
          </a:ln>
        </p:spPr>
      </p:sp>
      <p:sp>
        <p:nvSpPr>
          <p:cNvPr name="Freeform 8" id="8"/>
          <p:cNvSpPr/>
          <p:nvPr/>
        </p:nvSpPr>
        <p:spPr>
          <a:xfrm flipH="false" flipV="false" rot="0">
            <a:off x="-724033" y="7909550"/>
            <a:ext cx="5844664" cy="3194599"/>
          </a:xfrm>
          <a:custGeom>
            <a:avLst/>
            <a:gdLst/>
            <a:ahLst/>
            <a:cxnLst/>
            <a:rect r="r" b="b" t="t" l="l"/>
            <a:pathLst>
              <a:path h="3194599" w="5844664">
                <a:moveTo>
                  <a:pt x="0" y="0"/>
                </a:moveTo>
                <a:lnTo>
                  <a:pt x="5844663" y="0"/>
                </a:lnTo>
                <a:lnTo>
                  <a:pt x="5844663" y="3194600"/>
                </a:lnTo>
                <a:lnTo>
                  <a:pt x="0" y="3194600"/>
                </a:lnTo>
                <a:lnTo>
                  <a:pt x="0" y="0"/>
                </a:lnTo>
                <a:close/>
              </a:path>
            </a:pathLst>
          </a:custGeom>
          <a:blipFill>
            <a:blip r:embed="rId6">
              <a:extLst>
                <a:ext uri="{96DAC541-7B7A-43D3-8B79-37D633B846F1}">
                  <asvg:svgBlip xmlns:asvg="http://schemas.microsoft.com/office/drawing/2016/SVG/main" r:embed="rId7"/>
                </a:ext>
              </a:extLst>
            </a:blip>
            <a:stretch>
              <a:fillRect l="0" t="-59" r="0" b="-59"/>
            </a:stretch>
          </a:blipFill>
        </p:spPr>
      </p:sp>
      <p:sp>
        <p:nvSpPr>
          <p:cNvPr name="Freeform 9" id="9"/>
          <p:cNvSpPr/>
          <p:nvPr/>
        </p:nvSpPr>
        <p:spPr>
          <a:xfrm flipH="false" flipV="false" rot="0">
            <a:off x="232381" y="8137379"/>
            <a:ext cx="725167" cy="725167"/>
          </a:xfrm>
          <a:custGeom>
            <a:avLst/>
            <a:gdLst/>
            <a:ahLst/>
            <a:cxnLst/>
            <a:rect r="r" b="b" t="t" l="l"/>
            <a:pathLst>
              <a:path h="725167" w="725167">
                <a:moveTo>
                  <a:pt x="0" y="0"/>
                </a:moveTo>
                <a:lnTo>
                  <a:pt x="725167" y="0"/>
                </a:lnTo>
                <a:lnTo>
                  <a:pt x="725167" y="725167"/>
                </a:lnTo>
                <a:lnTo>
                  <a:pt x="0" y="7251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6217054" y="811492"/>
            <a:ext cx="3993547" cy="9461564"/>
            <a:chOff x="0" y="0"/>
            <a:chExt cx="5324729" cy="12615418"/>
          </a:xfrm>
        </p:grpSpPr>
        <p:sp>
          <p:nvSpPr>
            <p:cNvPr name="Freeform 11" id="11"/>
            <p:cNvSpPr/>
            <p:nvPr/>
          </p:nvSpPr>
          <p:spPr>
            <a:xfrm flipH="false" flipV="false" rot="0">
              <a:off x="0" y="0"/>
              <a:ext cx="5324729" cy="12615418"/>
            </a:xfrm>
            <a:custGeom>
              <a:avLst/>
              <a:gdLst/>
              <a:ahLst/>
              <a:cxnLst/>
              <a:rect r="r" b="b" t="t" l="l"/>
              <a:pathLst>
                <a:path h="12615418" w="5324729">
                  <a:moveTo>
                    <a:pt x="1775841" y="164084"/>
                  </a:moveTo>
                  <a:cubicBezTo>
                    <a:pt x="2048002" y="65024"/>
                    <a:pt x="2359152" y="0"/>
                    <a:pt x="2663825" y="0"/>
                  </a:cubicBezTo>
                  <a:cubicBezTo>
                    <a:pt x="2968498" y="0"/>
                    <a:pt x="3261487" y="55753"/>
                    <a:pt x="3531616" y="154813"/>
                  </a:cubicBezTo>
                  <a:cubicBezTo>
                    <a:pt x="3537331" y="157861"/>
                    <a:pt x="3543173" y="157861"/>
                    <a:pt x="3548888" y="161036"/>
                  </a:cubicBezTo>
                  <a:cubicBezTo>
                    <a:pt x="4563237" y="557403"/>
                    <a:pt x="5310378" y="1604010"/>
                    <a:pt x="5324729" y="2951988"/>
                  </a:cubicBezTo>
                  <a:lnTo>
                    <a:pt x="5324729" y="12615418"/>
                  </a:lnTo>
                  <a:lnTo>
                    <a:pt x="0" y="12615418"/>
                  </a:lnTo>
                  <a:lnTo>
                    <a:pt x="0" y="2959227"/>
                  </a:lnTo>
                  <a:cubicBezTo>
                    <a:pt x="14351" y="1597787"/>
                    <a:pt x="750062" y="551180"/>
                    <a:pt x="1775841" y="164084"/>
                  </a:cubicBezTo>
                  <a:close/>
                </a:path>
              </a:pathLst>
            </a:custGeom>
            <a:blipFill>
              <a:blip r:embed="rId10"/>
              <a:stretch>
                <a:fillRect l="-44751" t="0" r="-44751" b="0"/>
              </a:stretch>
            </a:blipFill>
          </p:spPr>
        </p:sp>
      </p:grpSp>
      <p:sp>
        <p:nvSpPr>
          <p:cNvPr name="Freeform 12" id="12"/>
          <p:cNvSpPr/>
          <p:nvPr/>
        </p:nvSpPr>
        <p:spPr>
          <a:xfrm flipH="false" flipV="false" rot="0">
            <a:off x="10580446" y="756561"/>
            <a:ext cx="3234271" cy="3693662"/>
          </a:xfrm>
          <a:custGeom>
            <a:avLst/>
            <a:gdLst/>
            <a:ahLst/>
            <a:cxnLst/>
            <a:rect r="r" b="b" t="t" l="l"/>
            <a:pathLst>
              <a:path h="3693662" w="3234271">
                <a:moveTo>
                  <a:pt x="0" y="0"/>
                </a:moveTo>
                <a:lnTo>
                  <a:pt x="3234271" y="0"/>
                </a:lnTo>
                <a:lnTo>
                  <a:pt x="3234271" y="3693662"/>
                </a:lnTo>
                <a:lnTo>
                  <a:pt x="0" y="3693662"/>
                </a:lnTo>
                <a:lnTo>
                  <a:pt x="0" y="0"/>
                </a:lnTo>
                <a:close/>
              </a:path>
            </a:pathLst>
          </a:custGeom>
          <a:blipFill>
            <a:blip r:embed="rId11">
              <a:extLst>
                <a:ext uri="{96DAC541-7B7A-43D3-8B79-37D633B846F1}">
                  <asvg:svgBlip xmlns:asvg="http://schemas.microsoft.com/office/drawing/2016/SVG/main" r:embed="rId12"/>
                </a:ext>
              </a:extLst>
            </a:blip>
            <a:stretch>
              <a:fillRect l="-37" t="0" r="-37" b="0"/>
            </a:stretch>
          </a:blipFill>
        </p:spPr>
      </p:sp>
      <p:sp>
        <p:nvSpPr>
          <p:cNvPr name="Freeform 13" id="13"/>
          <p:cNvSpPr/>
          <p:nvPr/>
        </p:nvSpPr>
        <p:spPr>
          <a:xfrm flipH="false" flipV="false" rot="0">
            <a:off x="14139158" y="724319"/>
            <a:ext cx="3234271" cy="3693662"/>
          </a:xfrm>
          <a:custGeom>
            <a:avLst/>
            <a:gdLst/>
            <a:ahLst/>
            <a:cxnLst/>
            <a:rect r="r" b="b" t="t" l="l"/>
            <a:pathLst>
              <a:path h="3693662" w="3234271">
                <a:moveTo>
                  <a:pt x="0" y="0"/>
                </a:moveTo>
                <a:lnTo>
                  <a:pt x="3234271" y="0"/>
                </a:lnTo>
                <a:lnTo>
                  <a:pt x="3234271" y="3693662"/>
                </a:lnTo>
                <a:lnTo>
                  <a:pt x="0" y="3693662"/>
                </a:lnTo>
                <a:lnTo>
                  <a:pt x="0" y="0"/>
                </a:lnTo>
                <a:close/>
              </a:path>
            </a:pathLst>
          </a:custGeom>
          <a:blipFill>
            <a:blip r:embed="rId13">
              <a:extLst>
                <a:ext uri="{96DAC541-7B7A-43D3-8B79-37D633B846F1}">
                  <asvg:svgBlip xmlns:asvg="http://schemas.microsoft.com/office/drawing/2016/SVG/main" r:embed="rId14"/>
                </a:ext>
              </a:extLst>
            </a:blip>
            <a:stretch>
              <a:fillRect l="-37" t="0" r="-37" b="0"/>
            </a:stretch>
          </a:blipFill>
        </p:spPr>
      </p:sp>
      <p:sp>
        <p:nvSpPr>
          <p:cNvPr name="Freeform 14" id="14"/>
          <p:cNvSpPr/>
          <p:nvPr/>
        </p:nvSpPr>
        <p:spPr>
          <a:xfrm flipH="false" flipV="false" rot="0">
            <a:off x="10700880" y="966340"/>
            <a:ext cx="1070791" cy="1070791"/>
          </a:xfrm>
          <a:custGeom>
            <a:avLst/>
            <a:gdLst/>
            <a:ahLst/>
            <a:cxnLst/>
            <a:rect r="r" b="b" t="t" l="l"/>
            <a:pathLst>
              <a:path h="1070791" w="1070791">
                <a:moveTo>
                  <a:pt x="0" y="0"/>
                </a:moveTo>
                <a:lnTo>
                  <a:pt x="1070791" y="0"/>
                </a:lnTo>
                <a:lnTo>
                  <a:pt x="1070791" y="1070791"/>
                </a:lnTo>
                <a:lnTo>
                  <a:pt x="0" y="107079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5" id="15"/>
          <p:cNvSpPr/>
          <p:nvPr/>
        </p:nvSpPr>
        <p:spPr>
          <a:xfrm flipH="false" flipV="false" rot="0">
            <a:off x="10983811" y="1185610"/>
            <a:ext cx="504930" cy="565747"/>
          </a:xfrm>
          <a:custGeom>
            <a:avLst/>
            <a:gdLst/>
            <a:ahLst/>
            <a:cxnLst/>
            <a:rect r="r" b="b" t="t" l="l"/>
            <a:pathLst>
              <a:path h="565747" w="504930">
                <a:moveTo>
                  <a:pt x="0" y="0"/>
                </a:moveTo>
                <a:lnTo>
                  <a:pt x="504930" y="0"/>
                </a:lnTo>
                <a:lnTo>
                  <a:pt x="504930" y="565747"/>
                </a:lnTo>
                <a:lnTo>
                  <a:pt x="0" y="565747"/>
                </a:lnTo>
                <a:lnTo>
                  <a:pt x="0" y="0"/>
                </a:lnTo>
                <a:close/>
              </a:path>
            </a:pathLst>
          </a:custGeom>
          <a:blipFill>
            <a:blip r:embed="rId17">
              <a:extLst>
                <a:ext uri="{96DAC541-7B7A-43D3-8B79-37D633B846F1}">
                  <asvg:svgBlip xmlns:asvg="http://schemas.microsoft.com/office/drawing/2016/SVG/main" r:embed="rId18"/>
                </a:ext>
              </a:extLst>
            </a:blip>
            <a:stretch>
              <a:fillRect l="-420" t="0" r="-418" b="0"/>
            </a:stretch>
          </a:blipFill>
        </p:spPr>
      </p:sp>
      <p:sp>
        <p:nvSpPr>
          <p:cNvPr name="AutoShape 16" id="16"/>
          <p:cNvSpPr/>
          <p:nvPr/>
        </p:nvSpPr>
        <p:spPr>
          <a:xfrm rot="59760">
            <a:off x="11004366" y="2889609"/>
            <a:ext cx="1644225" cy="0"/>
          </a:xfrm>
          <a:prstGeom prst="line">
            <a:avLst/>
          </a:prstGeom>
          <a:ln cap="rnd" w="19050">
            <a:solidFill>
              <a:srgbClr val="FFFFFF"/>
            </a:solidFill>
            <a:prstDash val="solid"/>
            <a:headEnd type="none" len="sm" w="sm"/>
            <a:tailEnd type="none" len="sm" w="sm"/>
          </a:ln>
        </p:spPr>
      </p:sp>
      <p:sp>
        <p:nvSpPr>
          <p:cNvPr name="Freeform 17" id="17"/>
          <p:cNvSpPr/>
          <p:nvPr/>
        </p:nvSpPr>
        <p:spPr>
          <a:xfrm flipH="false" flipV="false" rot="0">
            <a:off x="14359290" y="933088"/>
            <a:ext cx="1070791" cy="1070791"/>
          </a:xfrm>
          <a:custGeom>
            <a:avLst/>
            <a:gdLst/>
            <a:ahLst/>
            <a:cxnLst/>
            <a:rect r="r" b="b" t="t" l="l"/>
            <a:pathLst>
              <a:path h="1070791" w="1070791">
                <a:moveTo>
                  <a:pt x="0" y="0"/>
                </a:moveTo>
                <a:lnTo>
                  <a:pt x="1070791" y="0"/>
                </a:lnTo>
                <a:lnTo>
                  <a:pt x="1070791" y="1070791"/>
                </a:lnTo>
                <a:lnTo>
                  <a:pt x="0" y="107079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AutoShape 18" id="18"/>
          <p:cNvSpPr/>
          <p:nvPr/>
        </p:nvSpPr>
        <p:spPr>
          <a:xfrm rot="27960">
            <a:off x="13999035" y="2408606"/>
            <a:ext cx="3511486" cy="0"/>
          </a:xfrm>
          <a:prstGeom prst="line">
            <a:avLst/>
          </a:prstGeom>
          <a:ln cap="rnd" w="19050">
            <a:solidFill>
              <a:srgbClr val="FFFFFF"/>
            </a:solidFill>
            <a:prstDash val="solid"/>
            <a:headEnd type="none" len="sm" w="sm"/>
            <a:tailEnd type="none" len="sm" w="sm"/>
          </a:ln>
        </p:spPr>
      </p:sp>
      <p:sp>
        <p:nvSpPr>
          <p:cNvPr name="Freeform 19" id="19"/>
          <p:cNvSpPr/>
          <p:nvPr/>
        </p:nvSpPr>
        <p:spPr>
          <a:xfrm flipH="false" flipV="false" rot="0">
            <a:off x="14707191" y="1209446"/>
            <a:ext cx="374990" cy="475240"/>
          </a:xfrm>
          <a:custGeom>
            <a:avLst/>
            <a:gdLst/>
            <a:ahLst/>
            <a:cxnLst/>
            <a:rect r="r" b="b" t="t" l="l"/>
            <a:pathLst>
              <a:path h="475240" w="374990">
                <a:moveTo>
                  <a:pt x="0" y="0"/>
                </a:moveTo>
                <a:lnTo>
                  <a:pt x="374989" y="0"/>
                </a:lnTo>
                <a:lnTo>
                  <a:pt x="374989" y="475241"/>
                </a:lnTo>
                <a:lnTo>
                  <a:pt x="0" y="475241"/>
                </a:lnTo>
                <a:lnTo>
                  <a:pt x="0" y="0"/>
                </a:lnTo>
                <a:close/>
              </a:path>
            </a:pathLst>
          </a:custGeom>
          <a:blipFill>
            <a:blip r:embed="rId19">
              <a:extLst>
                <a:ext uri="{96DAC541-7B7A-43D3-8B79-37D633B846F1}">
                  <asvg:svgBlip xmlns:asvg="http://schemas.microsoft.com/office/drawing/2016/SVG/main" r:embed="rId20"/>
                </a:ext>
              </a:extLst>
            </a:blip>
            <a:stretch>
              <a:fillRect l="-693" t="0" r="-693" b="0"/>
            </a:stretch>
          </a:blipFill>
        </p:spPr>
      </p:sp>
      <p:sp>
        <p:nvSpPr>
          <p:cNvPr name="Freeform 20" id="20"/>
          <p:cNvSpPr/>
          <p:nvPr/>
        </p:nvSpPr>
        <p:spPr>
          <a:xfrm flipH="false" flipV="false" rot="0">
            <a:off x="10641540" y="4574048"/>
            <a:ext cx="3234271" cy="3693662"/>
          </a:xfrm>
          <a:custGeom>
            <a:avLst/>
            <a:gdLst/>
            <a:ahLst/>
            <a:cxnLst/>
            <a:rect r="r" b="b" t="t" l="l"/>
            <a:pathLst>
              <a:path h="3693662" w="3234271">
                <a:moveTo>
                  <a:pt x="0" y="0"/>
                </a:moveTo>
                <a:lnTo>
                  <a:pt x="3234270" y="0"/>
                </a:lnTo>
                <a:lnTo>
                  <a:pt x="3234270" y="3693662"/>
                </a:lnTo>
                <a:lnTo>
                  <a:pt x="0" y="3693662"/>
                </a:lnTo>
                <a:lnTo>
                  <a:pt x="0" y="0"/>
                </a:lnTo>
                <a:close/>
              </a:path>
            </a:pathLst>
          </a:custGeom>
          <a:blipFill>
            <a:blip r:embed="rId13">
              <a:extLst>
                <a:ext uri="{96DAC541-7B7A-43D3-8B79-37D633B846F1}">
                  <asvg:svgBlip xmlns:asvg="http://schemas.microsoft.com/office/drawing/2016/SVG/main" r:embed="rId14"/>
                </a:ext>
              </a:extLst>
            </a:blip>
            <a:stretch>
              <a:fillRect l="-37" t="0" r="-37" b="0"/>
            </a:stretch>
          </a:blipFill>
        </p:spPr>
      </p:sp>
      <p:sp>
        <p:nvSpPr>
          <p:cNvPr name="Freeform 21" id="21"/>
          <p:cNvSpPr/>
          <p:nvPr/>
        </p:nvSpPr>
        <p:spPr>
          <a:xfrm flipH="false" flipV="false" rot="0">
            <a:off x="14139158" y="4574048"/>
            <a:ext cx="3234271" cy="3693662"/>
          </a:xfrm>
          <a:custGeom>
            <a:avLst/>
            <a:gdLst/>
            <a:ahLst/>
            <a:cxnLst/>
            <a:rect r="r" b="b" t="t" l="l"/>
            <a:pathLst>
              <a:path h="3693662" w="3234271">
                <a:moveTo>
                  <a:pt x="0" y="0"/>
                </a:moveTo>
                <a:lnTo>
                  <a:pt x="3234271" y="0"/>
                </a:lnTo>
                <a:lnTo>
                  <a:pt x="3234271" y="3693662"/>
                </a:lnTo>
                <a:lnTo>
                  <a:pt x="0" y="3693662"/>
                </a:lnTo>
                <a:lnTo>
                  <a:pt x="0" y="0"/>
                </a:lnTo>
                <a:close/>
              </a:path>
            </a:pathLst>
          </a:custGeom>
          <a:blipFill>
            <a:blip r:embed="rId11">
              <a:extLst>
                <a:ext uri="{96DAC541-7B7A-43D3-8B79-37D633B846F1}">
                  <asvg:svgBlip xmlns:asvg="http://schemas.microsoft.com/office/drawing/2016/SVG/main" r:embed="rId12"/>
                </a:ext>
              </a:extLst>
            </a:blip>
            <a:stretch>
              <a:fillRect l="-37" t="0" r="-37" b="0"/>
            </a:stretch>
          </a:blipFill>
        </p:spPr>
      </p:sp>
      <p:sp>
        <p:nvSpPr>
          <p:cNvPr name="Freeform 22" id="22"/>
          <p:cNvSpPr/>
          <p:nvPr/>
        </p:nvSpPr>
        <p:spPr>
          <a:xfrm flipH="false" flipV="false" rot="0">
            <a:off x="10778547" y="4754166"/>
            <a:ext cx="1070791" cy="1070791"/>
          </a:xfrm>
          <a:custGeom>
            <a:avLst/>
            <a:gdLst/>
            <a:ahLst/>
            <a:cxnLst/>
            <a:rect r="r" b="b" t="t" l="l"/>
            <a:pathLst>
              <a:path h="1070791" w="1070791">
                <a:moveTo>
                  <a:pt x="0" y="0"/>
                </a:moveTo>
                <a:lnTo>
                  <a:pt x="1070791" y="0"/>
                </a:lnTo>
                <a:lnTo>
                  <a:pt x="1070791" y="1070791"/>
                </a:lnTo>
                <a:lnTo>
                  <a:pt x="0" y="107079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AutoShape 23" id="23"/>
          <p:cNvSpPr/>
          <p:nvPr/>
        </p:nvSpPr>
        <p:spPr>
          <a:xfrm rot="-27000">
            <a:off x="10391594" y="6257125"/>
            <a:ext cx="3636131" cy="0"/>
          </a:xfrm>
          <a:prstGeom prst="line">
            <a:avLst/>
          </a:prstGeom>
          <a:ln cap="rnd" w="19050">
            <a:solidFill>
              <a:srgbClr val="FFFFFF"/>
            </a:solidFill>
            <a:prstDash val="solid"/>
            <a:headEnd type="none" len="sm" w="sm"/>
            <a:tailEnd type="none" len="sm" w="sm"/>
          </a:ln>
        </p:spPr>
      </p:sp>
      <p:sp>
        <p:nvSpPr>
          <p:cNvPr name="Freeform 24" id="24"/>
          <p:cNvSpPr/>
          <p:nvPr/>
        </p:nvSpPr>
        <p:spPr>
          <a:xfrm flipH="false" flipV="false" rot="0">
            <a:off x="14227397" y="4708379"/>
            <a:ext cx="1070791" cy="1070791"/>
          </a:xfrm>
          <a:custGeom>
            <a:avLst/>
            <a:gdLst/>
            <a:ahLst/>
            <a:cxnLst/>
            <a:rect r="r" b="b" t="t" l="l"/>
            <a:pathLst>
              <a:path h="1070791" w="1070791">
                <a:moveTo>
                  <a:pt x="0" y="0"/>
                </a:moveTo>
                <a:lnTo>
                  <a:pt x="1070791" y="0"/>
                </a:lnTo>
                <a:lnTo>
                  <a:pt x="1070791" y="1070791"/>
                </a:lnTo>
                <a:lnTo>
                  <a:pt x="0" y="107079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AutoShape 25" id="25"/>
          <p:cNvSpPr/>
          <p:nvPr/>
        </p:nvSpPr>
        <p:spPr>
          <a:xfrm rot="71880">
            <a:off x="14212957" y="6777447"/>
            <a:ext cx="1366876" cy="0"/>
          </a:xfrm>
          <a:prstGeom prst="line">
            <a:avLst/>
          </a:prstGeom>
          <a:ln cap="rnd" w="19050">
            <a:solidFill>
              <a:srgbClr val="FFFFFF"/>
            </a:solidFill>
            <a:prstDash val="solid"/>
            <a:headEnd type="none" len="sm" w="sm"/>
            <a:tailEnd type="none" len="sm" w="sm"/>
          </a:ln>
        </p:spPr>
      </p:sp>
      <p:sp>
        <p:nvSpPr>
          <p:cNvPr name="Freeform 26" id="26"/>
          <p:cNvSpPr/>
          <p:nvPr/>
        </p:nvSpPr>
        <p:spPr>
          <a:xfrm flipH="false" flipV="false" rot="0">
            <a:off x="11018777" y="5003263"/>
            <a:ext cx="576177" cy="572576"/>
          </a:xfrm>
          <a:custGeom>
            <a:avLst/>
            <a:gdLst/>
            <a:ahLst/>
            <a:cxnLst/>
            <a:rect r="r" b="b" t="t" l="l"/>
            <a:pathLst>
              <a:path h="572576" w="576177">
                <a:moveTo>
                  <a:pt x="0" y="0"/>
                </a:moveTo>
                <a:lnTo>
                  <a:pt x="576177" y="0"/>
                </a:lnTo>
                <a:lnTo>
                  <a:pt x="576177" y="572577"/>
                </a:lnTo>
                <a:lnTo>
                  <a:pt x="0" y="572577"/>
                </a:lnTo>
                <a:lnTo>
                  <a:pt x="0" y="0"/>
                </a:lnTo>
                <a:close/>
              </a:path>
            </a:pathLst>
          </a:custGeom>
          <a:blipFill>
            <a:blip r:embed="rId21">
              <a:extLst>
                <a:ext uri="{96DAC541-7B7A-43D3-8B79-37D633B846F1}">
                  <asvg:svgBlip xmlns:asvg="http://schemas.microsoft.com/office/drawing/2016/SVG/main" r:embed="rId22"/>
                </a:ext>
              </a:extLst>
            </a:blip>
            <a:stretch>
              <a:fillRect l="0" t="-314" r="0" b="-314"/>
            </a:stretch>
          </a:blipFill>
        </p:spPr>
      </p:sp>
      <p:sp>
        <p:nvSpPr>
          <p:cNvPr name="Freeform 27" id="27"/>
          <p:cNvSpPr/>
          <p:nvPr/>
        </p:nvSpPr>
        <p:spPr>
          <a:xfrm flipH="false" flipV="false" rot="0">
            <a:off x="14421317" y="4815173"/>
            <a:ext cx="682962" cy="771715"/>
          </a:xfrm>
          <a:custGeom>
            <a:avLst/>
            <a:gdLst/>
            <a:ahLst/>
            <a:cxnLst/>
            <a:rect r="r" b="b" t="t" l="l"/>
            <a:pathLst>
              <a:path h="771715" w="682962">
                <a:moveTo>
                  <a:pt x="0" y="0"/>
                </a:moveTo>
                <a:lnTo>
                  <a:pt x="682961" y="0"/>
                </a:lnTo>
                <a:lnTo>
                  <a:pt x="682961" y="771716"/>
                </a:lnTo>
                <a:lnTo>
                  <a:pt x="0" y="771716"/>
                </a:lnTo>
                <a:lnTo>
                  <a:pt x="0" y="0"/>
                </a:lnTo>
                <a:close/>
              </a:path>
            </a:pathLst>
          </a:custGeom>
          <a:blipFill>
            <a:blip r:embed="rId23">
              <a:extLst>
                <a:ext uri="{96DAC541-7B7A-43D3-8B79-37D633B846F1}">
                  <asvg:svgBlip xmlns:asvg="http://schemas.microsoft.com/office/drawing/2016/SVG/main" r:embed="rId24"/>
                </a:ext>
              </a:extLst>
            </a:blip>
            <a:stretch>
              <a:fillRect l="0" t="-396" r="0" b="-394"/>
            </a:stretch>
          </a:blipFill>
        </p:spPr>
      </p:sp>
      <p:sp>
        <p:nvSpPr>
          <p:cNvPr name="Freeform 28" id="28"/>
          <p:cNvSpPr/>
          <p:nvPr/>
        </p:nvSpPr>
        <p:spPr>
          <a:xfrm flipH="false" flipV="false" rot="0">
            <a:off x="10708386" y="8689848"/>
            <a:ext cx="798138" cy="685400"/>
          </a:xfrm>
          <a:custGeom>
            <a:avLst/>
            <a:gdLst/>
            <a:ahLst/>
            <a:cxnLst/>
            <a:rect r="r" b="b" t="t" l="l"/>
            <a:pathLst>
              <a:path h="685400" w="798138">
                <a:moveTo>
                  <a:pt x="0" y="0"/>
                </a:moveTo>
                <a:lnTo>
                  <a:pt x="798138" y="0"/>
                </a:lnTo>
                <a:lnTo>
                  <a:pt x="798138" y="685400"/>
                </a:lnTo>
                <a:lnTo>
                  <a:pt x="0" y="685400"/>
                </a:lnTo>
                <a:lnTo>
                  <a:pt x="0" y="0"/>
                </a:lnTo>
                <a:close/>
              </a:path>
            </a:pathLst>
          </a:custGeom>
          <a:blipFill>
            <a:blip r:embed="rId25">
              <a:extLst>
                <a:ext uri="{96DAC541-7B7A-43D3-8B79-37D633B846F1}">
                  <asvg:svgBlip xmlns:asvg="http://schemas.microsoft.com/office/drawing/2016/SVG/main" r:embed="rId26"/>
                </a:ext>
              </a:extLst>
            </a:blip>
            <a:stretch>
              <a:fillRect l="-93" t="0" r="-94" b="0"/>
            </a:stretch>
          </a:blipFill>
        </p:spPr>
      </p:sp>
      <p:sp>
        <p:nvSpPr>
          <p:cNvPr name="TextBox 29" id="29"/>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04</a:t>
            </a:r>
          </a:p>
        </p:txBody>
      </p:sp>
      <p:sp>
        <p:nvSpPr>
          <p:cNvPr name="TextBox 30" id="30"/>
          <p:cNvSpPr txBox="true"/>
          <p:nvPr/>
        </p:nvSpPr>
        <p:spPr>
          <a:xfrm rot="0">
            <a:off x="1457039" y="286493"/>
            <a:ext cx="3663591" cy="361950"/>
          </a:xfrm>
          <a:prstGeom prst="rect">
            <a:avLst/>
          </a:prstGeom>
        </p:spPr>
        <p:txBody>
          <a:bodyPr anchor="t" rtlCol="false" tIns="0" lIns="0" bIns="0" rIns="0">
            <a:spAutoFit/>
          </a:bodyPr>
          <a:lstStyle/>
          <a:p>
            <a:pPr algn="l">
              <a:lnSpc>
                <a:spcPts val="2878"/>
              </a:lnSpc>
            </a:pPr>
            <a:r>
              <a:rPr lang="en-US" sz="2399" b="true">
                <a:solidFill>
                  <a:srgbClr val="FF6B00"/>
                </a:solidFill>
                <a:latin typeface="Inter Bold"/>
                <a:ea typeface="Inter Bold"/>
                <a:cs typeface="Inter Bold"/>
                <a:sym typeface="Inter Bold"/>
              </a:rPr>
              <a:t>04 — L'ARCHITECTURE</a:t>
            </a:r>
          </a:p>
        </p:txBody>
      </p:sp>
      <p:sp>
        <p:nvSpPr>
          <p:cNvPr name="TextBox 31" id="31"/>
          <p:cNvSpPr txBox="true"/>
          <p:nvPr/>
        </p:nvSpPr>
        <p:spPr>
          <a:xfrm rot="0">
            <a:off x="88144" y="4708379"/>
            <a:ext cx="5610835" cy="2095500"/>
          </a:xfrm>
          <a:prstGeom prst="rect">
            <a:avLst/>
          </a:prstGeom>
        </p:spPr>
        <p:txBody>
          <a:bodyPr anchor="t" rtlCol="false" tIns="0" lIns="0" bIns="0" rIns="0">
            <a:spAutoFit/>
          </a:bodyPr>
          <a:lstStyle/>
          <a:p>
            <a:pPr algn="l">
              <a:lnSpc>
                <a:spcPts val="3358"/>
              </a:lnSpc>
            </a:pPr>
            <a:r>
              <a:rPr lang="en-US" sz="2799">
                <a:solidFill>
                  <a:srgbClr val="4B5563"/>
                </a:solidFill>
                <a:latin typeface="Inter"/>
                <a:ea typeface="Inter"/>
                <a:cs typeface="Inter"/>
                <a:sym typeface="Inter"/>
              </a:rPr>
              <a:t>Le moteur repose sur une stack moderne combinant extraction documentaire, NLP et validation stricte des données, prête à monter en charge.</a:t>
            </a:r>
          </a:p>
        </p:txBody>
      </p:sp>
      <p:sp>
        <p:nvSpPr>
          <p:cNvPr name="TextBox 32" id="32"/>
          <p:cNvSpPr txBox="true"/>
          <p:nvPr/>
        </p:nvSpPr>
        <p:spPr>
          <a:xfrm rot="0">
            <a:off x="232381" y="9159811"/>
            <a:ext cx="4665135" cy="1067676"/>
          </a:xfrm>
          <a:prstGeom prst="rect">
            <a:avLst/>
          </a:prstGeom>
        </p:spPr>
        <p:txBody>
          <a:bodyPr anchor="t" rtlCol="false" tIns="0" lIns="0" bIns="0" rIns="0">
            <a:spAutoFit/>
          </a:bodyPr>
          <a:lstStyle/>
          <a:p>
            <a:pPr algn="l">
              <a:lnSpc>
                <a:spcPts val="2338"/>
              </a:lnSpc>
            </a:pPr>
            <a:r>
              <a:rPr lang="en-US" sz="1947">
                <a:solidFill>
                  <a:srgbClr val="D7DEE8"/>
                </a:solidFill>
                <a:latin typeface="Inter"/>
                <a:ea typeface="Inter"/>
                <a:cs typeface="Inter"/>
                <a:sym typeface="Inter"/>
              </a:rPr>
              <a:t>Haute Performance &amp; Conformité Native</a:t>
            </a:r>
          </a:p>
        </p:txBody>
      </p:sp>
      <p:sp>
        <p:nvSpPr>
          <p:cNvPr name="TextBox 33" id="33"/>
          <p:cNvSpPr txBox="true"/>
          <p:nvPr/>
        </p:nvSpPr>
        <p:spPr>
          <a:xfrm rot="0">
            <a:off x="10838631" y="3040523"/>
            <a:ext cx="3037180" cy="13335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Support natif PDF (PyMuPDF) et DOCX (python-docx) avec préservation des blocs de texte.</a:t>
            </a:r>
          </a:p>
        </p:txBody>
      </p:sp>
      <p:sp>
        <p:nvSpPr>
          <p:cNvPr name="TextBox 34" id="34"/>
          <p:cNvSpPr txBox="true"/>
          <p:nvPr/>
        </p:nvSpPr>
        <p:spPr>
          <a:xfrm rot="0">
            <a:off x="10778547" y="2160956"/>
            <a:ext cx="2614651" cy="514350"/>
          </a:xfrm>
          <a:prstGeom prst="rect">
            <a:avLst/>
          </a:prstGeom>
        </p:spPr>
        <p:txBody>
          <a:bodyPr anchor="t" rtlCol="false" tIns="0" lIns="0" bIns="0" rIns="0">
            <a:spAutoFit/>
          </a:bodyPr>
          <a:lstStyle/>
          <a:p>
            <a:pPr algn="l">
              <a:lnSpc>
                <a:spcPts val="2039"/>
              </a:lnSpc>
            </a:pPr>
            <a:r>
              <a:rPr lang="en-US" sz="1698" b="true">
                <a:solidFill>
                  <a:srgbClr val="111827"/>
                </a:solidFill>
                <a:latin typeface="Inter Bold"/>
                <a:ea typeface="Inter Bold"/>
                <a:cs typeface="Inter Bold"/>
                <a:sym typeface="Inter Bold"/>
              </a:rPr>
              <a:t>EXTRACTION MULTI-FORMAT (SF-01)</a:t>
            </a:r>
          </a:p>
        </p:txBody>
      </p:sp>
      <p:sp>
        <p:nvSpPr>
          <p:cNvPr name="TextBox 35" id="35"/>
          <p:cNvSpPr txBox="true"/>
          <p:nvPr/>
        </p:nvSpPr>
        <p:spPr>
          <a:xfrm rot="0">
            <a:off x="14485410" y="2884256"/>
            <a:ext cx="2459765" cy="1066800"/>
          </a:xfrm>
          <a:prstGeom prst="rect">
            <a:avLst/>
          </a:prstGeom>
        </p:spPr>
        <p:txBody>
          <a:bodyPr anchor="t" rtlCol="false" tIns="0" lIns="0" bIns="0" rIns="0">
            <a:spAutoFit/>
          </a:bodyPr>
          <a:lstStyle/>
          <a:p>
            <a:pPr algn="l">
              <a:lnSpc>
                <a:spcPts val="2159"/>
              </a:lnSpc>
            </a:pPr>
            <a:r>
              <a:rPr lang="en-US" sz="1799">
                <a:solidFill>
                  <a:srgbClr val="D7DEE8"/>
                </a:solidFill>
                <a:latin typeface="Inter"/>
                <a:ea typeface="Inter"/>
                <a:cs typeface="Inter"/>
                <a:sym typeface="Inter"/>
              </a:rPr>
              <a:t>Validation stricte via Pydantic v2, conforme au schéma JSON officiel (Section 3.3).</a:t>
            </a:r>
          </a:p>
        </p:txBody>
      </p:sp>
      <p:sp>
        <p:nvSpPr>
          <p:cNvPr name="TextBox 36" id="36"/>
          <p:cNvSpPr txBox="true"/>
          <p:nvPr/>
        </p:nvSpPr>
        <p:spPr>
          <a:xfrm rot="0">
            <a:off x="14227397" y="2060648"/>
            <a:ext cx="2459765" cy="200616"/>
          </a:xfrm>
          <a:prstGeom prst="rect">
            <a:avLst/>
          </a:prstGeom>
        </p:spPr>
        <p:txBody>
          <a:bodyPr anchor="t" rtlCol="false" tIns="0" lIns="0" bIns="0" rIns="0">
            <a:spAutoFit/>
          </a:bodyPr>
          <a:lstStyle/>
          <a:p>
            <a:pPr algn="l">
              <a:lnSpc>
                <a:spcPts val="1558"/>
              </a:lnSpc>
            </a:pPr>
            <a:r>
              <a:rPr lang="en-US" sz="1299" b="true">
                <a:solidFill>
                  <a:srgbClr val="FFFFFF"/>
                </a:solidFill>
                <a:latin typeface="Inter Bold"/>
                <a:ea typeface="Inter Bold"/>
                <a:cs typeface="Inter Bold"/>
                <a:sym typeface="Inter Bold"/>
              </a:rPr>
              <a:t>SCHÉMA DE DONNÉES UNIFIÉ (SF-08)</a:t>
            </a:r>
          </a:p>
        </p:txBody>
      </p:sp>
      <p:sp>
        <p:nvSpPr>
          <p:cNvPr name="TextBox 37" id="37"/>
          <p:cNvSpPr txBox="true"/>
          <p:nvPr/>
        </p:nvSpPr>
        <p:spPr>
          <a:xfrm rot="0">
            <a:off x="10838631" y="6614312"/>
            <a:ext cx="2976086" cy="800100"/>
          </a:xfrm>
          <a:prstGeom prst="rect">
            <a:avLst/>
          </a:prstGeom>
        </p:spPr>
        <p:txBody>
          <a:bodyPr anchor="t" rtlCol="false" tIns="0" lIns="0" bIns="0" rIns="0">
            <a:spAutoFit/>
          </a:bodyPr>
          <a:lstStyle/>
          <a:p>
            <a:pPr algn="l">
              <a:lnSpc>
                <a:spcPts val="2159"/>
              </a:lnSpc>
            </a:pPr>
            <a:r>
              <a:rPr lang="en-US" sz="1799">
                <a:solidFill>
                  <a:srgbClr val="D7DEE8"/>
                </a:solidFill>
                <a:latin typeface="Inter"/>
                <a:ea typeface="Inter"/>
                <a:cs typeface="Inter"/>
                <a:sym typeface="Inter"/>
              </a:rPr>
              <a:t>spaCy fr_core_news_lg avec 94.2% de précision sur les entités en français.</a:t>
            </a:r>
          </a:p>
        </p:txBody>
      </p:sp>
      <p:sp>
        <p:nvSpPr>
          <p:cNvPr name="TextBox 38" id="38"/>
          <p:cNvSpPr txBox="true"/>
          <p:nvPr/>
        </p:nvSpPr>
        <p:spPr>
          <a:xfrm rot="0">
            <a:off x="10708386" y="5948782"/>
            <a:ext cx="2459765" cy="200616"/>
          </a:xfrm>
          <a:prstGeom prst="rect">
            <a:avLst/>
          </a:prstGeom>
        </p:spPr>
        <p:txBody>
          <a:bodyPr anchor="t" rtlCol="false" tIns="0" lIns="0" bIns="0" rIns="0">
            <a:spAutoFit/>
          </a:bodyPr>
          <a:lstStyle/>
          <a:p>
            <a:pPr algn="l">
              <a:lnSpc>
                <a:spcPts val="1558"/>
              </a:lnSpc>
            </a:pPr>
            <a:r>
              <a:rPr lang="en-US" sz="1299" b="true">
                <a:solidFill>
                  <a:srgbClr val="FFFFFF"/>
                </a:solidFill>
                <a:latin typeface="Inter Bold"/>
                <a:ea typeface="Inter Bold"/>
                <a:cs typeface="Inter Bold"/>
                <a:sym typeface="Inter Bold"/>
              </a:rPr>
              <a:t>NLP &amp; AUTOMATISATION (SF-05)</a:t>
            </a:r>
          </a:p>
        </p:txBody>
      </p:sp>
      <p:sp>
        <p:nvSpPr>
          <p:cNvPr name="TextBox 39" id="39"/>
          <p:cNvSpPr txBox="true"/>
          <p:nvPr/>
        </p:nvSpPr>
        <p:spPr>
          <a:xfrm rot="0">
            <a:off x="14359290" y="6803879"/>
            <a:ext cx="2459765" cy="13335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Traitement batch ZIP jusqu'à 500 CVs ; infrastructure Docker (PostgreSQL, Redis, MinIO).</a:t>
            </a:r>
          </a:p>
        </p:txBody>
      </p:sp>
      <p:sp>
        <p:nvSpPr>
          <p:cNvPr name="TextBox 40" id="40"/>
          <p:cNvSpPr txBox="true"/>
          <p:nvPr/>
        </p:nvSpPr>
        <p:spPr>
          <a:xfrm rot="0">
            <a:off x="14359290" y="5880887"/>
            <a:ext cx="2412225" cy="771525"/>
          </a:xfrm>
          <a:prstGeom prst="rect">
            <a:avLst/>
          </a:prstGeom>
        </p:spPr>
        <p:txBody>
          <a:bodyPr anchor="t" rtlCol="false" tIns="0" lIns="0" bIns="0" rIns="0">
            <a:spAutoFit/>
          </a:bodyPr>
          <a:lstStyle/>
          <a:p>
            <a:pPr algn="l">
              <a:lnSpc>
                <a:spcPts val="2040"/>
              </a:lnSpc>
            </a:pPr>
            <a:r>
              <a:rPr lang="en-US" sz="1700" b="true">
                <a:solidFill>
                  <a:srgbClr val="111827"/>
                </a:solidFill>
                <a:latin typeface="Inter Bold"/>
                <a:ea typeface="Inter Bold"/>
                <a:cs typeface="Inter Bold"/>
                <a:sym typeface="Inter Bold"/>
              </a:rPr>
              <a:t>CONÇU POUR MONTER EN CHARGE (SF-09)</a:t>
            </a:r>
          </a:p>
        </p:txBody>
      </p:sp>
      <p:sp>
        <p:nvSpPr>
          <p:cNvPr name="TextBox 41" id="41"/>
          <p:cNvSpPr txBox="true"/>
          <p:nvPr/>
        </p:nvSpPr>
        <p:spPr>
          <a:xfrm rot="0">
            <a:off x="11771671" y="8678799"/>
            <a:ext cx="5451053" cy="1000125"/>
          </a:xfrm>
          <a:prstGeom prst="rect">
            <a:avLst/>
          </a:prstGeom>
        </p:spPr>
        <p:txBody>
          <a:bodyPr anchor="t" rtlCol="false" tIns="0" lIns="0" bIns="0" rIns="0">
            <a:spAutoFit/>
          </a:bodyPr>
          <a:lstStyle/>
          <a:p>
            <a:pPr algn="l">
              <a:lnSpc>
                <a:spcPts val="2638"/>
              </a:lnSpc>
            </a:pPr>
            <a:r>
              <a:rPr lang="en-US" sz="2199" b="true">
                <a:solidFill>
                  <a:srgbClr val="111827"/>
                </a:solidFill>
                <a:latin typeface="Inter Bold"/>
                <a:ea typeface="Inter Bold"/>
                <a:cs typeface="Inter Bold"/>
                <a:sym typeface="Inter Bold"/>
              </a:rPr>
              <a:t>Automatiser le tri. Protéger les données. — La technologie est la plus utile quand elle protège autant qu'elle accélère.</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5890774"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6096229"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6301683"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TextBox 6" id="6"/>
          <p:cNvSpPr txBox="true"/>
          <p:nvPr/>
        </p:nvSpPr>
        <p:spPr>
          <a:xfrm rot="0">
            <a:off x="913047" y="1807493"/>
            <a:ext cx="5548379" cy="4073395"/>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8 ÉTAPES. 3 COUCHES.</a:t>
            </a:r>
          </a:p>
          <a:p>
            <a:pPr algn="l">
              <a:lnSpc>
                <a:spcPts val="3600"/>
              </a:lnSpc>
            </a:pPr>
            <a:r>
              <a:rPr lang="en-US" sz="3000" b="true">
                <a:solidFill>
                  <a:srgbClr val="FF6B00"/>
                </a:solidFill>
                <a:latin typeface="Inter Bold"/>
                <a:ea typeface="Inter Bold"/>
                <a:cs typeface="Inter Bold"/>
                <a:sym typeface="Inter Bold"/>
              </a:rPr>
              <a:t>UN SEUL PIPELINE.</a:t>
            </a:r>
          </a:p>
        </p:txBody>
      </p:sp>
      <p:sp>
        <p:nvSpPr>
          <p:cNvPr name="AutoShape 7" id="7"/>
          <p:cNvSpPr/>
          <p:nvPr/>
        </p:nvSpPr>
        <p:spPr>
          <a:xfrm>
            <a:off x="-536134" y="5079044"/>
            <a:ext cx="5128979" cy="0"/>
          </a:xfrm>
          <a:prstGeom prst="line">
            <a:avLst/>
          </a:prstGeom>
          <a:ln cap="rnd" w="47625">
            <a:solidFill>
              <a:srgbClr val="FF5300"/>
            </a:solidFill>
            <a:prstDash val="solid"/>
            <a:headEnd type="none" len="sm" w="sm"/>
            <a:tailEnd type="none" len="sm" w="sm"/>
          </a:ln>
        </p:spPr>
      </p:sp>
      <p:sp>
        <p:nvSpPr>
          <p:cNvPr name="Freeform 8" id="8"/>
          <p:cNvSpPr/>
          <p:nvPr/>
        </p:nvSpPr>
        <p:spPr>
          <a:xfrm flipH="false" flipV="false" rot="0">
            <a:off x="-724033" y="7909550"/>
            <a:ext cx="5844664" cy="3194599"/>
          </a:xfrm>
          <a:custGeom>
            <a:avLst/>
            <a:gdLst/>
            <a:ahLst/>
            <a:cxnLst/>
            <a:rect r="r" b="b" t="t" l="l"/>
            <a:pathLst>
              <a:path h="3194599" w="5844664">
                <a:moveTo>
                  <a:pt x="0" y="0"/>
                </a:moveTo>
                <a:lnTo>
                  <a:pt x="5844663" y="0"/>
                </a:lnTo>
                <a:lnTo>
                  <a:pt x="5844663" y="3194600"/>
                </a:lnTo>
                <a:lnTo>
                  <a:pt x="0" y="3194600"/>
                </a:lnTo>
                <a:lnTo>
                  <a:pt x="0" y="0"/>
                </a:lnTo>
                <a:close/>
              </a:path>
            </a:pathLst>
          </a:custGeom>
          <a:blipFill>
            <a:blip r:embed="rId6">
              <a:extLst>
                <a:ext uri="{96DAC541-7B7A-43D3-8B79-37D633B846F1}">
                  <asvg:svgBlip xmlns:asvg="http://schemas.microsoft.com/office/drawing/2016/SVG/main" r:embed="rId7"/>
                </a:ext>
              </a:extLst>
            </a:blip>
            <a:stretch>
              <a:fillRect l="0" t="-59" r="0" b="-59"/>
            </a:stretch>
          </a:blipFill>
        </p:spPr>
      </p:sp>
      <p:sp>
        <p:nvSpPr>
          <p:cNvPr name="Freeform 9" id="9"/>
          <p:cNvSpPr/>
          <p:nvPr/>
        </p:nvSpPr>
        <p:spPr>
          <a:xfrm flipH="false" flipV="false" rot="0">
            <a:off x="942975" y="8499700"/>
            <a:ext cx="744045" cy="744045"/>
          </a:xfrm>
          <a:custGeom>
            <a:avLst/>
            <a:gdLst/>
            <a:ahLst/>
            <a:cxnLst/>
            <a:rect r="r" b="b" t="t" l="l"/>
            <a:pathLst>
              <a:path h="744045" w="744045">
                <a:moveTo>
                  <a:pt x="0" y="0"/>
                </a:moveTo>
                <a:lnTo>
                  <a:pt x="744045" y="0"/>
                </a:lnTo>
                <a:lnTo>
                  <a:pt x="744045" y="744046"/>
                </a:lnTo>
                <a:lnTo>
                  <a:pt x="0" y="7440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443690" y="1464097"/>
            <a:ext cx="7549296" cy="7549296"/>
          </a:xfrm>
          <a:custGeom>
            <a:avLst/>
            <a:gdLst/>
            <a:ahLst/>
            <a:cxnLst/>
            <a:rect r="r" b="b" t="t" l="l"/>
            <a:pathLst>
              <a:path h="7549296" w="7549296">
                <a:moveTo>
                  <a:pt x="0" y="0"/>
                </a:moveTo>
                <a:lnTo>
                  <a:pt x="7549296" y="0"/>
                </a:lnTo>
                <a:lnTo>
                  <a:pt x="7549296" y="7549296"/>
                </a:lnTo>
                <a:lnTo>
                  <a:pt x="0" y="75492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5872439" y="1807493"/>
            <a:ext cx="6543104" cy="6543104"/>
            <a:chOff x="0" y="0"/>
            <a:chExt cx="8724138" cy="8724138"/>
          </a:xfrm>
        </p:grpSpPr>
        <p:sp>
          <p:nvSpPr>
            <p:cNvPr name="Freeform 12" id="12"/>
            <p:cNvSpPr/>
            <p:nvPr/>
          </p:nvSpPr>
          <p:spPr>
            <a:xfrm flipH="false" flipV="false" rot="0">
              <a:off x="0" y="0"/>
              <a:ext cx="8724138" cy="8724138"/>
            </a:xfrm>
            <a:custGeom>
              <a:avLst/>
              <a:gdLst/>
              <a:ahLst/>
              <a:cxnLst/>
              <a:rect r="r" b="b" t="t" l="l"/>
              <a:pathLst>
                <a:path h="8724138" w="8724138">
                  <a:moveTo>
                    <a:pt x="4362069" y="0"/>
                  </a:moveTo>
                  <a:cubicBezTo>
                    <a:pt x="1953006" y="0"/>
                    <a:pt x="0" y="1953006"/>
                    <a:pt x="0" y="4362069"/>
                  </a:cubicBezTo>
                  <a:cubicBezTo>
                    <a:pt x="0" y="6771132"/>
                    <a:pt x="1953006" y="8724138"/>
                    <a:pt x="4362069" y="8724138"/>
                  </a:cubicBezTo>
                  <a:cubicBezTo>
                    <a:pt x="6771132" y="8724138"/>
                    <a:pt x="8724138" y="6771132"/>
                    <a:pt x="8724138" y="4362069"/>
                  </a:cubicBezTo>
                  <a:cubicBezTo>
                    <a:pt x="8724138" y="1953006"/>
                    <a:pt x="6771132" y="0"/>
                    <a:pt x="4362069" y="0"/>
                  </a:cubicBezTo>
                  <a:close/>
                </a:path>
              </a:pathLst>
            </a:custGeom>
            <a:blipFill>
              <a:blip r:embed="rId12"/>
              <a:stretch>
                <a:fillRect l="0" t="0" r="0" b="0"/>
              </a:stretch>
            </a:blipFill>
          </p:spPr>
        </p:sp>
      </p:grpSp>
      <p:sp>
        <p:nvSpPr>
          <p:cNvPr name="TextBox 13" id="13"/>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05</a:t>
            </a:r>
          </a:p>
        </p:txBody>
      </p:sp>
      <p:sp>
        <p:nvSpPr>
          <p:cNvPr name="TextBox 14" id="14"/>
          <p:cNvSpPr txBox="true"/>
          <p:nvPr/>
        </p:nvSpPr>
        <p:spPr>
          <a:xfrm rot="0">
            <a:off x="1315002" y="147828"/>
            <a:ext cx="4944770" cy="361950"/>
          </a:xfrm>
          <a:prstGeom prst="rect">
            <a:avLst/>
          </a:prstGeom>
        </p:spPr>
        <p:txBody>
          <a:bodyPr anchor="t" rtlCol="false" tIns="0" lIns="0" bIns="0" rIns="0">
            <a:spAutoFit/>
          </a:bodyPr>
          <a:lstStyle/>
          <a:p>
            <a:pPr algn="l">
              <a:lnSpc>
                <a:spcPts val="2878"/>
              </a:lnSpc>
            </a:pPr>
            <a:r>
              <a:rPr lang="en-US" sz="2399" b="true">
                <a:solidFill>
                  <a:srgbClr val="FF6B00"/>
                </a:solidFill>
                <a:latin typeface="Inter Bold"/>
                <a:ea typeface="Inter Bold"/>
                <a:cs typeface="Inter Bold"/>
                <a:sym typeface="Inter Bold"/>
              </a:rPr>
              <a:t>05 — LE PIPELINE EN ACTION</a:t>
            </a:r>
          </a:p>
        </p:txBody>
      </p:sp>
      <p:sp>
        <p:nvSpPr>
          <p:cNvPr name="TextBox 15" id="15"/>
          <p:cNvSpPr txBox="true"/>
          <p:nvPr/>
        </p:nvSpPr>
        <p:spPr>
          <a:xfrm rot="0">
            <a:off x="47625" y="5964822"/>
            <a:ext cx="5613416" cy="1562100"/>
          </a:xfrm>
          <a:prstGeom prst="rect">
            <a:avLst/>
          </a:prstGeom>
        </p:spPr>
        <p:txBody>
          <a:bodyPr anchor="t" rtlCol="false" tIns="0" lIns="0" bIns="0" rIns="0">
            <a:spAutoFit/>
          </a:bodyPr>
          <a:lstStyle/>
          <a:p>
            <a:pPr algn="l">
              <a:lnSpc>
                <a:spcPts val="3119"/>
              </a:lnSpc>
            </a:pPr>
            <a:r>
              <a:rPr lang="en-US" sz="2598">
                <a:solidFill>
                  <a:srgbClr val="4B5563"/>
                </a:solidFill>
                <a:latin typeface="Inter"/>
                <a:ea typeface="Inter"/>
                <a:cs typeface="Inter"/>
                <a:sym typeface="Inter"/>
              </a:rPr>
              <a:t>Chaque CV traverse un pipeline séquentiel qui transforme un fichier brut en fiche candidat structurée, anonymisée et enrichie.</a:t>
            </a:r>
          </a:p>
        </p:txBody>
      </p:sp>
      <p:sp>
        <p:nvSpPr>
          <p:cNvPr name="TextBox 16" id="16"/>
          <p:cNvSpPr txBox="true"/>
          <p:nvPr/>
        </p:nvSpPr>
        <p:spPr>
          <a:xfrm rot="0">
            <a:off x="1914344" y="8488651"/>
            <a:ext cx="3112560" cy="699640"/>
          </a:xfrm>
          <a:prstGeom prst="rect">
            <a:avLst/>
          </a:prstGeom>
        </p:spPr>
        <p:txBody>
          <a:bodyPr anchor="t" rtlCol="false" tIns="0" lIns="0" bIns="0" rIns="0">
            <a:spAutoFit/>
          </a:bodyPr>
          <a:lstStyle/>
          <a:p>
            <a:pPr algn="l">
              <a:lnSpc>
                <a:spcPts val="1680"/>
              </a:lnSpc>
            </a:pPr>
            <a:r>
              <a:rPr lang="en-US" sz="1400" b="true">
                <a:solidFill>
                  <a:srgbClr val="111827"/>
                </a:solidFill>
                <a:latin typeface="Inter Bold"/>
                <a:ea typeface="Inter Bold"/>
                <a:cs typeface="Inter Bold"/>
                <a:sym typeface="Inter Bold"/>
              </a:rPr>
              <a:t>Un pipeline. Zéro fuite de données.</a:t>
            </a:r>
          </a:p>
        </p:txBody>
      </p:sp>
      <p:sp>
        <p:nvSpPr>
          <p:cNvPr name="Freeform 17" id="17"/>
          <p:cNvSpPr/>
          <p:nvPr/>
        </p:nvSpPr>
        <p:spPr>
          <a:xfrm flipH="false" flipV="false" rot="0">
            <a:off x="18103158" y="617230"/>
            <a:ext cx="1313383" cy="1313383"/>
          </a:xfrm>
          <a:custGeom>
            <a:avLst/>
            <a:gdLst/>
            <a:ahLst/>
            <a:cxnLst/>
            <a:rect r="r" b="b" t="t" l="l"/>
            <a:pathLst>
              <a:path h="1313383" w="1313383">
                <a:moveTo>
                  <a:pt x="0" y="0"/>
                </a:moveTo>
                <a:lnTo>
                  <a:pt x="1313383" y="0"/>
                </a:lnTo>
                <a:lnTo>
                  <a:pt x="1313383" y="1313383"/>
                </a:lnTo>
                <a:lnTo>
                  <a:pt x="0" y="131338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8" id="18"/>
          <p:cNvSpPr/>
          <p:nvPr/>
        </p:nvSpPr>
        <p:spPr>
          <a:xfrm flipH="false" flipV="false" rot="0">
            <a:off x="18428398" y="934831"/>
            <a:ext cx="662921" cy="678180"/>
          </a:xfrm>
          <a:custGeom>
            <a:avLst/>
            <a:gdLst/>
            <a:ahLst/>
            <a:cxnLst/>
            <a:rect r="r" b="b" t="t" l="l"/>
            <a:pathLst>
              <a:path h="678180" w="662921">
                <a:moveTo>
                  <a:pt x="0" y="0"/>
                </a:moveTo>
                <a:lnTo>
                  <a:pt x="662921" y="0"/>
                </a:lnTo>
                <a:lnTo>
                  <a:pt x="662921" y="678180"/>
                </a:lnTo>
                <a:lnTo>
                  <a:pt x="0" y="678180"/>
                </a:lnTo>
                <a:lnTo>
                  <a:pt x="0" y="0"/>
                </a:lnTo>
                <a:close/>
              </a:path>
            </a:pathLst>
          </a:custGeom>
          <a:blipFill>
            <a:blip r:embed="rId15">
              <a:extLst>
                <a:ext uri="{96DAC541-7B7A-43D3-8B79-37D633B846F1}">
                  <asvg:svgBlip xmlns:asvg="http://schemas.microsoft.com/office/drawing/2016/SVG/main" r:embed="rId16"/>
                </a:ext>
              </a:extLst>
            </a:blip>
            <a:stretch>
              <a:fillRect l="0" t="-271" r="0" b="-272"/>
            </a:stretch>
          </a:blipFill>
        </p:spPr>
      </p:sp>
      <p:sp>
        <p:nvSpPr>
          <p:cNvPr name="Freeform 19" id="19"/>
          <p:cNvSpPr/>
          <p:nvPr/>
        </p:nvSpPr>
        <p:spPr>
          <a:xfrm flipH="false" flipV="false" rot="0">
            <a:off x="18103158" y="2517048"/>
            <a:ext cx="1313383" cy="1313383"/>
          </a:xfrm>
          <a:custGeom>
            <a:avLst/>
            <a:gdLst/>
            <a:ahLst/>
            <a:cxnLst/>
            <a:rect r="r" b="b" t="t" l="l"/>
            <a:pathLst>
              <a:path h="1313383" w="1313383">
                <a:moveTo>
                  <a:pt x="0" y="0"/>
                </a:moveTo>
                <a:lnTo>
                  <a:pt x="1313383" y="0"/>
                </a:lnTo>
                <a:lnTo>
                  <a:pt x="1313383" y="1313383"/>
                </a:lnTo>
                <a:lnTo>
                  <a:pt x="0" y="131338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0" id="20"/>
          <p:cNvSpPr/>
          <p:nvPr/>
        </p:nvSpPr>
        <p:spPr>
          <a:xfrm flipH="false" flipV="false" rot="0">
            <a:off x="18103158" y="4430497"/>
            <a:ext cx="1313383" cy="1313383"/>
          </a:xfrm>
          <a:custGeom>
            <a:avLst/>
            <a:gdLst/>
            <a:ahLst/>
            <a:cxnLst/>
            <a:rect r="r" b="b" t="t" l="l"/>
            <a:pathLst>
              <a:path h="1313383" w="1313383">
                <a:moveTo>
                  <a:pt x="0" y="0"/>
                </a:moveTo>
                <a:lnTo>
                  <a:pt x="1313383" y="0"/>
                </a:lnTo>
                <a:lnTo>
                  <a:pt x="1313383" y="1313383"/>
                </a:lnTo>
                <a:lnTo>
                  <a:pt x="0" y="131338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18103158" y="6343964"/>
            <a:ext cx="1313383" cy="1313383"/>
          </a:xfrm>
          <a:custGeom>
            <a:avLst/>
            <a:gdLst/>
            <a:ahLst/>
            <a:cxnLst/>
            <a:rect r="r" b="b" t="t" l="l"/>
            <a:pathLst>
              <a:path h="1313383" w="1313383">
                <a:moveTo>
                  <a:pt x="0" y="0"/>
                </a:moveTo>
                <a:lnTo>
                  <a:pt x="1313383" y="0"/>
                </a:lnTo>
                <a:lnTo>
                  <a:pt x="1313383" y="1313384"/>
                </a:lnTo>
                <a:lnTo>
                  <a:pt x="0" y="13133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18103158" y="8238382"/>
            <a:ext cx="1313383" cy="1313383"/>
          </a:xfrm>
          <a:custGeom>
            <a:avLst/>
            <a:gdLst/>
            <a:ahLst/>
            <a:cxnLst/>
            <a:rect r="r" b="b" t="t" l="l"/>
            <a:pathLst>
              <a:path h="1313383" w="1313383">
                <a:moveTo>
                  <a:pt x="0" y="0"/>
                </a:moveTo>
                <a:lnTo>
                  <a:pt x="1313383" y="0"/>
                </a:lnTo>
                <a:lnTo>
                  <a:pt x="1313383" y="1313383"/>
                </a:lnTo>
                <a:lnTo>
                  <a:pt x="0" y="131338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AutoShape 23" id="23"/>
          <p:cNvSpPr/>
          <p:nvPr/>
        </p:nvSpPr>
        <p:spPr>
          <a:xfrm rot="7920">
            <a:off x="18093623" y="2214305"/>
            <a:ext cx="4124068" cy="0"/>
          </a:xfrm>
          <a:prstGeom prst="line">
            <a:avLst/>
          </a:prstGeom>
          <a:ln cap="rnd" w="9525">
            <a:solidFill>
              <a:srgbClr val="CBCBCB"/>
            </a:solidFill>
            <a:prstDash val="solid"/>
            <a:headEnd type="none" len="sm" w="sm"/>
            <a:tailEnd type="none" len="sm" w="sm"/>
          </a:ln>
        </p:spPr>
      </p:sp>
      <p:sp>
        <p:nvSpPr>
          <p:cNvPr name="AutoShape 24" id="24"/>
          <p:cNvSpPr/>
          <p:nvPr/>
        </p:nvSpPr>
        <p:spPr>
          <a:xfrm rot="7920">
            <a:off x="18093623" y="4130459"/>
            <a:ext cx="4124068" cy="0"/>
          </a:xfrm>
          <a:prstGeom prst="line">
            <a:avLst/>
          </a:prstGeom>
          <a:ln cap="rnd" w="9525">
            <a:solidFill>
              <a:srgbClr val="CBCBCB"/>
            </a:solidFill>
            <a:prstDash val="solid"/>
            <a:headEnd type="none" len="sm" w="sm"/>
            <a:tailEnd type="none" len="sm" w="sm"/>
          </a:ln>
        </p:spPr>
      </p:sp>
      <p:sp>
        <p:nvSpPr>
          <p:cNvPr name="AutoShape 25" id="25"/>
          <p:cNvSpPr/>
          <p:nvPr/>
        </p:nvSpPr>
        <p:spPr>
          <a:xfrm rot="7920">
            <a:off x="18093623" y="6043927"/>
            <a:ext cx="4124068" cy="0"/>
          </a:xfrm>
          <a:prstGeom prst="line">
            <a:avLst/>
          </a:prstGeom>
          <a:ln cap="rnd" w="9525">
            <a:solidFill>
              <a:srgbClr val="CBCBCB"/>
            </a:solidFill>
            <a:prstDash val="solid"/>
            <a:headEnd type="none" len="sm" w="sm"/>
            <a:tailEnd type="none" len="sm" w="sm"/>
          </a:ln>
        </p:spPr>
      </p:sp>
      <p:sp>
        <p:nvSpPr>
          <p:cNvPr name="AutoShape 26" id="26"/>
          <p:cNvSpPr/>
          <p:nvPr/>
        </p:nvSpPr>
        <p:spPr>
          <a:xfrm rot="7920">
            <a:off x="18198970" y="7938345"/>
            <a:ext cx="4124068" cy="0"/>
          </a:xfrm>
          <a:prstGeom prst="line">
            <a:avLst/>
          </a:prstGeom>
          <a:ln cap="rnd" w="9525">
            <a:solidFill>
              <a:srgbClr val="CBCBCB"/>
            </a:solidFill>
            <a:prstDash val="solid"/>
            <a:headEnd type="none" len="sm" w="sm"/>
            <a:tailEnd type="none" len="sm" w="sm"/>
          </a:ln>
        </p:spPr>
      </p:sp>
      <p:sp>
        <p:nvSpPr>
          <p:cNvPr name="Freeform 27" id="27"/>
          <p:cNvSpPr/>
          <p:nvPr/>
        </p:nvSpPr>
        <p:spPr>
          <a:xfrm flipH="false" flipV="false" rot="0">
            <a:off x="18540613" y="2904049"/>
            <a:ext cx="438483" cy="555717"/>
          </a:xfrm>
          <a:custGeom>
            <a:avLst/>
            <a:gdLst/>
            <a:ahLst/>
            <a:cxnLst/>
            <a:rect r="r" b="b" t="t" l="l"/>
            <a:pathLst>
              <a:path h="555717" w="438483">
                <a:moveTo>
                  <a:pt x="0" y="0"/>
                </a:moveTo>
                <a:lnTo>
                  <a:pt x="438483" y="0"/>
                </a:lnTo>
                <a:lnTo>
                  <a:pt x="438483" y="555717"/>
                </a:lnTo>
                <a:lnTo>
                  <a:pt x="0" y="555717"/>
                </a:lnTo>
                <a:lnTo>
                  <a:pt x="0" y="0"/>
                </a:lnTo>
                <a:close/>
              </a:path>
            </a:pathLst>
          </a:custGeom>
          <a:blipFill>
            <a:blip r:embed="rId17">
              <a:extLst>
                <a:ext uri="{96DAC541-7B7A-43D3-8B79-37D633B846F1}">
                  <asvg:svgBlip xmlns:asvg="http://schemas.microsoft.com/office/drawing/2016/SVG/main" r:embed="rId18"/>
                </a:ext>
              </a:extLst>
            </a:blip>
            <a:stretch>
              <a:fillRect l="-480" t="0" r="-480" b="0"/>
            </a:stretch>
          </a:blipFill>
        </p:spPr>
      </p:sp>
      <p:sp>
        <p:nvSpPr>
          <p:cNvPr name="Freeform 28" id="28"/>
          <p:cNvSpPr/>
          <p:nvPr/>
        </p:nvSpPr>
        <p:spPr>
          <a:xfrm flipH="false" flipV="false" rot="0">
            <a:off x="18439676" y="4758690"/>
            <a:ext cx="661159" cy="657025"/>
          </a:xfrm>
          <a:custGeom>
            <a:avLst/>
            <a:gdLst/>
            <a:ahLst/>
            <a:cxnLst/>
            <a:rect r="r" b="b" t="t" l="l"/>
            <a:pathLst>
              <a:path h="657025" w="661159">
                <a:moveTo>
                  <a:pt x="0" y="0"/>
                </a:moveTo>
                <a:lnTo>
                  <a:pt x="661159" y="0"/>
                </a:lnTo>
                <a:lnTo>
                  <a:pt x="661159" y="657025"/>
                </a:lnTo>
                <a:lnTo>
                  <a:pt x="0" y="657025"/>
                </a:lnTo>
                <a:lnTo>
                  <a:pt x="0" y="0"/>
                </a:lnTo>
                <a:close/>
              </a:path>
            </a:pathLst>
          </a:custGeom>
          <a:blipFill>
            <a:blip r:embed="rId19">
              <a:extLst>
                <a:ext uri="{96DAC541-7B7A-43D3-8B79-37D633B846F1}">
                  <asvg:svgBlip xmlns:asvg="http://schemas.microsoft.com/office/drawing/2016/SVG/main" r:embed="rId20"/>
                </a:ext>
              </a:extLst>
            </a:blip>
            <a:stretch>
              <a:fillRect l="-407" t="0" r="-407" b="0"/>
            </a:stretch>
          </a:blipFill>
        </p:spPr>
      </p:sp>
      <p:sp>
        <p:nvSpPr>
          <p:cNvPr name="Freeform 29" id="29"/>
          <p:cNvSpPr/>
          <p:nvPr/>
        </p:nvSpPr>
        <p:spPr>
          <a:xfrm flipH="false" flipV="false" rot="0">
            <a:off x="18488920" y="6686864"/>
            <a:ext cx="640490" cy="642099"/>
          </a:xfrm>
          <a:custGeom>
            <a:avLst/>
            <a:gdLst/>
            <a:ahLst/>
            <a:cxnLst/>
            <a:rect r="r" b="b" t="t" l="l"/>
            <a:pathLst>
              <a:path h="642099" w="640490">
                <a:moveTo>
                  <a:pt x="0" y="0"/>
                </a:moveTo>
                <a:lnTo>
                  <a:pt x="640490" y="0"/>
                </a:lnTo>
                <a:lnTo>
                  <a:pt x="640490" y="642100"/>
                </a:lnTo>
                <a:lnTo>
                  <a:pt x="0" y="642100"/>
                </a:lnTo>
                <a:lnTo>
                  <a:pt x="0" y="0"/>
                </a:lnTo>
                <a:close/>
              </a:path>
            </a:pathLst>
          </a:custGeom>
          <a:blipFill>
            <a:blip r:embed="rId21">
              <a:extLst>
                <a:ext uri="{96DAC541-7B7A-43D3-8B79-37D633B846F1}">
                  <asvg:svgBlip xmlns:asvg="http://schemas.microsoft.com/office/drawing/2016/SVG/main" r:embed="rId22"/>
                </a:ext>
              </a:extLst>
            </a:blip>
            <a:stretch>
              <a:fillRect l="-124" t="0" r="-126" b="0"/>
            </a:stretch>
          </a:blipFill>
        </p:spPr>
      </p:sp>
      <p:sp>
        <p:nvSpPr>
          <p:cNvPr name="Freeform 30" id="30"/>
          <p:cNvSpPr/>
          <p:nvPr/>
        </p:nvSpPr>
        <p:spPr>
          <a:xfrm flipH="false" flipV="false" rot="0">
            <a:off x="18389679" y="8662721"/>
            <a:ext cx="761152" cy="565156"/>
          </a:xfrm>
          <a:custGeom>
            <a:avLst/>
            <a:gdLst/>
            <a:ahLst/>
            <a:cxnLst/>
            <a:rect r="r" b="b" t="t" l="l"/>
            <a:pathLst>
              <a:path h="565156" w="761152">
                <a:moveTo>
                  <a:pt x="0" y="0"/>
                </a:moveTo>
                <a:lnTo>
                  <a:pt x="761153" y="0"/>
                </a:lnTo>
                <a:lnTo>
                  <a:pt x="761153" y="565156"/>
                </a:lnTo>
                <a:lnTo>
                  <a:pt x="0" y="565156"/>
                </a:lnTo>
                <a:lnTo>
                  <a:pt x="0" y="0"/>
                </a:lnTo>
                <a:close/>
              </a:path>
            </a:pathLst>
          </a:custGeom>
          <a:blipFill>
            <a:blip r:embed="rId23">
              <a:extLst>
                <a:ext uri="{96DAC541-7B7A-43D3-8B79-37D633B846F1}">
                  <asvg:svgBlip xmlns:asvg="http://schemas.microsoft.com/office/drawing/2016/SVG/main" r:embed="rId24"/>
                </a:ext>
              </a:extLst>
            </a:blip>
            <a:stretch>
              <a:fillRect l="0" t="-505" r="0" b="-503"/>
            </a:stretch>
          </a:blipFill>
        </p:spPr>
      </p:sp>
      <p:sp>
        <p:nvSpPr>
          <p:cNvPr name="TextBox 31" id="31"/>
          <p:cNvSpPr txBox="true"/>
          <p:nvPr/>
        </p:nvSpPr>
        <p:spPr>
          <a:xfrm rot="0">
            <a:off x="19736610" y="646243"/>
            <a:ext cx="2473071" cy="207521"/>
          </a:xfrm>
          <a:prstGeom prst="rect">
            <a:avLst/>
          </a:prstGeom>
        </p:spPr>
        <p:txBody>
          <a:bodyPr anchor="t" rtlCol="false" tIns="0" lIns="0" bIns="0" rIns="0">
            <a:spAutoFit/>
          </a:bodyPr>
          <a:lstStyle/>
          <a:p>
            <a:pPr algn="l">
              <a:lnSpc>
                <a:spcPts val="1558"/>
              </a:lnSpc>
            </a:pPr>
            <a:r>
              <a:rPr lang="en-US" sz="1299" b="true">
                <a:solidFill>
                  <a:srgbClr val="111827"/>
                </a:solidFill>
                <a:latin typeface="Inter Bold"/>
                <a:ea typeface="Inter Bold"/>
                <a:cs typeface="Inter Bold"/>
                <a:sym typeface="Inter Bold"/>
              </a:rPr>
              <a:t>INGÉRER</a:t>
            </a:r>
          </a:p>
        </p:txBody>
      </p:sp>
      <p:sp>
        <p:nvSpPr>
          <p:cNvPr name="TextBox 32" id="32"/>
          <p:cNvSpPr txBox="true"/>
          <p:nvPr/>
        </p:nvSpPr>
        <p:spPr>
          <a:xfrm rot="0">
            <a:off x="19447764" y="874081"/>
            <a:ext cx="2870502" cy="1000125"/>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Extraction du texte brut depuis le PDF ou le DOCX (Étape 1).</a:t>
            </a:r>
          </a:p>
        </p:txBody>
      </p:sp>
      <p:sp>
        <p:nvSpPr>
          <p:cNvPr name="TextBox 33" id="33"/>
          <p:cNvSpPr txBox="true"/>
          <p:nvPr/>
        </p:nvSpPr>
        <p:spPr>
          <a:xfrm rot="0">
            <a:off x="19736610" y="2541299"/>
            <a:ext cx="2473071" cy="207521"/>
          </a:xfrm>
          <a:prstGeom prst="rect">
            <a:avLst/>
          </a:prstGeom>
        </p:spPr>
        <p:txBody>
          <a:bodyPr anchor="t" rtlCol="false" tIns="0" lIns="0" bIns="0" rIns="0">
            <a:spAutoFit/>
          </a:bodyPr>
          <a:lstStyle/>
          <a:p>
            <a:pPr algn="l">
              <a:lnSpc>
                <a:spcPts val="1558"/>
              </a:lnSpc>
            </a:pPr>
            <a:r>
              <a:rPr lang="en-US" sz="1299" b="true">
                <a:solidFill>
                  <a:srgbClr val="111827"/>
                </a:solidFill>
                <a:latin typeface="Inter Bold"/>
                <a:ea typeface="Inter Bold"/>
                <a:cs typeface="Inter Bold"/>
                <a:sym typeface="Inter Bold"/>
              </a:rPr>
              <a:t>DÉTECTER</a:t>
            </a:r>
          </a:p>
        </p:txBody>
      </p:sp>
      <p:sp>
        <p:nvSpPr>
          <p:cNvPr name="TextBox 34" id="34"/>
          <p:cNvSpPr txBox="true"/>
          <p:nvPr/>
        </p:nvSpPr>
        <p:spPr>
          <a:xfrm rot="0">
            <a:off x="19447764" y="2671201"/>
            <a:ext cx="3308909" cy="1333500"/>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Identification automatique de la langue — français, anglais ou arabe (Étape 2).</a:t>
            </a:r>
          </a:p>
        </p:txBody>
      </p:sp>
      <p:sp>
        <p:nvSpPr>
          <p:cNvPr name="TextBox 35" id="35"/>
          <p:cNvSpPr txBox="true"/>
          <p:nvPr/>
        </p:nvSpPr>
        <p:spPr>
          <a:xfrm rot="0">
            <a:off x="19736610" y="4461901"/>
            <a:ext cx="2473071" cy="207521"/>
          </a:xfrm>
          <a:prstGeom prst="rect">
            <a:avLst/>
          </a:prstGeom>
        </p:spPr>
        <p:txBody>
          <a:bodyPr anchor="t" rtlCol="false" tIns="0" lIns="0" bIns="0" rIns="0">
            <a:spAutoFit/>
          </a:bodyPr>
          <a:lstStyle/>
          <a:p>
            <a:pPr algn="l">
              <a:lnSpc>
                <a:spcPts val="1558"/>
              </a:lnSpc>
            </a:pPr>
            <a:r>
              <a:rPr lang="en-US" sz="1299" b="true">
                <a:solidFill>
                  <a:srgbClr val="111827"/>
                </a:solidFill>
                <a:latin typeface="Inter Bold"/>
                <a:ea typeface="Inter Bold"/>
                <a:cs typeface="Inter Bold"/>
                <a:sym typeface="Inter Bold"/>
              </a:rPr>
              <a:t>MASQUER</a:t>
            </a:r>
          </a:p>
        </p:txBody>
      </p:sp>
      <p:sp>
        <p:nvSpPr>
          <p:cNvPr name="TextBox 36" id="36"/>
          <p:cNvSpPr txBox="true"/>
          <p:nvPr/>
        </p:nvSpPr>
        <p:spPr>
          <a:xfrm rot="0">
            <a:off x="19463109" y="4669422"/>
            <a:ext cx="3020073" cy="1333500"/>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Substitution des PII par des jetons neutres — [NOM_1], [EMAIL_1], [TEL_1] (Étapes 3-4).</a:t>
            </a:r>
          </a:p>
        </p:txBody>
      </p:sp>
      <p:sp>
        <p:nvSpPr>
          <p:cNvPr name="TextBox 37" id="37"/>
          <p:cNvSpPr txBox="true"/>
          <p:nvPr/>
        </p:nvSpPr>
        <p:spPr>
          <a:xfrm rot="0">
            <a:off x="19736610" y="6366034"/>
            <a:ext cx="2473071" cy="207521"/>
          </a:xfrm>
          <a:prstGeom prst="rect">
            <a:avLst/>
          </a:prstGeom>
        </p:spPr>
        <p:txBody>
          <a:bodyPr anchor="t" rtlCol="false" tIns="0" lIns="0" bIns="0" rIns="0">
            <a:spAutoFit/>
          </a:bodyPr>
          <a:lstStyle/>
          <a:p>
            <a:pPr algn="l">
              <a:lnSpc>
                <a:spcPts val="1558"/>
              </a:lnSpc>
            </a:pPr>
            <a:r>
              <a:rPr lang="en-US" sz="1299" b="true">
                <a:solidFill>
                  <a:srgbClr val="111827"/>
                </a:solidFill>
                <a:latin typeface="Inter Bold"/>
                <a:ea typeface="Inter Bold"/>
                <a:cs typeface="Inter Bold"/>
                <a:sym typeface="Inter Bold"/>
              </a:rPr>
              <a:t>EXTRAIRE</a:t>
            </a:r>
          </a:p>
        </p:txBody>
      </p:sp>
      <p:sp>
        <p:nvSpPr>
          <p:cNvPr name="TextBox 38" id="38"/>
          <p:cNvSpPr txBox="true"/>
          <p:nvPr/>
        </p:nvSpPr>
        <p:spPr>
          <a:xfrm rot="0">
            <a:off x="19416541" y="6573545"/>
            <a:ext cx="3286849" cy="1333500"/>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Reconnaissance des entités — postes, diplômes, entreprises — via spaCy NER (Étape 5).</a:t>
            </a:r>
          </a:p>
        </p:txBody>
      </p:sp>
      <p:sp>
        <p:nvSpPr>
          <p:cNvPr name="TextBox 39" id="39"/>
          <p:cNvSpPr txBox="true"/>
          <p:nvPr/>
        </p:nvSpPr>
        <p:spPr>
          <a:xfrm rot="0">
            <a:off x="19736610" y="8270148"/>
            <a:ext cx="2473071" cy="207521"/>
          </a:xfrm>
          <a:prstGeom prst="rect">
            <a:avLst/>
          </a:prstGeom>
        </p:spPr>
        <p:txBody>
          <a:bodyPr anchor="t" rtlCol="false" tIns="0" lIns="0" bIns="0" rIns="0">
            <a:spAutoFit/>
          </a:bodyPr>
          <a:lstStyle/>
          <a:p>
            <a:pPr algn="l">
              <a:lnSpc>
                <a:spcPts val="1558"/>
              </a:lnSpc>
            </a:pPr>
            <a:r>
              <a:rPr lang="en-US" sz="1299" b="true">
                <a:solidFill>
                  <a:srgbClr val="111827"/>
                </a:solidFill>
                <a:latin typeface="Inter Bold"/>
                <a:ea typeface="Inter Bold"/>
                <a:cs typeface="Inter Bold"/>
                <a:sym typeface="Inter Bold"/>
              </a:rPr>
              <a:t>ENRICHIR</a:t>
            </a:r>
          </a:p>
        </p:txBody>
      </p:sp>
      <p:sp>
        <p:nvSpPr>
          <p:cNvPr name="TextBox 40" id="40"/>
          <p:cNvSpPr txBox="true"/>
          <p:nvPr/>
        </p:nvSpPr>
        <p:spPr>
          <a:xfrm rot="0">
            <a:off x="19416541" y="8506254"/>
            <a:ext cx="3605851" cy="1666875"/>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Security gate + résumé de profil par LLM (Étape 6), puis validation Pydantic et sauvegarde PostgreSQL (Étapes 7-8).</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5890774"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6096229"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6301683"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TextBox 6" id="6"/>
          <p:cNvSpPr txBox="true"/>
          <p:nvPr/>
        </p:nvSpPr>
        <p:spPr>
          <a:xfrm rot="0">
            <a:off x="913047" y="1807493"/>
            <a:ext cx="5548379" cy="4073395"/>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8 ÉTAPES. 3 COUCHES.</a:t>
            </a:r>
          </a:p>
          <a:p>
            <a:pPr algn="l">
              <a:lnSpc>
                <a:spcPts val="3600"/>
              </a:lnSpc>
            </a:pPr>
            <a:r>
              <a:rPr lang="en-US" sz="3000" b="true">
                <a:solidFill>
                  <a:srgbClr val="FF6B00"/>
                </a:solidFill>
                <a:latin typeface="Inter Bold"/>
                <a:ea typeface="Inter Bold"/>
                <a:cs typeface="Inter Bold"/>
                <a:sym typeface="Inter Bold"/>
              </a:rPr>
              <a:t>UN SEUL PIPELINE.</a:t>
            </a:r>
          </a:p>
        </p:txBody>
      </p:sp>
      <p:sp>
        <p:nvSpPr>
          <p:cNvPr name="AutoShape 7" id="7"/>
          <p:cNvSpPr/>
          <p:nvPr/>
        </p:nvSpPr>
        <p:spPr>
          <a:xfrm>
            <a:off x="-536134" y="5143500"/>
            <a:ext cx="5656764" cy="0"/>
          </a:xfrm>
          <a:prstGeom prst="line">
            <a:avLst/>
          </a:prstGeom>
          <a:ln cap="rnd" w="47625">
            <a:solidFill>
              <a:srgbClr val="FF5300"/>
            </a:solidFill>
            <a:prstDash val="solid"/>
            <a:headEnd type="none" len="sm" w="sm"/>
            <a:tailEnd type="none" len="sm" w="sm"/>
          </a:ln>
        </p:spPr>
      </p:sp>
      <p:sp>
        <p:nvSpPr>
          <p:cNvPr name="Freeform 8" id="8"/>
          <p:cNvSpPr/>
          <p:nvPr/>
        </p:nvSpPr>
        <p:spPr>
          <a:xfrm flipH="false" flipV="false" rot="0">
            <a:off x="-724033" y="7909550"/>
            <a:ext cx="5844664" cy="3194599"/>
          </a:xfrm>
          <a:custGeom>
            <a:avLst/>
            <a:gdLst/>
            <a:ahLst/>
            <a:cxnLst/>
            <a:rect r="r" b="b" t="t" l="l"/>
            <a:pathLst>
              <a:path h="3194599" w="5844664">
                <a:moveTo>
                  <a:pt x="0" y="0"/>
                </a:moveTo>
                <a:lnTo>
                  <a:pt x="5844663" y="0"/>
                </a:lnTo>
                <a:lnTo>
                  <a:pt x="5844663" y="3194600"/>
                </a:lnTo>
                <a:lnTo>
                  <a:pt x="0" y="3194600"/>
                </a:lnTo>
                <a:lnTo>
                  <a:pt x="0" y="0"/>
                </a:lnTo>
                <a:close/>
              </a:path>
            </a:pathLst>
          </a:custGeom>
          <a:blipFill>
            <a:blip r:embed="rId6">
              <a:extLst>
                <a:ext uri="{96DAC541-7B7A-43D3-8B79-37D633B846F1}">
                  <asvg:svgBlip xmlns:asvg="http://schemas.microsoft.com/office/drawing/2016/SVG/main" r:embed="rId7"/>
                </a:ext>
              </a:extLst>
            </a:blip>
            <a:stretch>
              <a:fillRect l="0" t="-59" r="0" b="-59"/>
            </a:stretch>
          </a:blipFill>
        </p:spPr>
      </p:sp>
      <p:sp>
        <p:nvSpPr>
          <p:cNvPr name="Freeform 9" id="9"/>
          <p:cNvSpPr/>
          <p:nvPr/>
        </p:nvSpPr>
        <p:spPr>
          <a:xfrm flipH="false" flipV="false" rot="0">
            <a:off x="942975" y="8499700"/>
            <a:ext cx="744045" cy="744045"/>
          </a:xfrm>
          <a:custGeom>
            <a:avLst/>
            <a:gdLst/>
            <a:ahLst/>
            <a:cxnLst/>
            <a:rect r="r" b="b" t="t" l="l"/>
            <a:pathLst>
              <a:path h="744045" w="744045">
                <a:moveTo>
                  <a:pt x="0" y="0"/>
                </a:moveTo>
                <a:lnTo>
                  <a:pt x="744045" y="0"/>
                </a:lnTo>
                <a:lnTo>
                  <a:pt x="744045" y="744046"/>
                </a:lnTo>
                <a:lnTo>
                  <a:pt x="0" y="7440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661041" y="2099920"/>
            <a:ext cx="5616435" cy="5616435"/>
          </a:xfrm>
          <a:custGeom>
            <a:avLst/>
            <a:gdLst/>
            <a:ahLst/>
            <a:cxnLst/>
            <a:rect r="r" b="b" t="t" l="l"/>
            <a:pathLst>
              <a:path h="5616435" w="5616435">
                <a:moveTo>
                  <a:pt x="0" y="0"/>
                </a:moveTo>
                <a:lnTo>
                  <a:pt x="5616435" y="0"/>
                </a:lnTo>
                <a:lnTo>
                  <a:pt x="5616435" y="5616435"/>
                </a:lnTo>
                <a:lnTo>
                  <a:pt x="0" y="56164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5980024" y="2315794"/>
            <a:ext cx="4867856" cy="4867856"/>
            <a:chOff x="0" y="0"/>
            <a:chExt cx="6490475" cy="6490475"/>
          </a:xfrm>
        </p:grpSpPr>
        <p:sp>
          <p:nvSpPr>
            <p:cNvPr name="Freeform 12" id="12"/>
            <p:cNvSpPr/>
            <p:nvPr/>
          </p:nvSpPr>
          <p:spPr>
            <a:xfrm flipH="false" flipV="false" rot="0">
              <a:off x="0" y="0"/>
              <a:ext cx="6490462" cy="6490462"/>
            </a:xfrm>
            <a:custGeom>
              <a:avLst/>
              <a:gdLst/>
              <a:ahLst/>
              <a:cxnLst/>
              <a:rect r="r" b="b" t="t" l="l"/>
              <a:pathLst>
                <a:path h="6490462" w="6490462">
                  <a:moveTo>
                    <a:pt x="3245231" y="0"/>
                  </a:moveTo>
                  <a:cubicBezTo>
                    <a:pt x="1453007" y="0"/>
                    <a:pt x="0" y="1453007"/>
                    <a:pt x="0" y="3245231"/>
                  </a:cubicBezTo>
                  <a:cubicBezTo>
                    <a:pt x="0" y="5037455"/>
                    <a:pt x="1453007" y="6490462"/>
                    <a:pt x="3245231" y="6490462"/>
                  </a:cubicBezTo>
                  <a:cubicBezTo>
                    <a:pt x="5037455" y="6490462"/>
                    <a:pt x="6490462" y="5037455"/>
                    <a:pt x="6490462" y="3245231"/>
                  </a:cubicBezTo>
                  <a:cubicBezTo>
                    <a:pt x="6490462" y="1453007"/>
                    <a:pt x="5037455" y="0"/>
                    <a:pt x="3245231" y="0"/>
                  </a:cubicBezTo>
                  <a:close/>
                </a:path>
              </a:pathLst>
            </a:custGeom>
            <a:blipFill>
              <a:blip r:embed="rId12"/>
              <a:stretch>
                <a:fillRect l="0" t="0" r="0" b="0"/>
              </a:stretch>
            </a:blipFill>
          </p:spPr>
        </p:sp>
      </p:grpSp>
      <p:sp>
        <p:nvSpPr>
          <p:cNvPr name="TextBox 13" id="13"/>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05</a:t>
            </a:r>
          </a:p>
        </p:txBody>
      </p:sp>
      <p:sp>
        <p:nvSpPr>
          <p:cNvPr name="TextBox 14" id="14"/>
          <p:cNvSpPr txBox="true"/>
          <p:nvPr/>
        </p:nvSpPr>
        <p:spPr>
          <a:xfrm rot="0">
            <a:off x="1315002" y="147828"/>
            <a:ext cx="4944770" cy="361950"/>
          </a:xfrm>
          <a:prstGeom prst="rect">
            <a:avLst/>
          </a:prstGeom>
        </p:spPr>
        <p:txBody>
          <a:bodyPr anchor="t" rtlCol="false" tIns="0" lIns="0" bIns="0" rIns="0">
            <a:spAutoFit/>
          </a:bodyPr>
          <a:lstStyle/>
          <a:p>
            <a:pPr algn="l">
              <a:lnSpc>
                <a:spcPts val="2878"/>
              </a:lnSpc>
            </a:pPr>
            <a:r>
              <a:rPr lang="en-US" sz="2399" b="true">
                <a:solidFill>
                  <a:srgbClr val="FF6B00"/>
                </a:solidFill>
                <a:latin typeface="Inter Bold"/>
                <a:ea typeface="Inter Bold"/>
                <a:cs typeface="Inter Bold"/>
                <a:sym typeface="Inter Bold"/>
              </a:rPr>
              <a:t>05 — LE PIPELINE EN ACTION</a:t>
            </a:r>
          </a:p>
        </p:txBody>
      </p:sp>
      <p:sp>
        <p:nvSpPr>
          <p:cNvPr name="TextBox 15" id="15"/>
          <p:cNvSpPr txBox="true"/>
          <p:nvPr/>
        </p:nvSpPr>
        <p:spPr>
          <a:xfrm rot="0">
            <a:off x="47625" y="5964822"/>
            <a:ext cx="5613416" cy="1562100"/>
          </a:xfrm>
          <a:prstGeom prst="rect">
            <a:avLst/>
          </a:prstGeom>
        </p:spPr>
        <p:txBody>
          <a:bodyPr anchor="t" rtlCol="false" tIns="0" lIns="0" bIns="0" rIns="0">
            <a:spAutoFit/>
          </a:bodyPr>
          <a:lstStyle/>
          <a:p>
            <a:pPr algn="l">
              <a:lnSpc>
                <a:spcPts val="3119"/>
              </a:lnSpc>
            </a:pPr>
            <a:r>
              <a:rPr lang="en-US" sz="2598">
                <a:solidFill>
                  <a:srgbClr val="4B5563"/>
                </a:solidFill>
                <a:latin typeface="Inter"/>
                <a:ea typeface="Inter"/>
                <a:cs typeface="Inter"/>
                <a:sym typeface="Inter"/>
              </a:rPr>
              <a:t>Chaque CV traverse un pipeline séquentiel qui transforme un fichier brut en fiche candidat structurée, anonymisée et enrichie.</a:t>
            </a:r>
          </a:p>
        </p:txBody>
      </p:sp>
      <p:sp>
        <p:nvSpPr>
          <p:cNvPr name="TextBox 16" id="16"/>
          <p:cNvSpPr txBox="true"/>
          <p:nvPr/>
        </p:nvSpPr>
        <p:spPr>
          <a:xfrm rot="0">
            <a:off x="1914344" y="8488651"/>
            <a:ext cx="3112560" cy="699640"/>
          </a:xfrm>
          <a:prstGeom prst="rect">
            <a:avLst/>
          </a:prstGeom>
        </p:spPr>
        <p:txBody>
          <a:bodyPr anchor="t" rtlCol="false" tIns="0" lIns="0" bIns="0" rIns="0">
            <a:spAutoFit/>
          </a:bodyPr>
          <a:lstStyle/>
          <a:p>
            <a:pPr algn="l">
              <a:lnSpc>
                <a:spcPts val="1680"/>
              </a:lnSpc>
            </a:pPr>
            <a:r>
              <a:rPr lang="en-US" sz="1400" b="true">
                <a:solidFill>
                  <a:srgbClr val="111827"/>
                </a:solidFill>
                <a:latin typeface="Inter Bold"/>
                <a:ea typeface="Inter Bold"/>
                <a:cs typeface="Inter Bold"/>
                <a:sym typeface="Inter Bold"/>
              </a:rPr>
              <a:t>Un pipeline. Zéro fuite de données.</a:t>
            </a:r>
          </a:p>
        </p:txBody>
      </p:sp>
      <p:sp>
        <p:nvSpPr>
          <p:cNvPr name="AutoShape 17" id="17"/>
          <p:cNvSpPr/>
          <p:nvPr/>
        </p:nvSpPr>
        <p:spPr>
          <a:xfrm rot="15360">
            <a:off x="12999377" y="3767280"/>
            <a:ext cx="4415266" cy="0"/>
          </a:xfrm>
          <a:prstGeom prst="line">
            <a:avLst/>
          </a:prstGeom>
          <a:ln cap="rnd" w="9525">
            <a:solidFill>
              <a:srgbClr val="CBCBCB"/>
            </a:solidFill>
            <a:prstDash val="solid"/>
            <a:headEnd type="none" len="sm" w="sm"/>
            <a:tailEnd type="none" len="sm" w="sm"/>
          </a:ln>
        </p:spPr>
      </p:sp>
      <p:sp>
        <p:nvSpPr>
          <p:cNvPr name="Freeform 18" id="18"/>
          <p:cNvSpPr/>
          <p:nvPr/>
        </p:nvSpPr>
        <p:spPr>
          <a:xfrm flipH="false" flipV="false" rot="0">
            <a:off x="7912703" y="179251"/>
            <a:ext cx="1406328" cy="1406328"/>
          </a:xfrm>
          <a:custGeom>
            <a:avLst/>
            <a:gdLst/>
            <a:ahLst/>
            <a:cxnLst/>
            <a:rect r="r" b="b" t="t" l="l"/>
            <a:pathLst>
              <a:path h="1406328" w="1406328">
                <a:moveTo>
                  <a:pt x="0" y="0"/>
                </a:moveTo>
                <a:lnTo>
                  <a:pt x="1406328" y="0"/>
                </a:lnTo>
                <a:lnTo>
                  <a:pt x="1406328" y="1406328"/>
                </a:lnTo>
                <a:lnTo>
                  <a:pt x="0" y="14063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9" id="19"/>
          <p:cNvSpPr/>
          <p:nvPr/>
        </p:nvSpPr>
        <p:spPr>
          <a:xfrm flipH="false" flipV="false" rot="0">
            <a:off x="8260966" y="519322"/>
            <a:ext cx="709832" cy="726176"/>
          </a:xfrm>
          <a:custGeom>
            <a:avLst/>
            <a:gdLst/>
            <a:ahLst/>
            <a:cxnLst/>
            <a:rect r="r" b="b" t="t" l="l"/>
            <a:pathLst>
              <a:path h="726176" w="709832">
                <a:moveTo>
                  <a:pt x="0" y="0"/>
                </a:moveTo>
                <a:lnTo>
                  <a:pt x="709831" y="0"/>
                </a:lnTo>
                <a:lnTo>
                  <a:pt x="709831" y="726177"/>
                </a:lnTo>
                <a:lnTo>
                  <a:pt x="0" y="726177"/>
                </a:lnTo>
                <a:lnTo>
                  <a:pt x="0" y="0"/>
                </a:lnTo>
                <a:close/>
              </a:path>
            </a:pathLst>
          </a:custGeom>
          <a:blipFill>
            <a:blip r:embed="rId15">
              <a:extLst>
                <a:ext uri="{96DAC541-7B7A-43D3-8B79-37D633B846F1}">
                  <asvg:svgBlip xmlns:asvg="http://schemas.microsoft.com/office/drawing/2016/SVG/main" r:embed="rId16"/>
                </a:ext>
              </a:extLst>
            </a:blip>
            <a:stretch>
              <a:fillRect l="0" t="-178" r="0" b="-178"/>
            </a:stretch>
          </a:blipFill>
        </p:spPr>
      </p:sp>
      <p:sp>
        <p:nvSpPr>
          <p:cNvPr name="AutoShape 20" id="20"/>
          <p:cNvSpPr/>
          <p:nvPr/>
        </p:nvSpPr>
        <p:spPr>
          <a:xfrm rot="15360">
            <a:off x="7902826" y="1894780"/>
            <a:ext cx="4415266" cy="0"/>
          </a:xfrm>
          <a:prstGeom prst="line">
            <a:avLst/>
          </a:prstGeom>
          <a:ln cap="rnd" w="9525">
            <a:solidFill>
              <a:srgbClr val="CBCBCB"/>
            </a:solidFill>
            <a:prstDash val="solid"/>
            <a:headEnd type="none" len="sm" w="sm"/>
            <a:tailEnd type="none" len="sm" w="sm"/>
          </a:ln>
        </p:spPr>
      </p:sp>
      <p:sp>
        <p:nvSpPr>
          <p:cNvPr name="TextBox 21" id="21"/>
          <p:cNvSpPr txBox="true"/>
          <p:nvPr/>
        </p:nvSpPr>
        <p:spPr>
          <a:xfrm rot="0">
            <a:off x="9661750" y="191262"/>
            <a:ext cx="2648083" cy="228619"/>
          </a:xfrm>
          <a:prstGeom prst="rect">
            <a:avLst/>
          </a:prstGeom>
        </p:spPr>
        <p:txBody>
          <a:bodyPr anchor="t" rtlCol="false" tIns="0" lIns="0" bIns="0" rIns="0">
            <a:spAutoFit/>
          </a:bodyPr>
          <a:lstStyle/>
          <a:p>
            <a:pPr algn="l">
              <a:lnSpc>
                <a:spcPts val="1670"/>
              </a:lnSpc>
            </a:pPr>
            <a:r>
              <a:rPr lang="en-US" sz="1391">
                <a:solidFill>
                  <a:srgbClr val="5CE1E6"/>
                </a:solidFill>
                <a:latin typeface="Arimo"/>
                <a:ea typeface="Arimo"/>
                <a:cs typeface="Arimo"/>
                <a:sym typeface="Arimo"/>
              </a:rPr>
              <a:t>INGÉRER</a:t>
            </a:r>
          </a:p>
        </p:txBody>
      </p:sp>
      <p:sp>
        <p:nvSpPr>
          <p:cNvPr name="TextBox 22" id="22"/>
          <p:cNvSpPr txBox="true"/>
          <p:nvPr/>
        </p:nvSpPr>
        <p:spPr>
          <a:xfrm rot="0">
            <a:off x="9352474" y="435226"/>
            <a:ext cx="3073641" cy="1089946"/>
          </a:xfrm>
          <a:prstGeom prst="rect">
            <a:avLst/>
          </a:prstGeom>
        </p:spPr>
        <p:txBody>
          <a:bodyPr anchor="t" rtlCol="false" tIns="0" lIns="0" bIns="0" rIns="0">
            <a:spAutoFit/>
          </a:bodyPr>
          <a:lstStyle/>
          <a:p>
            <a:pPr algn="l">
              <a:lnSpc>
                <a:spcPts val="2825"/>
              </a:lnSpc>
            </a:pPr>
            <a:r>
              <a:rPr lang="en-US" sz="2354">
                <a:solidFill>
                  <a:srgbClr val="4B5563"/>
                </a:solidFill>
                <a:latin typeface="Inter"/>
                <a:ea typeface="Inter"/>
                <a:cs typeface="Inter"/>
                <a:sym typeface="Inter"/>
              </a:rPr>
              <a:t>Extraction du texte brut depuis le PDF ou le DOCX (Étape 1).</a:t>
            </a:r>
          </a:p>
        </p:txBody>
      </p:sp>
      <p:sp>
        <p:nvSpPr>
          <p:cNvPr name="Freeform 23" id="23"/>
          <p:cNvSpPr/>
          <p:nvPr/>
        </p:nvSpPr>
        <p:spPr>
          <a:xfrm flipH="false" flipV="false" rot="0">
            <a:off x="10839621" y="1909420"/>
            <a:ext cx="1406328" cy="1406328"/>
          </a:xfrm>
          <a:custGeom>
            <a:avLst/>
            <a:gdLst/>
            <a:ahLst/>
            <a:cxnLst/>
            <a:rect r="r" b="b" t="t" l="l"/>
            <a:pathLst>
              <a:path h="1406328" w="1406328">
                <a:moveTo>
                  <a:pt x="0" y="0"/>
                </a:moveTo>
                <a:lnTo>
                  <a:pt x="1406329" y="0"/>
                </a:lnTo>
                <a:lnTo>
                  <a:pt x="1406329" y="1406328"/>
                </a:lnTo>
                <a:lnTo>
                  <a:pt x="0" y="14063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0">
            <a:off x="11308032" y="2323814"/>
            <a:ext cx="469516" cy="595046"/>
          </a:xfrm>
          <a:custGeom>
            <a:avLst/>
            <a:gdLst/>
            <a:ahLst/>
            <a:cxnLst/>
            <a:rect r="r" b="b" t="t" l="l"/>
            <a:pathLst>
              <a:path h="595046" w="469516">
                <a:moveTo>
                  <a:pt x="0" y="0"/>
                </a:moveTo>
                <a:lnTo>
                  <a:pt x="469516" y="0"/>
                </a:lnTo>
                <a:lnTo>
                  <a:pt x="469516" y="595046"/>
                </a:lnTo>
                <a:lnTo>
                  <a:pt x="0" y="595046"/>
                </a:lnTo>
                <a:lnTo>
                  <a:pt x="0" y="0"/>
                </a:lnTo>
                <a:close/>
              </a:path>
            </a:pathLst>
          </a:custGeom>
          <a:blipFill>
            <a:blip r:embed="rId17">
              <a:extLst>
                <a:ext uri="{96DAC541-7B7A-43D3-8B79-37D633B846F1}">
                  <asvg:svgBlip xmlns:asvg="http://schemas.microsoft.com/office/drawing/2016/SVG/main" r:embed="rId18"/>
                </a:ext>
              </a:extLst>
            </a:blip>
            <a:stretch>
              <a:fillRect l="-292" t="0" r="-292" b="0"/>
            </a:stretch>
          </a:blipFill>
        </p:spPr>
      </p:sp>
      <p:sp>
        <p:nvSpPr>
          <p:cNvPr name="TextBox 25" id="25"/>
          <p:cNvSpPr txBox="true"/>
          <p:nvPr/>
        </p:nvSpPr>
        <p:spPr>
          <a:xfrm rot="0">
            <a:off x="12588669" y="1916344"/>
            <a:ext cx="2648083" cy="228619"/>
          </a:xfrm>
          <a:prstGeom prst="rect">
            <a:avLst/>
          </a:prstGeom>
        </p:spPr>
        <p:txBody>
          <a:bodyPr anchor="t" rtlCol="false" tIns="0" lIns="0" bIns="0" rIns="0">
            <a:spAutoFit/>
          </a:bodyPr>
          <a:lstStyle/>
          <a:p>
            <a:pPr algn="l">
              <a:lnSpc>
                <a:spcPts val="1670"/>
              </a:lnSpc>
            </a:pPr>
            <a:r>
              <a:rPr lang="en-US" sz="1391">
                <a:solidFill>
                  <a:srgbClr val="5CE1E6"/>
                </a:solidFill>
                <a:latin typeface="Arimo"/>
                <a:ea typeface="Arimo"/>
                <a:cs typeface="Arimo"/>
                <a:sym typeface="Arimo"/>
              </a:rPr>
              <a:t>DÉTECTER</a:t>
            </a:r>
          </a:p>
        </p:txBody>
      </p:sp>
      <p:sp>
        <p:nvSpPr>
          <p:cNvPr name="TextBox 26" id="26"/>
          <p:cNvSpPr txBox="true"/>
          <p:nvPr/>
        </p:nvSpPr>
        <p:spPr>
          <a:xfrm rot="0">
            <a:off x="12279382" y="2055438"/>
            <a:ext cx="3543071" cy="1446914"/>
          </a:xfrm>
          <a:prstGeom prst="rect">
            <a:avLst/>
          </a:prstGeom>
        </p:spPr>
        <p:txBody>
          <a:bodyPr anchor="t" rtlCol="false" tIns="0" lIns="0" bIns="0" rIns="0">
            <a:spAutoFit/>
          </a:bodyPr>
          <a:lstStyle/>
          <a:p>
            <a:pPr algn="l">
              <a:lnSpc>
                <a:spcPts val="2825"/>
              </a:lnSpc>
            </a:pPr>
            <a:r>
              <a:rPr lang="en-US" sz="2354">
                <a:solidFill>
                  <a:srgbClr val="4B5563"/>
                </a:solidFill>
                <a:latin typeface="Inter"/>
                <a:ea typeface="Inter"/>
                <a:cs typeface="Inter"/>
                <a:sym typeface="Inter"/>
              </a:rPr>
              <a:t>Identification automatique de la langue — français, anglais ou arabe (Étape 2).</a:t>
            </a:r>
          </a:p>
        </p:txBody>
      </p:sp>
      <p:sp>
        <p:nvSpPr>
          <p:cNvPr name="Freeform 27" id="27"/>
          <p:cNvSpPr/>
          <p:nvPr/>
        </p:nvSpPr>
        <p:spPr>
          <a:xfrm flipH="false" flipV="false" rot="0">
            <a:off x="11825507" y="4034295"/>
            <a:ext cx="1406328" cy="1406328"/>
          </a:xfrm>
          <a:custGeom>
            <a:avLst/>
            <a:gdLst/>
            <a:ahLst/>
            <a:cxnLst/>
            <a:rect r="r" b="b" t="t" l="l"/>
            <a:pathLst>
              <a:path h="1406328" w="1406328">
                <a:moveTo>
                  <a:pt x="0" y="0"/>
                </a:moveTo>
                <a:lnTo>
                  <a:pt x="1406328" y="0"/>
                </a:lnTo>
                <a:lnTo>
                  <a:pt x="1406328" y="1406328"/>
                </a:lnTo>
                <a:lnTo>
                  <a:pt x="0" y="14063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AutoShape 28" id="28"/>
          <p:cNvSpPr/>
          <p:nvPr/>
        </p:nvSpPr>
        <p:spPr>
          <a:xfrm rot="15360">
            <a:off x="11815629" y="5767340"/>
            <a:ext cx="4415266" cy="0"/>
          </a:xfrm>
          <a:prstGeom prst="line">
            <a:avLst/>
          </a:prstGeom>
          <a:ln cap="rnd" w="9525">
            <a:solidFill>
              <a:srgbClr val="CBCBCB"/>
            </a:solidFill>
            <a:prstDash val="solid"/>
            <a:headEnd type="none" len="sm" w="sm"/>
            <a:tailEnd type="none" len="sm" w="sm"/>
          </a:ln>
        </p:spPr>
      </p:sp>
      <p:sp>
        <p:nvSpPr>
          <p:cNvPr name="Freeform 29" id="29"/>
          <p:cNvSpPr/>
          <p:nvPr/>
        </p:nvSpPr>
        <p:spPr>
          <a:xfrm flipH="false" flipV="false" rot="0">
            <a:off x="12185837" y="4385701"/>
            <a:ext cx="707946" cy="703516"/>
          </a:xfrm>
          <a:custGeom>
            <a:avLst/>
            <a:gdLst/>
            <a:ahLst/>
            <a:cxnLst/>
            <a:rect r="r" b="b" t="t" l="l"/>
            <a:pathLst>
              <a:path h="703516" w="707946">
                <a:moveTo>
                  <a:pt x="0" y="0"/>
                </a:moveTo>
                <a:lnTo>
                  <a:pt x="707946" y="0"/>
                </a:lnTo>
                <a:lnTo>
                  <a:pt x="707946" y="703516"/>
                </a:lnTo>
                <a:lnTo>
                  <a:pt x="0" y="703516"/>
                </a:lnTo>
                <a:lnTo>
                  <a:pt x="0" y="0"/>
                </a:lnTo>
                <a:close/>
              </a:path>
            </a:pathLst>
          </a:custGeom>
          <a:blipFill>
            <a:blip r:embed="rId19">
              <a:extLst>
                <a:ext uri="{96DAC541-7B7A-43D3-8B79-37D633B846F1}">
                  <asvg:svgBlip xmlns:asvg="http://schemas.microsoft.com/office/drawing/2016/SVG/main" r:embed="rId20"/>
                </a:ext>
              </a:extLst>
            </a:blip>
            <a:stretch>
              <a:fillRect l="-359" t="0" r="-357" b="0"/>
            </a:stretch>
          </a:blipFill>
        </p:spPr>
      </p:sp>
      <p:sp>
        <p:nvSpPr>
          <p:cNvPr name="TextBox 30" id="30"/>
          <p:cNvSpPr txBox="true"/>
          <p:nvPr/>
        </p:nvSpPr>
        <p:spPr>
          <a:xfrm rot="0">
            <a:off x="13574554" y="4048877"/>
            <a:ext cx="2648083" cy="228619"/>
          </a:xfrm>
          <a:prstGeom prst="rect">
            <a:avLst/>
          </a:prstGeom>
        </p:spPr>
        <p:txBody>
          <a:bodyPr anchor="t" rtlCol="false" tIns="0" lIns="0" bIns="0" rIns="0">
            <a:spAutoFit/>
          </a:bodyPr>
          <a:lstStyle/>
          <a:p>
            <a:pPr algn="l">
              <a:lnSpc>
                <a:spcPts val="1670"/>
              </a:lnSpc>
            </a:pPr>
            <a:r>
              <a:rPr lang="en-US" sz="1391">
                <a:solidFill>
                  <a:srgbClr val="5CE1E6"/>
                </a:solidFill>
                <a:latin typeface="Arimo"/>
                <a:ea typeface="Arimo"/>
                <a:cs typeface="Arimo"/>
                <a:sym typeface="Arimo"/>
              </a:rPr>
              <a:t>MASQUER</a:t>
            </a:r>
          </a:p>
        </p:txBody>
      </p:sp>
      <p:sp>
        <p:nvSpPr>
          <p:cNvPr name="TextBox 31" id="31"/>
          <p:cNvSpPr txBox="true"/>
          <p:nvPr/>
        </p:nvSpPr>
        <p:spPr>
          <a:xfrm rot="0">
            <a:off x="13281698" y="4271077"/>
            <a:ext cx="3233795" cy="1446914"/>
          </a:xfrm>
          <a:prstGeom prst="rect">
            <a:avLst/>
          </a:prstGeom>
        </p:spPr>
        <p:txBody>
          <a:bodyPr anchor="t" rtlCol="false" tIns="0" lIns="0" bIns="0" rIns="0">
            <a:spAutoFit/>
          </a:bodyPr>
          <a:lstStyle/>
          <a:p>
            <a:pPr algn="l">
              <a:lnSpc>
                <a:spcPts val="2825"/>
              </a:lnSpc>
            </a:pPr>
            <a:r>
              <a:rPr lang="en-US" sz="2354">
                <a:solidFill>
                  <a:srgbClr val="4B5563"/>
                </a:solidFill>
                <a:latin typeface="Inter"/>
                <a:ea typeface="Inter"/>
                <a:cs typeface="Inter"/>
                <a:sym typeface="Inter"/>
              </a:rPr>
              <a:t>Substitution des PII par des jetons neutres — [NOM_1], [EMAIL_1], [TEL_1] (Étapes 3-4).</a:t>
            </a:r>
          </a:p>
        </p:txBody>
      </p:sp>
      <p:sp>
        <p:nvSpPr>
          <p:cNvPr name="Freeform 32" id="32"/>
          <p:cNvSpPr/>
          <p:nvPr/>
        </p:nvSpPr>
        <p:spPr>
          <a:xfrm flipH="false" flipV="false" rot="0">
            <a:off x="10839621" y="6425184"/>
            <a:ext cx="1406328" cy="1406328"/>
          </a:xfrm>
          <a:custGeom>
            <a:avLst/>
            <a:gdLst/>
            <a:ahLst/>
            <a:cxnLst/>
            <a:rect r="r" b="b" t="t" l="l"/>
            <a:pathLst>
              <a:path h="1406328" w="1406328">
                <a:moveTo>
                  <a:pt x="0" y="0"/>
                </a:moveTo>
                <a:lnTo>
                  <a:pt x="1406329" y="0"/>
                </a:lnTo>
                <a:lnTo>
                  <a:pt x="1406329" y="1406328"/>
                </a:lnTo>
                <a:lnTo>
                  <a:pt x="0" y="14063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3" id="33"/>
          <p:cNvSpPr/>
          <p:nvPr/>
        </p:nvSpPr>
        <p:spPr>
          <a:xfrm flipH="false" flipV="false" rot="0">
            <a:off x="11252683" y="6792354"/>
            <a:ext cx="685819" cy="687534"/>
          </a:xfrm>
          <a:custGeom>
            <a:avLst/>
            <a:gdLst/>
            <a:ahLst/>
            <a:cxnLst/>
            <a:rect r="r" b="b" t="t" l="l"/>
            <a:pathLst>
              <a:path h="687534" w="685819">
                <a:moveTo>
                  <a:pt x="0" y="0"/>
                </a:moveTo>
                <a:lnTo>
                  <a:pt x="685819" y="0"/>
                </a:lnTo>
                <a:lnTo>
                  <a:pt x="685819" y="687533"/>
                </a:lnTo>
                <a:lnTo>
                  <a:pt x="0" y="687533"/>
                </a:lnTo>
                <a:lnTo>
                  <a:pt x="0" y="0"/>
                </a:lnTo>
                <a:close/>
              </a:path>
            </a:pathLst>
          </a:custGeom>
          <a:blipFill>
            <a:blip r:embed="rId21">
              <a:extLst>
                <a:ext uri="{96DAC541-7B7A-43D3-8B79-37D633B846F1}">
                  <asvg:svgBlip xmlns:asvg="http://schemas.microsoft.com/office/drawing/2016/SVG/main" r:embed="rId22"/>
                </a:ext>
              </a:extLst>
            </a:blip>
            <a:stretch>
              <a:fillRect l="-124" t="0" r="-124" b="0"/>
            </a:stretch>
          </a:blipFill>
        </p:spPr>
      </p:sp>
      <p:sp>
        <p:nvSpPr>
          <p:cNvPr name="TextBox 34" id="34"/>
          <p:cNvSpPr txBox="true"/>
          <p:nvPr/>
        </p:nvSpPr>
        <p:spPr>
          <a:xfrm rot="0">
            <a:off x="12588669" y="6429756"/>
            <a:ext cx="2648083" cy="228619"/>
          </a:xfrm>
          <a:prstGeom prst="rect">
            <a:avLst/>
          </a:prstGeom>
        </p:spPr>
        <p:txBody>
          <a:bodyPr anchor="t" rtlCol="false" tIns="0" lIns="0" bIns="0" rIns="0">
            <a:spAutoFit/>
          </a:bodyPr>
          <a:lstStyle/>
          <a:p>
            <a:pPr algn="l">
              <a:lnSpc>
                <a:spcPts val="1670"/>
              </a:lnSpc>
            </a:pPr>
            <a:r>
              <a:rPr lang="en-US" sz="1391">
                <a:solidFill>
                  <a:srgbClr val="5CE1E6"/>
                </a:solidFill>
                <a:latin typeface="Arimo"/>
                <a:ea typeface="Arimo"/>
                <a:cs typeface="Arimo"/>
                <a:sym typeface="Arimo"/>
              </a:rPr>
              <a:t>EXTRAIRE</a:t>
            </a:r>
          </a:p>
        </p:txBody>
      </p:sp>
      <p:sp>
        <p:nvSpPr>
          <p:cNvPr name="TextBox 35" id="35"/>
          <p:cNvSpPr txBox="true"/>
          <p:nvPr/>
        </p:nvSpPr>
        <p:spPr>
          <a:xfrm rot="0">
            <a:off x="12245950" y="6651965"/>
            <a:ext cx="3519449" cy="1446914"/>
          </a:xfrm>
          <a:prstGeom prst="rect">
            <a:avLst/>
          </a:prstGeom>
        </p:spPr>
        <p:txBody>
          <a:bodyPr anchor="t" rtlCol="false" tIns="0" lIns="0" bIns="0" rIns="0">
            <a:spAutoFit/>
          </a:bodyPr>
          <a:lstStyle/>
          <a:p>
            <a:pPr algn="l">
              <a:lnSpc>
                <a:spcPts val="2825"/>
              </a:lnSpc>
            </a:pPr>
            <a:r>
              <a:rPr lang="en-US" sz="2354">
                <a:solidFill>
                  <a:srgbClr val="4B5563"/>
                </a:solidFill>
                <a:latin typeface="Inter"/>
                <a:ea typeface="Inter"/>
                <a:cs typeface="Inter"/>
                <a:sym typeface="Inter"/>
              </a:rPr>
              <a:t>Reconnaissance des entités — postes, diplômes, entreprises — via spaCy NER (Étape 5).</a:t>
            </a:r>
          </a:p>
        </p:txBody>
      </p:sp>
      <p:sp>
        <p:nvSpPr>
          <p:cNvPr name="AutoShape 36" id="36"/>
          <p:cNvSpPr/>
          <p:nvPr/>
        </p:nvSpPr>
        <p:spPr>
          <a:xfrm rot="15360">
            <a:off x="10942549" y="8137827"/>
            <a:ext cx="4415266" cy="0"/>
          </a:xfrm>
          <a:prstGeom prst="line">
            <a:avLst/>
          </a:prstGeom>
          <a:ln cap="rnd" w="9525">
            <a:solidFill>
              <a:srgbClr val="CBCBCB"/>
            </a:solidFill>
            <a:prstDash val="solid"/>
            <a:headEnd type="none" len="sm" w="sm"/>
            <a:tailEnd type="none" len="sm" w="sm"/>
          </a:ln>
        </p:spPr>
      </p:sp>
      <p:sp>
        <p:nvSpPr>
          <p:cNvPr name="Freeform 37" id="37"/>
          <p:cNvSpPr/>
          <p:nvPr/>
        </p:nvSpPr>
        <p:spPr>
          <a:xfrm flipH="false" flipV="false" rot="0">
            <a:off x="7736815" y="8152457"/>
            <a:ext cx="1406328" cy="1406328"/>
          </a:xfrm>
          <a:custGeom>
            <a:avLst/>
            <a:gdLst/>
            <a:ahLst/>
            <a:cxnLst/>
            <a:rect r="r" b="b" t="t" l="l"/>
            <a:pathLst>
              <a:path h="1406328" w="1406328">
                <a:moveTo>
                  <a:pt x="0" y="0"/>
                </a:moveTo>
                <a:lnTo>
                  <a:pt x="1406328" y="0"/>
                </a:lnTo>
                <a:lnTo>
                  <a:pt x="1406328" y="1406328"/>
                </a:lnTo>
                <a:lnTo>
                  <a:pt x="0" y="14063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8" id="38"/>
          <p:cNvSpPr/>
          <p:nvPr/>
        </p:nvSpPr>
        <p:spPr>
          <a:xfrm flipH="false" flipV="false" rot="0">
            <a:off x="8043615" y="8606828"/>
            <a:ext cx="815016" cy="605152"/>
          </a:xfrm>
          <a:custGeom>
            <a:avLst/>
            <a:gdLst/>
            <a:ahLst/>
            <a:cxnLst/>
            <a:rect r="r" b="b" t="t" l="l"/>
            <a:pathLst>
              <a:path h="605152" w="815016">
                <a:moveTo>
                  <a:pt x="0" y="0"/>
                </a:moveTo>
                <a:lnTo>
                  <a:pt x="815016" y="0"/>
                </a:lnTo>
                <a:lnTo>
                  <a:pt x="815016" y="605152"/>
                </a:lnTo>
                <a:lnTo>
                  <a:pt x="0" y="605152"/>
                </a:lnTo>
                <a:lnTo>
                  <a:pt x="0" y="0"/>
                </a:lnTo>
                <a:close/>
              </a:path>
            </a:pathLst>
          </a:custGeom>
          <a:blipFill>
            <a:blip r:embed="rId23">
              <a:extLst>
                <a:ext uri="{96DAC541-7B7A-43D3-8B79-37D633B846F1}">
                  <asvg:svgBlip xmlns:asvg="http://schemas.microsoft.com/office/drawing/2016/SVG/main" r:embed="rId24"/>
                </a:ext>
              </a:extLst>
            </a:blip>
            <a:stretch>
              <a:fillRect l="0" t="-113" r="0" b="-113"/>
            </a:stretch>
          </a:blipFill>
        </p:spPr>
      </p:sp>
      <p:sp>
        <p:nvSpPr>
          <p:cNvPr name="TextBox 39" id="39"/>
          <p:cNvSpPr txBox="true"/>
          <p:nvPr/>
        </p:nvSpPr>
        <p:spPr>
          <a:xfrm rot="0">
            <a:off x="9485862" y="8167430"/>
            <a:ext cx="2648083" cy="228619"/>
          </a:xfrm>
          <a:prstGeom prst="rect">
            <a:avLst/>
          </a:prstGeom>
        </p:spPr>
        <p:txBody>
          <a:bodyPr anchor="t" rtlCol="false" tIns="0" lIns="0" bIns="0" rIns="0">
            <a:spAutoFit/>
          </a:bodyPr>
          <a:lstStyle/>
          <a:p>
            <a:pPr algn="l">
              <a:lnSpc>
                <a:spcPts val="1670"/>
              </a:lnSpc>
            </a:pPr>
            <a:r>
              <a:rPr lang="en-US" sz="1391">
                <a:solidFill>
                  <a:srgbClr val="5CE1E6"/>
                </a:solidFill>
                <a:latin typeface="Arimo"/>
                <a:ea typeface="Arimo"/>
                <a:cs typeface="Arimo"/>
                <a:sym typeface="Arimo"/>
              </a:rPr>
              <a:t>ENRICHIR</a:t>
            </a:r>
          </a:p>
        </p:txBody>
      </p:sp>
      <p:sp>
        <p:nvSpPr>
          <p:cNvPr name="TextBox 40" id="40"/>
          <p:cNvSpPr txBox="true"/>
          <p:nvPr/>
        </p:nvSpPr>
        <p:spPr>
          <a:xfrm rot="0">
            <a:off x="9143143" y="8420233"/>
            <a:ext cx="3861025" cy="1803883"/>
          </a:xfrm>
          <a:prstGeom prst="rect">
            <a:avLst/>
          </a:prstGeom>
        </p:spPr>
        <p:txBody>
          <a:bodyPr anchor="t" rtlCol="false" tIns="0" lIns="0" bIns="0" rIns="0">
            <a:spAutoFit/>
          </a:bodyPr>
          <a:lstStyle/>
          <a:p>
            <a:pPr algn="l">
              <a:lnSpc>
                <a:spcPts val="2825"/>
              </a:lnSpc>
            </a:pPr>
            <a:r>
              <a:rPr lang="en-US" sz="2354">
                <a:solidFill>
                  <a:srgbClr val="4B5563"/>
                </a:solidFill>
                <a:latin typeface="Inter"/>
                <a:ea typeface="Inter"/>
                <a:cs typeface="Inter"/>
                <a:sym typeface="Inter"/>
              </a:rPr>
              <a:t>Security gate + résumé de profil par LLM (Étape 6), puis validation Pydantic et sauvegarde PostgreSQL (Étapes 7-8).</a:t>
            </a:r>
          </a:p>
        </p:txBody>
      </p:sp>
    </p:spTree>
  </p:cSld>
  <p:clrMapOvr>
    <a:masterClrMapping/>
  </p:clrMapOvr>
  <p:transition spd="slow">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545168"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4750622"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4956077"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AutoShape 6" id="6"/>
          <p:cNvSpPr/>
          <p:nvPr/>
        </p:nvSpPr>
        <p:spPr>
          <a:xfrm flipV="true">
            <a:off x="-724033" y="4356887"/>
            <a:ext cx="5889282" cy="0"/>
          </a:xfrm>
          <a:prstGeom prst="line">
            <a:avLst/>
          </a:prstGeom>
          <a:ln cap="rnd" w="47625">
            <a:solidFill>
              <a:srgbClr val="FF5300"/>
            </a:solidFill>
            <a:prstDash val="solid"/>
            <a:headEnd type="none" len="sm" w="sm"/>
            <a:tailEnd type="none" len="sm" w="sm"/>
          </a:ln>
        </p:spPr>
      </p:sp>
      <p:sp>
        <p:nvSpPr>
          <p:cNvPr name="Freeform 7" id="7"/>
          <p:cNvSpPr/>
          <p:nvPr/>
        </p:nvSpPr>
        <p:spPr>
          <a:xfrm flipH="false" flipV="false" rot="0">
            <a:off x="-724033" y="6941849"/>
            <a:ext cx="6336744" cy="4162301"/>
          </a:xfrm>
          <a:custGeom>
            <a:avLst/>
            <a:gdLst/>
            <a:ahLst/>
            <a:cxnLst/>
            <a:rect r="r" b="b" t="t" l="l"/>
            <a:pathLst>
              <a:path h="4162301" w="6336744">
                <a:moveTo>
                  <a:pt x="0" y="0"/>
                </a:moveTo>
                <a:lnTo>
                  <a:pt x="6336744" y="0"/>
                </a:lnTo>
                <a:lnTo>
                  <a:pt x="6336744" y="4162301"/>
                </a:lnTo>
                <a:lnTo>
                  <a:pt x="0" y="4162301"/>
                </a:lnTo>
                <a:lnTo>
                  <a:pt x="0" y="0"/>
                </a:lnTo>
                <a:close/>
              </a:path>
            </a:pathLst>
          </a:custGeom>
          <a:blipFill>
            <a:blip r:embed="rId6">
              <a:extLst>
                <a:ext uri="{96DAC541-7B7A-43D3-8B79-37D633B846F1}">
                  <asvg:svgBlip xmlns:asvg="http://schemas.microsoft.com/office/drawing/2016/SVG/main" r:embed="rId7"/>
                </a:ext>
              </a:extLst>
            </a:blip>
            <a:stretch>
              <a:fillRect l="-53" t="0" r="-52" b="0"/>
            </a:stretch>
          </a:blipFill>
        </p:spPr>
      </p:sp>
      <p:sp>
        <p:nvSpPr>
          <p:cNvPr name="Freeform 8" id="8"/>
          <p:cNvSpPr/>
          <p:nvPr/>
        </p:nvSpPr>
        <p:spPr>
          <a:xfrm flipH="false" flipV="false" rot="0">
            <a:off x="924096" y="7618038"/>
            <a:ext cx="494205" cy="379305"/>
          </a:xfrm>
          <a:custGeom>
            <a:avLst/>
            <a:gdLst/>
            <a:ahLst/>
            <a:cxnLst/>
            <a:rect r="r" b="b" t="t" l="l"/>
            <a:pathLst>
              <a:path h="379305" w="494205">
                <a:moveTo>
                  <a:pt x="0" y="0"/>
                </a:moveTo>
                <a:lnTo>
                  <a:pt x="494205" y="0"/>
                </a:lnTo>
                <a:lnTo>
                  <a:pt x="494205" y="379304"/>
                </a:lnTo>
                <a:lnTo>
                  <a:pt x="0" y="379304"/>
                </a:lnTo>
                <a:lnTo>
                  <a:pt x="0" y="0"/>
                </a:lnTo>
                <a:close/>
              </a:path>
            </a:pathLst>
          </a:custGeom>
          <a:blipFill>
            <a:blip r:embed="rId8">
              <a:extLst>
                <a:ext uri="{96DAC541-7B7A-43D3-8B79-37D633B846F1}">
                  <asvg:svgBlip xmlns:asvg="http://schemas.microsoft.com/office/drawing/2016/SVG/main" r:embed="rId9"/>
                </a:ext>
              </a:extLst>
            </a:blip>
            <a:stretch>
              <a:fillRect l="0" t="-113" r="0" b="-113"/>
            </a:stretch>
          </a:blipFill>
        </p:spPr>
      </p:sp>
      <p:sp>
        <p:nvSpPr>
          <p:cNvPr name="Freeform 9" id="9"/>
          <p:cNvSpPr/>
          <p:nvPr/>
        </p:nvSpPr>
        <p:spPr>
          <a:xfrm flipH="false" flipV="false" rot="0">
            <a:off x="6423298" y="607104"/>
            <a:ext cx="5351736" cy="9017746"/>
          </a:xfrm>
          <a:custGeom>
            <a:avLst/>
            <a:gdLst/>
            <a:ahLst/>
            <a:cxnLst/>
            <a:rect r="r" b="b" t="t" l="l"/>
            <a:pathLst>
              <a:path h="9017746" w="5351736">
                <a:moveTo>
                  <a:pt x="0" y="0"/>
                </a:moveTo>
                <a:lnTo>
                  <a:pt x="5351736" y="0"/>
                </a:lnTo>
                <a:lnTo>
                  <a:pt x="5351736" y="9017747"/>
                </a:lnTo>
                <a:lnTo>
                  <a:pt x="0" y="9017747"/>
                </a:lnTo>
                <a:lnTo>
                  <a:pt x="0" y="0"/>
                </a:lnTo>
                <a:close/>
              </a:path>
            </a:pathLst>
          </a:custGeom>
          <a:blipFill>
            <a:blip r:embed="rId10">
              <a:extLst>
                <a:ext uri="{96DAC541-7B7A-43D3-8B79-37D633B846F1}">
                  <asvg:svgBlip xmlns:asvg="http://schemas.microsoft.com/office/drawing/2016/SVG/main" r:embed="rId11"/>
                </a:ext>
              </a:extLst>
            </a:blip>
            <a:stretch>
              <a:fillRect l="0" t="-1" r="0" b="-1"/>
            </a:stretch>
          </a:blipFill>
        </p:spPr>
      </p:sp>
      <p:sp>
        <p:nvSpPr>
          <p:cNvPr name="Freeform 10" id="10"/>
          <p:cNvSpPr/>
          <p:nvPr/>
        </p:nvSpPr>
        <p:spPr>
          <a:xfrm flipH="false" flipV="false" rot="0">
            <a:off x="12136660" y="-1062647"/>
            <a:ext cx="7385056" cy="12426191"/>
          </a:xfrm>
          <a:custGeom>
            <a:avLst/>
            <a:gdLst/>
            <a:ahLst/>
            <a:cxnLst/>
            <a:rect r="r" b="b" t="t" l="l"/>
            <a:pathLst>
              <a:path h="12426191" w="7385056">
                <a:moveTo>
                  <a:pt x="0" y="0"/>
                </a:moveTo>
                <a:lnTo>
                  <a:pt x="7385056" y="0"/>
                </a:lnTo>
                <a:lnTo>
                  <a:pt x="7385056" y="12426191"/>
                </a:lnTo>
                <a:lnTo>
                  <a:pt x="0" y="12426191"/>
                </a:lnTo>
                <a:lnTo>
                  <a:pt x="0" y="0"/>
                </a:lnTo>
                <a:close/>
              </a:path>
            </a:pathLst>
          </a:custGeom>
          <a:blipFill>
            <a:blip r:embed="rId12">
              <a:extLst>
                <a:ext uri="{96DAC541-7B7A-43D3-8B79-37D633B846F1}">
                  <asvg:svgBlip xmlns:asvg="http://schemas.microsoft.com/office/drawing/2016/SVG/main" r:embed="rId13"/>
                </a:ext>
              </a:extLst>
            </a:blip>
            <a:stretch>
              <a:fillRect l="0" t="-11" r="0" b="-11"/>
            </a:stretch>
          </a:blipFill>
        </p:spPr>
      </p:sp>
      <p:grpSp>
        <p:nvGrpSpPr>
          <p:cNvPr name="Group 11" id="11"/>
          <p:cNvGrpSpPr/>
          <p:nvPr/>
        </p:nvGrpSpPr>
        <p:grpSpPr>
          <a:xfrm rot="0">
            <a:off x="13480323" y="1215295"/>
            <a:ext cx="1996821" cy="655510"/>
            <a:chOff x="0" y="0"/>
            <a:chExt cx="2662428" cy="874014"/>
          </a:xfrm>
        </p:grpSpPr>
        <p:sp>
          <p:nvSpPr>
            <p:cNvPr name="Freeform 12" id="12"/>
            <p:cNvSpPr/>
            <p:nvPr/>
          </p:nvSpPr>
          <p:spPr>
            <a:xfrm flipH="false" flipV="false" rot="0">
              <a:off x="0" y="0"/>
              <a:ext cx="2662428" cy="874014"/>
            </a:xfrm>
            <a:custGeom>
              <a:avLst/>
              <a:gdLst/>
              <a:ahLst/>
              <a:cxnLst/>
              <a:rect r="r" b="b" t="t" l="l"/>
              <a:pathLst>
                <a:path h="874014" w="2662428">
                  <a:moveTo>
                    <a:pt x="392557" y="0"/>
                  </a:moveTo>
                  <a:lnTo>
                    <a:pt x="2269871" y="0"/>
                  </a:lnTo>
                  <a:cubicBezTo>
                    <a:pt x="2374011" y="0"/>
                    <a:pt x="2473833" y="41402"/>
                    <a:pt x="2547493" y="114935"/>
                  </a:cubicBezTo>
                  <a:cubicBezTo>
                    <a:pt x="2621153" y="188468"/>
                    <a:pt x="2662428" y="288417"/>
                    <a:pt x="2662428" y="392557"/>
                  </a:cubicBezTo>
                  <a:lnTo>
                    <a:pt x="2662428" y="481457"/>
                  </a:lnTo>
                  <a:cubicBezTo>
                    <a:pt x="2662428" y="585597"/>
                    <a:pt x="2621026" y="685419"/>
                    <a:pt x="2547493" y="759079"/>
                  </a:cubicBezTo>
                  <a:cubicBezTo>
                    <a:pt x="2473960" y="832739"/>
                    <a:pt x="2374011" y="874014"/>
                    <a:pt x="2269871" y="874014"/>
                  </a:cubicBezTo>
                  <a:lnTo>
                    <a:pt x="392557" y="874014"/>
                  </a:lnTo>
                  <a:cubicBezTo>
                    <a:pt x="288417" y="874014"/>
                    <a:pt x="188595" y="832612"/>
                    <a:pt x="114935" y="759079"/>
                  </a:cubicBezTo>
                  <a:cubicBezTo>
                    <a:pt x="41275" y="685546"/>
                    <a:pt x="0" y="585597"/>
                    <a:pt x="0" y="481584"/>
                  </a:cubicBezTo>
                  <a:lnTo>
                    <a:pt x="0" y="392684"/>
                  </a:lnTo>
                  <a:cubicBezTo>
                    <a:pt x="0" y="288544"/>
                    <a:pt x="41402" y="188722"/>
                    <a:pt x="114935" y="115062"/>
                  </a:cubicBezTo>
                  <a:cubicBezTo>
                    <a:pt x="188468" y="41402"/>
                    <a:pt x="288417" y="0"/>
                    <a:pt x="392557" y="0"/>
                  </a:cubicBezTo>
                  <a:close/>
                </a:path>
              </a:pathLst>
            </a:custGeom>
            <a:gradFill rotWithShape="true">
              <a:gsLst>
                <a:gs pos="0">
                  <a:srgbClr val="FF7633">
                    <a:alpha val="100000"/>
                  </a:srgbClr>
                </a:gs>
                <a:gs pos="100000">
                  <a:srgbClr val="EE4F02">
                    <a:alpha val="100000"/>
                  </a:srgbClr>
                </a:gs>
              </a:gsLst>
              <a:lin ang="5400000"/>
            </a:gradFill>
          </p:spPr>
        </p:sp>
      </p:grpSp>
      <p:grpSp>
        <p:nvGrpSpPr>
          <p:cNvPr name="Group 13" id="13"/>
          <p:cNvGrpSpPr/>
          <p:nvPr/>
        </p:nvGrpSpPr>
        <p:grpSpPr>
          <a:xfrm rot="0">
            <a:off x="13480323" y="1142962"/>
            <a:ext cx="1996802" cy="727891"/>
            <a:chOff x="0" y="0"/>
            <a:chExt cx="2662403" cy="970521"/>
          </a:xfrm>
        </p:grpSpPr>
        <p:sp>
          <p:nvSpPr>
            <p:cNvPr name="Freeform 14" id="14"/>
            <p:cNvSpPr/>
            <p:nvPr/>
          </p:nvSpPr>
          <p:spPr>
            <a:xfrm flipH="false" flipV="false" rot="0">
              <a:off x="0" y="0"/>
              <a:ext cx="2662428" cy="970534"/>
            </a:xfrm>
            <a:custGeom>
              <a:avLst/>
              <a:gdLst/>
              <a:ahLst/>
              <a:cxnLst/>
              <a:rect r="r" b="b" t="t" l="l"/>
              <a:pathLst>
                <a:path h="970534" w="2662428">
                  <a:moveTo>
                    <a:pt x="0" y="0"/>
                  </a:moveTo>
                  <a:lnTo>
                    <a:pt x="2662428" y="0"/>
                  </a:lnTo>
                  <a:lnTo>
                    <a:pt x="2662428" y="970534"/>
                  </a:lnTo>
                  <a:lnTo>
                    <a:pt x="0" y="970534"/>
                  </a:lnTo>
                  <a:close/>
                </a:path>
              </a:pathLst>
            </a:custGeom>
            <a:blipFill>
              <a:blip r:embed="rId14">
                <a:alphaModFix amt="0"/>
              </a:blip>
              <a:stretch>
                <a:fillRect l="0" t="-3415" r="0" b="-3414"/>
              </a:stretch>
            </a:blipFill>
          </p:spPr>
        </p:sp>
      </p:grpSp>
      <p:grpSp>
        <p:nvGrpSpPr>
          <p:cNvPr name="Group 15" id="15"/>
          <p:cNvGrpSpPr/>
          <p:nvPr/>
        </p:nvGrpSpPr>
        <p:grpSpPr>
          <a:xfrm rot="0">
            <a:off x="13480323" y="1128674"/>
            <a:ext cx="1996802" cy="742188"/>
            <a:chOff x="0" y="0"/>
            <a:chExt cx="2662403" cy="989584"/>
          </a:xfrm>
        </p:grpSpPr>
        <p:sp>
          <p:nvSpPr>
            <p:cNvPr name="Freeform 16" id="16"/>
            <p:cNvSpPr/>
            <p:nvPr/>
          </p:nvSpPr>
          <p:spPr>
            <a:xfrm flipH="false" flipV="false" rot="0">
              <a:off x="0" y="0"/>
              <a:ext cx="2662403" cy="989579"/>
            </a:xfrm>
            <a:custGeom>
              <a:avLst/>
              <a:gdLst/>
              <a:ahLst/>
              <a:cxnLst/>
              <a:rect r="r" b="b" t="t" l="l"/>
              <a:pathLst>
                <a:path h="989579" w="2662403">
                  <a:moveTo>
                    <a:pt x="0" y="0"/>
                  </a:moveTo>
                  <a:lnTo>
                    <a:pt x="2662403" y="0"/>
                  </a:lnTo>
                  <a:lnTo>
                    <a:pt x="2662403" y="989579"/>
                  </a:lnTo>
                  <a:lnTo>
                    <a:pt x="0" y="989579"/>
                  </a:lnTo>
                  <a:close/>
                </a:path>
              </a:pathLst>
            </a:custGeom>
            <a:blipFill>
              <a:blip r:embed="rId15">
                <a:alphaModFix amt="0"/>
              </a:blip>
              <a:stretch>
                <a:fillRect l="0" t="-2423" r="0" b="-2423"/>
              </a:stretch>
            </a:blipFill>
          </p:spPr>
        </p:sp>
        <p:sp>
          <p:nvSpPr>
            <p:cNvPr name="TextBox 17" id="17"/>
            <p:cNvSpPr txBox="true"/>
            <p:nvPr/>
          </p:nvSpPr>
          <p:spPr>
            <a:xfrm>
              <a:off x="0" y="-19050"/>
              <a:ext cx="2662403" cy="1008634"/>
            </a:xfrm>
            <a:prstGeom prst="rect">
              <a:avLst/>
            </a:prstGeom>
          </p:spPr>
          <p:txBody>
            <a:bodyPr anchor="ctr" rtlCol="false" tIns="0" lIns="0" bIns="0" rIns="0"/>
            <a:lstStyle/>
            <a:p>
              <a:pPr algn="ctr">
                <a:lnSpc>
                  <a:spcPts val="2859"/>
                </a:lnSpc>
              </a:pPr>
              <a:r>
                <a:rPr lang="en-US" b="true" sz="2199" spc="-21">
                  <a:solidFill>
                    <a:srgbClr val="FFFFFF"/>
                  </a:solidFill>
                  <a:latin typeface="Inter Bold"/>
                  <a:ea typeface="Inter Bold"/>
                  <a:cs typeface="Inter Bold"/>
                  <a:sym typeface="Inter Bold"/>
                </a:rPr>
                <a:t>aprês</a:t>
              </a:r>
            </a:p>
          </p:txBody>
        </p:sp>
      </p:grpSp>
      <p:sp>
        <p:nvSpPr>
          <p:cNvPr name="Freeform 18" id="18"/>
          <p:cNvSpPr/>
          <p:nvPr/>
        </p:nvSpPr>
        <p:spPr>
          <a:xfrm flipH="false" flipV="false" rot="0">
            <a:off x="15712478" y="1325861"/>
            <a:ext cx="432254" cy="434426"/>
          </a:xfrm>
          <a:custGeom>
            <a:avLst/>
            <a:gdLst/>
            <a:ahLst/>
            <a:cxnLst/>
            <a:rect r="r" b="b" t="t" l="l"/>
            <a:pathLst>
              <a:path h="434426" w="432254">
                <a:moveTo>
                  <a:pt x="0" y="0"/>
                </a:moveTo>
                <a:lnTo>
                  <a:pt x="432254" y="0"/>
                </a:lnTo>
                <a:lnTo>
                  <a:pt x="432254" y="434426"/>
                </a:lnTo>
                <a:lnTo>
                  <a:pt x="0" y="434426"/>
                </a:lnTo>
                <a:lnTo>
                  <a:pt x="0" y="0"/>
                </a:lnTo>
                <a:close/>
              </a:path>
            </a:pathLst>
          </a:custGeom>
          <a:blipFill>
            <a:blip r:embed="rId16">
              <a:extLst>
                <a:ext uri="{96DAC541-7B7A-43D3-8B79-37D633B846F1}">
                  <asvg:svgBlip xmlns:asvg="http://schemas.microsoft.com/office/drawing/2016/SVG/main" r:embed="rId17"/>
                </a:ext>
              </a:extLst>
            </a:blip>
            <a:stretch>
              <a:fillRect l="-251" t="0" r="-251" b="0"/>
            </a:stretch>
          </a:blipFill>
        </p:spPr>
      </p:sp>
      <p:grpSp>
        <p:nvGrpSpPr>
          <p:cNvPr name="Group 19" id="19"/>
          <p:cNvGrpSpPr/>
          <p:nvPr/>
        </p:nvGrpSpPr>
        <p:grpSpPr>
          <a:xfrm rot="0">
            <a:off x="7777620" y="1215295"/>
            <a:ext cx="1996821" cy="655510"/>
            <a:chOff x="0" y="0"/>
            <a:chExt cx="2662428" cy="874014"/>
          </a:xfrm>
        </p:grpSpPr>
        <p:sp>
          <p:nvSpPr>
            <p:cNvPr name="Freeform 20" id="20"/>
            <p:cNvSpPr/>
            <p:nvPr/>
          </p:nvSpPr>
          <p:spPr>
            <a:xfrm flipH="false" flipV="false" rot="0">
              <a:off x="0" y="0"/>
              <a:ext cx="2662428" cy="874014"/>
            </a:xfrm>
            <a:custGeom>
              <a:avLst/>
              <a:gdLst/>
              <a:ahLst/>
              <a:cxnLst/>
              <a:rect r="r" b="b" t="t" l="l"/>
              <a:pathLst>
                <a:path h="874014" w="2662428">
                  <a:moveTo>
                    <a:pt x="392557" y="0"/>
                  </a:moveTo>
                  <a:lnTo>
                    <a:pt x="2269871" y="0"/>
                  </a:lnTo>
                  <a:cubicBezTo>
                    <a:pt x="2374011" y="0"/>
                    <a:pt x="2473833" y="41402"/>
                    <a:pt x="2547493" y="114935"/>
                  </a:cubicBezTo>
                  <a:cubicBezTo>
                    <a:pt x="2621153" y="188468"/>
                    <a:pt x="2662428" y="288417"/>
                    <a:pt x="2662428" y="392557"/>
                  </a:cubicBezTo>
                  <a:lnTo>
                    <a:pt x="2662428" y="481457"/>
                  </a:lnTo>
                  <a:cubicBezTo>
                    <a:pt x="2662428" y="585597"/>
                    <a:pt x="2621026" y="685419"/>
                    <a:pt x="2547493" y="759079"/>
                  </a:cubicBezTo>
                  <a:cubicBezTo>
                    <a:pt x="2473960" y="832739"/>
                    <a:pt x="2374011" y="874014"/>
                    <a:pt x="2269871" y="874014"/>
                  </a:cubicBezTo>
                  <a:lnTo>
                    <a:pt x="392557" y="874014"/>
                  </a:lnTo>
                  <a:cubicBezTo>
                    <a:pt x="288417" y="874014"/>
                    <a:pt x="188595" y="832612"/>
                    <a:pt x="114935" y="759079"/>
                  </a:cubicBezTo>
                  <a:cubicBezTo>
                    <a:pt x="41275" y="685546"/>
                    <a:pt x="0" y="585597"/>
                    <a:pt x="0" y="481584"/>
                  </a:cubicBezTo>
                  <a:lnTo>
                    <a:pt x="0" y="392684"/>
                  </a:lnTo>
                  <a:cubicBezTo>
                    <a:pt x="0" y="288544"/>
                    <a:pt x="41402" y="188722"/>
                    <a:pt x="114935" y="115062"/>
                  </a:cubicBezTo>
                  <a:cubicBezTo>
                    <a:pt x="188468" y="41402"/>
                    <a:pt x="288417" y="0"/>
                    <a:pt x="392557" y="0"/>
                  </a:cubicBezTo>
                  <a:close/>
                </a:path>
              </a:pathLst>
            </a:custGeom>
            <a:solidFill>
              <a:srgbClr val="111C2B"/>
            </a:solidFill>
          </p:spPr>
        </p:sp>
      </p:grpSp>
      <p:grpSp>
        <p:nvGrpSpPr>
          <p:cNvPr name="Group 21" id="21"/>
          <p:cNvGrpSpPr/>
          <p:nvPr/>
        </p:nvGrpSpPr>
        <p:grpSpPr>
          <a:xfrm rot="0">
            <a:off x="7777620" y="1142962"/>
            <a:ext cx="1996802" cy="727891"/>
            <a:chOff x="0" y="0"/>
            <a:chExt cx="2662403" cy="970521"/>
          </a:xfrm>
        </p:grpSpPr>
        <p:sp>
          <p:nvSpPr>
            <p:cNvPr name="Freeform 22" id="22"/>
            <p:cNvSpPr/>
            <p:nvPr/>
          </p:nvSpPr>
          <p:spPr>
            <a:xfrm flipH="false" flipV="false" rot="0">
              <a:off x="0" y="0"/>
              <a:ext cx="2662428" cy="970534"/>
            </a:xfrm>
            <a:custGeom>
              <a:avLst/>
              <a:gdLst/>
              <a:ahLst/>
              <a:cxnLst/>
              <a:rect r="r" b="b" t="t" l="l"/>
              <a:pathLst>
                <a:path h="970534" w="2662428">
                  <a:moveTo>
                    <a:pt x="0" y="0"/>
                  </a:moveTo>
                  <a:lnTo>
                    <a:pt x="2662428" y="0"/>
                  </a:lnTo>
                  <a:lnTo>
                    <a:pt x="2662428" y="970534"/>
                  </a:lnTo>
                  <a:lnTo>
                    <a:pt x="0" y="970534"/>
                  </a:lnTo>
                  <a:close/>
                </a:path>
              </a:pathLst>
            </a:custGeom>
            <a:blipFill>
              <a:blip r:embed="rId14">
                <a:alphaModFix amt="0"/>
              </a:blip>
              <a:stretch>
                <a:fillRect l="0" t="-3415" r="0" b="-3414"/>
              </a:stretch>
            </a:blipFill>
          </p:spPr>
        </p:sp>
      </p:grpSp>
      <p:grpSp>
        <p:nvGrpSpPr>
          <p:cNvPr name="Group 23" id="23"/>
          <p:cNvGrpSpPr/>
          <p:nvPr/>
        </p:nvGrpSpPr>
        <p:grpSpPr>
          <a:xfrm rot="0">
            <a:off x="7777620" y="1128674"/>
            <a:ext cx="1996802" cy="742188"/>
            <a:chOff x="0" y="0"/>
            <a:chExt cx="2662403" cy="989584"/>
          </a:xfrm>
        </p:grpSpPr>
        <p:sp>
          <p:nvSpPr>
            <p:cNvPr name="Freeform 24" id="24"/>
            <p:cNvSpPr/>
            <p:nvPr/>
          </p:nvSpPr>
          <p:spPr>
            <a:xfrm flipH="false" flipV="false" rot="0">
              <a:off x="0" y="0"/>
              <a:ext cx="2662403" cy="989579"/>
            </a:xfrm>
            <a:custGeom>
              <a:avLst/>
              <a:gdLst/>
              <a:ahLst/>
              <a:cxnLst/>
              <a:rect r="r" b="b" t="t" l="l"/>
              <a:pathLst>
                <a:path h="989579" w="2662403">
                  <a:moveTo>
                    <a:pt x="0" y="0"/>
                  </a:moveTo>
                  <a:lnTo>
                    <a:pt x="2662403" y="0"/>
                  </a:lnTo>
                  <a:lnTo>
                    <a:pt x="2662403" y="989579"/>
                  </a:lnTo>
                  <a:lnTo>
                    <a:pt x="0" y="989579"/>
                  </a:lnTo>
                  <a:close/>
                </a:path>
              </a:pathLst>
            </a:custGeom>
            <a:blipFill>
              <a:blip r:embed="rId15">
                <a:alphaModFix amt="0"/>
              </a:blip>
              <a:stretch>
                <a:fillRect l="0" t="-2423" r="0" b="-2423"/>
              </a:stretch>
            </a:blipFill>
          </p:spPr>
        </p:sp>
        <p:sp>
          <p:nvSpPr>
            <p:cNvPr name="TextBox 25" id="25"/>
            <p:cNvSpPr txBox="true"/>
            <p:nvPr/>
          </p:nvSpPr>
          <p:spPr>
            <a:xfrm>
              <a:off x="0" y="-19050"/>
              <a:ext cx="2662403" cy="1008634"/>
            </a:xfrm>
            <a:prstGeom prst="rect">
              <a:avLst/>
            </a:prstGeom>
          </p:spPr>
          <p:txBody>
            <a:bodyPr anchor="ctr" rtlCol="false" tIns="0" lIns="0" bIns="0" rIns="0"/>
            <a:lstStyle/>
            <a:p>
              <a:pPr algn="ctr">
                <a:lnSpc>
                  <a:spcPts val="2859"/>
                </a:lnSpc>
              </a:pPr>
              <a:r>
                <a:rPr lang="en-US" b="true" sz="2199" spc="-21">
                  <a:solidFill>
                    <a:srgbClr val="FFFFFF"/>
                  </a:solidFill>
                  <a:latin typeface="Inter Bold"/>
                  <a:ea typeface="Inter Bold"/>
                  <a:cs typeface="Inter Bold"/>
                  <a:sym typeface="Inter Bold"/>
                </a:rPr>
                <a:t>avant</a:t>
              </a:r>
            </a:p>
          </p:txBody>
        </p:sp>
      </p:grpSp>
      <p:sp>
        <p:nvSpPr>
          <p:cNvPr name="Freeform 26" id="26"/>
          <p:cNvSpPr/>
          <p:nvPr/>
        </p:nvSpPr>
        <p:spPr>
          <a:xfrm flipH="false" flipV="false" rot="0">
            <a:off x="9986286" y="1325861"/>
            <a:ext cx="434426" cy="434426"/>
          </a:xfrm>
          <a:custGeom>
            <a:avLst/>
            <a:gdLst/>
            <a:ahLst/>
            <a:cxnLst/>
            <a:rect r="r" b="b" t="t" l="l"/>
            <a:pathLst>
              <a:path h="434426" w="434426">
                <a:moveTo>
                  <a:pt x="0" y="0"/>
                </a:moveTo>
                <a:lnTo>
                  <a:pt x="434426" y="0"/>
                </a:lnTo>
                <a:lnTo>
                  <a:pt x="434426" y="434426"/>
                </a:lnTo>
                <a:lnTo>
                  <a:pt x="0" y="43442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7" id="27"/>
          <p:cNvGrpSpPr/>
          <p:nvPr/>
        </p:nvGrpSpPr>
        <p:grpSpPr>
          <a:xfrm rot="0">
            <a:off x="6903387" y="2818114"/>
            <a:ext cx="620840" cy="620840"/>
            <a:chOff x="0" y="0"/>
            <a:chExt cx="827786" cy="827786"/>
          </a:xfrm>
        </p:grpSpPr>
        <p:sp>
          <p:nvSpPr>
            <p:cNvPr name="Freeform 28" id="28"/>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DFDFDF"/>
            </a:solidFill>
          </p:spPr>
        </p:sp>
      </p:grpSp>
      <p:grpSp>
        <p:nvGrpSpPr>
          <p:cNvPr name="Group 29" id="29"/>
          <p:cNvGrpSpPr/>
          <p:nvPr/>
        </p:nvGrpSpPr>
        <p:grpSpPr>
          <a:xfrm rot="0">
            <a:off x="6961594" y="2854490"/>
            <a:ext cx="504444" cy="526266"/>
            <a:chOff x="0" y="0"/>
            <a:chExt cx="672592" cy="701688"/>
          </a:xfrm>
        </p:grpSpPr>
        <p:sp>
          <p:nvSpPr>
            <p:cNvPr name="Freeform 30" id="30"/>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31" id="31"/>
          <p:cNvGrpSpPr/>
          <p:nvPr/>
        </p:nvGrpSpPr>
        <p:grpSpPr>
          <a:xfrm rot="0">
            <a:off x="6961594" y="2833059"/>
            <a:ext cx="504444" cy="547697"/>
            <a:chOff x="0" y="0"/>
            <a:chExt cx="672592" cy="730263"/>
          </a:xfrm>
        </p:grpSpPr>
        <p:sp>
          <p:nvSpPr>
            <p:cNvPr name="Freeform 32" id="32"/>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33" id="33"/>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111C2B"/>
                  </a:solidFill>
                  <a:latin typeface="Bricolage Grotesque Bold"/>
                  <a:ea typeface="Bricolage Grotesque Bold"/>
                  <a:cs typeface="Bricolage Grotesque Bold"/>
                  <a:sym typeface="Bricolage Grotesque Bold"/>
                </a:rPr>
                <a:t>01</a:t>
              </a:r>
            </a:p>
          </p:txBody>
        </p:sp>
      </p:grpSp>
      <p:sp>
        <p:nvSpPr>
          <p:cNvPr name="TextBox 34" id="34"/>
          <p:cNvSpPr txBox="true"/>
          <p:nvPr/>
        </p:nvSpPr>
        <p:spPr>
          <a:xfrm rot="0">
            <a:off x="913047" y="1921793"/>
            <a:ext cx="4663078" cy="2435095"/>
          </a:xfrm>
          <a:prstGeom prst="rect">
            <a:avLst/>
          </a:prstGeom>
        </p:spPr>
        <p:txBody>
          <a:bodyPr anchor="t" rtlCol="false" tIns="0" lIns="0" bIns="0" rIns="0">
            <a:spAutoFit/>
          </a:bodyPr>
          <a:lstStyle/>
          <a:p>
            <a:pPr algn="l">
              <a:lnSpc>
                <a:spcPts val="3840"/>
              </a:lnSpc>
            </a:pPr>
            <a:r>
              <a:rPr lang="en-US" sz="3200" b="true">
                <a:solidFill>
                  <a:srgbClr val="111827"/>
                </a:solidFill>
                <a:latin typeface="Inter Bold"/>
                <a:ea typeface="Inter Bold"/>
                <a:cs typeface="Inter Bold"/>
                <a:sym typeface="Inter Bold"/>
              </a:rPr>
              <a:t>LA DIFFÉRENCE</a:t>
            </a:r>
          </a:p>
          <a:p>
            <a:pPr algn="l">
              <a:lnSpc>
                <a:spcPts val="3840"/>
              </a:lnSpc>
            </a:pPr>
            <a:r>
              <a:rPr lang="en-US" sz="3200" b="true">
                <a:solidFill>
                  <a:srgbClr val="FF6B00"/>
                </a:solidFill>
                <a:latin typeface="Inter Bold"/>
                <a:ea typeface="Inter Bold"/>
                <a:cs typeface="Inter Bold"/>
                <a:sym typeface="Inter Bold"/>
              </a:rPr>
              <a:t>EST CLAIRE</a:t>
            </a:r>
          </a:p>
        </p:txBody>
      </p:sp>
      <p:sp>
        <p:nvSpPr>
          <p:cNvPr name="TextBox 35" id="35"/>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06</a:t>
            </a:r>
          </a:p>
        </p:txBody>
      </p:sp>
      <p:sp>
        <p:nvSpPr>
          <p:cNvPr name="TextBox 36" id="36"/>
          <p:cNvSpPr txBox="true"/>
          <p:nvPr/>
        </p:nvSpPr>
        <p:spPr>
          <a:xfrm rot="0">
            <a:off x="1028700" y="157905"/>
            <a:ext cx="3927377" cy="361950"/>
          </a:xfrm>
          <a:prstGeom prst="rect">
            <a:avLst/>
          </a:prstGeom>
        </p:spPr>
        <p:txBody>
          <a:bodyPr anchor="t" rtlCol="false" tIns="0" lIns="0" bIns="0" rIns="0">
            <a:spAutoFit/>
          </a:bodyPr>
          <a:lstStyle/>
          <a:p>
            <a:pPr algn="l">
              <a:lnSpc>
                <a:spcPts val="2878"/>
              </a:lnSpc>
            </a:pPr>
            <a:r>
              <a:rPr lang="en-US" sz="2399" b="true">
                <a:solidFill>
                  <a:srgbClr val="FF6B00"/>
                </a:solidFill>
                <a:latin typeface="Inter Bold"/>
                <a:ea typeface="Inter Bold"/>
                <a:cs typeface="Inter Bold"/>
                <a:sym typeface="Inter Bold"/>
              </a:rPr>
              <a:t>06 — AVANT VS APRÈS</a:t>
            </a:r>
          </a:p>
        </p:txBody>
      </p:sp>
      <p:sp>
        <p:nvSpPr>
          <p:cNvPr name="TextBox 37" id="37"/>
          <p:cNvSpPr txBox="true"/>
          <p:nvPr/>
        </p:nvSpPr>
        <p:spPr>
          <a:xfrm rot="0">
            <a:off x="312972" y="4729105"/>
            <a:ext cx="5243551" cy="1676400"/>
          </a:xfrm>
          <a:prstGeom prst="rect">
            <a:avLst/>
          </a:prstGeom>
        </p:spPr>
        <p:txBody>
          <a:bodyPr anchor="t" rtlCol="false" tIns="0" lIns="0" bIns="0" rIns="0">
            <a:spAutoFit/>
          </a:bodyPr>
          <a:lstStyle/>
          <a:p>
            <a:pPr algn="l">
              <a:lnSpc>
                <a:spcPts val="3358"/>
              </a:lnSpc>
            </a:pPr>
            <a:r>
              <a:rPr lang="en-US" sz="2799">
                <a:solidFill>
                  <a:srgbClr val="4B5563"/>
                </a:solidFill>
                <a:latin typeface="Inter"/>
                <a:ea typeface="Inter"/>
                <a:cs typeface="Inter"/>
                <a:sym typeface="Inter"/>
              </a:rPr>
              <a:t>Du tri manuel au traitement automatisé et sécurisé — ce que le moteur change concrètement.</a:t>
            </a:r>
          </a:p>
        </p:txBody>
      </p:sp>
      <p:sp>
        <p:nvSpPr>
          <p:cNvPr name="TextBox 38" id="38"/>
          <p:cNvSpPr txBox="true"/>
          <p:nvPr/>
        </p:nvSpPr>
        <p:spPr>
          <a:xfrm rot="0">
            <a:off x="204292" y="8526351"/>
            <a:ext cx="5408419" cy="1424445"/>
          </a:xfrm>
          <a:prstGeom prst="rect">
            <a:avLst/>
          </a:prstGeom>
        </p:spPr>
        <p:txBody>
          <a:bodyPr anchor="t" rtlCol="false" tIns="0" lIns="0" bIns="0" rIns="0">
            <a:spAutoFit/>
          </a:bodyPr>
          <a:lstStyle/>
          <a:p>
            <a:pPr algn="l">
              <a:lnSpc>
                <a:spcPts val="2038"/>
              </a:lnSpc>
            </a:pPr>
            <a:r>
              <a:rPr lang="en-US" sz="1698" b="true">
                <a:solidFill>
                  <a:srgbClr val="FFFFFF"/>
                </a:solidFill>
                <a:latin typeface="Inter Bold"/>
                <a:ea typeface="Inter Bold"/>
                <a:cs typeface="Inter Bold"/>
                <a:sym typeface="Inter Bold"/>
              </a:rPr>
              <a:t>Le bon outil ne change pas seulement la façon de travailler — il transforme ce que l'on peut prouver.</a:t>
            </a:r>
          </a:p>
        </p:txBody>
      </p:sp>
      <p:sp>
        <p:nvSpPr>
          <p:cNvPr name="TextBox 39" id="39"/>
          <p:cNvSpPr txBox="true"/>
          <p:nvPr/>
        </p:nvSpPr>
        <p:spPr>
          <a:xfrm rot="0">
            <a:off x="7086190" y="2188474"/>
            <a:ext cx="4025960" cy="285750"/>
          </a:xfrm>
          <a:prstGeom prst="rect">
            <a:avLst/>
          </a:prstGeom>
        </p:spPr>
        <p:txBody>
          <a:bodyPr anchor="t" rtlCol="false" tIns="0" lIns="0" bIns="0" rIns="0">
            <a:spAutoFit/>
          </a:bodyPr>
          <a:lstStyle/>
          <a:p>
            <a:pPr algn="l">
              <a:lnSpc>
                <a:spcPts val="2279"/>
              </a:lnSpc>
            </a:pPr>
            <a:r>
              <a:rPr lang="en-US" sz="1899" b="true">
                <a:solidFill>
                  <a:srgbClr val="111827"/>
                </a:solidFill>
                <a:latin typeface="Inter Bold"/>
                <a:ea typeface="Inter Bold"/>
                <a:cs typeface="Inter Bold"/>
                <a:sym typeface="Inter Bold"/>
              </a:rPr>
              <a:t>AVANT (Tri Manuel)</a:t>
            </a:r>
          </a:p>
        </p:txBody>
      </p:sp>
      <p:sp>
        <p:nvSpPr>
          <p:cNvPr name="TextBox 40" id="40"/>
          <p:cNvSpPr txBox="true"/>
          <p:nvPr/>
        </p:nvSpPr>
        <p:spPr>
          <a:xfrm rot="0">
            <a:off x="12799543" y="2188474"/>
            <a:ext cx="4025960" cy="285750"/>
          </a:xfrm>
          <a:prstGeom prst="rect">
            <a:avLst/>
          </a:prstGeom>
        </p:spPr>
        <p:txBody>
          <a:bodyPr anchor="t" rtlCol="false" tIns="0" lIns="0" bIns="0" rIns="0">
            <a:spAutoFit/>
          </a:bodyPr>
          <a:lstStyle/>
          <a:p>
            <a:pPr algn="l">
              <a:lnSpc>
                <a:spcPts val="2279"/>
              </a:lnSpc>
            </a:pPr>
            <a:r>
              <a:rPr lang="en-US" sz="1899" b="true">
                <a:solidFill>
                  <a:srgbClr val="FF6B00"/>
                </a:solidFill>
                <a:latin typeface="Inter Bold"/>
                <a:ea typeface="Inter Bold"/>
                <a:cs typeface="Inter Bold"/>
                <a:sym typeface="Inter Bold"/>
              </a:rPr>
              <a:t>APRÈS (CV Parser Engine)</a:t>
            </a:r>
          </a:p>
        </p:txBody>
      </p:sp>
      <p:sp>
        <p:nvSpPr>
          <p:cNvPr name="TextBox 41" id="41"/>
          <p:cNvSpPr txBox="true"/>
          <p:nvPr/>
        </p:nvSpPr>
        <p:spPr>
          <a:xfrm rot="0">
            <a:off x="7648946" y="2825020"/>
            <a:ext cx="4362993" cy="628650"/>
          </a:xfrm>
          <a:prstGeom prst="rect">
            <a:avLst/>
          </a:prstGeom>
        </p:spPr>
        <p:txBody>
          <a:bodyPr anchor="t" rtlCol="false" tIns="0" lIns="0" bIns="0" rIns="0">
            <a:spAutoFit/>
          </a:bodyPr>
          <a:lstStyle/>
          <a:p>
            <a:pPr algn="l">
              <a:lnSpc>
                <a:spcPts val="2519"/>
              </a:lnSpc>
            </a:pPr>
            <a:r>
              <a:rPr lang="en-US" sz="2099">
                <a:solidFill>
                  <a:srgbClr val="4B5563"/>
                </a:solidFill>
                <a:latin typeface="Inter"/>
                <a:ea typeface="Inter"/>
                <a:cs typeface="Inter"/>
                <a:sym typeface="Inter"/>
              </a:rPr>
              <a:t>Tri manuel de chaque CV, plusieurs heures</a:t>
            </a:r>
          </a:p>
        </p:txBody>
      </p:sp>
      <p:sp>
        <p:nvSpPr>
          <p:cNvPr name="AutoShape 42" id="42"/>
          <p:cNvSpPr/>
          <p:nvPr/>
        </p:nvSpPr>
        <p:spPr>
          <a:xfrm rot="7440">
            <a:off x="6893852" y="3686651"/>
            <a:ext cx="4410627" cy="0"/>
          </a:xfrm>
          <a:prstGeom prst="line">
            <a:avLst/>
          </a:prstGeom>
          <a:ln cap="rnd" w="9525">
            <a:solidFill>
              <a:srgbClr val="DBDBDB"/>
            </a:solidFill>
            <a:prstDash val="solid"/>
            <a:headEnd type="none" len="sm" w="sm"/>
            <a:tailEnd type="none" len="sm" w="sm"/>
          </a:ln>
        </p:spPr>
      </p:sp>
      <p:grpSp>
        <p:nvGrpSpPr>
          <p:cNvPr name="Group 43" id="43"/>
          <p:cNvGrpSpPr/>
          <p:nvPr/>
        </p:nvGrpSpPr>
        <p:grpSpPr>
          <a:xfrm rot="0">
            <a:off x="6903387" y="3958114"/>
            <a:ext cx="620840" cy="620840"/>
            <a:chOff x="0" y="0"/>
            <a:chExt cx="827786" cy="827786"/>
          </a:xfrm>
        </p:grpSpPr>
        <p:sp>
          <p:nvSpPr>
            <p:cNvPr name="Freeform 44" id="44"/>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DFDFDF"/>
            </a:solidFill>
          </p:spPr>
        </p:sp>
      </p:grpSp>
      <p:grpSp>
        <p:nvGrpSpPr>
          <p:cNvPr name="Group 45" id="45"/>
          <p:cNvGrpSpPr/>
          <p:nvPr/>
        </p:nvGrpSpPr>
        <p:grpSpPr>
          <a:xfrm rot="0">
            <a:off x="6961594" y="3994490"/>
            <a:ext cx="504444" cy="526266"/>
            <a:chOff x="0" y="0"/>
            <a:chExt cx="672592" cy="701688"/>
          </a:xfrm>
        </p:grpSpPr>
        <p:sp>
          <p:nvSpPr>
            <p:cNvPr name="Freeform 46" id="46"/>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47" id="47"/>
          <p:cNvGrpSpPr/>
          <p:nvPr/>
        </p:nvGrpSpPr>
        <p:grpSpPr>
          <a:xfrm rot="0">
            <a:off x="6961594" y="3973058"/>
            <a:ext cx="504444" cy="547697"/>
            <a:chOff x="0" y="0"/>
            <a:chExt cx="672592" cy="730263"/>
          </a:xfrm>
        </p:grpSpPr>
        <p:sp>
          <p:nvSpPr>
            <p:cNvPr name="Freeform 48" id="48"/>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49" id="49"/>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111C2B"/>
                  </a:solidFill>
                  <a:latin typeface="Bricolage Grotesque Bold"/>
                  <a:ea typeface="Bricolage Grotesque Bold"/>
                  <a:cs typeface="Bricolage Grotesque Bold"/>
                  <a:sym typeface="Bricolage Grotesque Bold"/>
                </a:rPr>
                <a:t>02</a:t>
              </a:r>
            </a:p>
          </p:txBody>
        </p:sp>
      </p:grpSp>
      <p:sp>
        <p:nvSpPr>
          <p:cNvPr name="TextBox 50" id="50"/>
          <p:cNvSpPr txBox="true"/>
          <p:nvPr/>
        </p:nvSpPr>
        <p:spPr>
          <a:xfrm rot="0">
            <a:off x="7773667" y="4142242"/>
            <a:ext cx="3529860" cy="628650"/>
          </a:xfrm>
          <a:prstGeom prst="rect">
            <a:avLst/>
          </a:prstGeom>
        </p:spPr>
        <p:txBody>
          <a:bodyPr anchor="t" rtlCol="false" tIns="0" lIns="0" bIns="0" rIns="0">
            <a:spAutoFit/>
          </a:bodyPr>
          <a:lstStyle/>
          <a:p>
            <a:pPr algn="l">
              <a:lnSpc>
                <a:spcPts val="2519"/>
              </a:lnSpc>
            </a:pPr>
            <a:r>
              <a:rPr lang="en-US" sz="2099">
                <a:solidFill>
                  <a:srgbClr val="4B5563"/>
                </a:solidFill>
                <a:latin typeface="Inter"/>
                <a:ea typeface="Inter"/>
                <a:cs typeface="Inter"/>
                <a:sym typeface="Inter"/>
              </a:rPr>
              <a:t>PII dispersées, aucune anonymisation</a:t>
            </a:r>
          </a:p>
        </p:txBody>
      </p:sp>
      <p:sp>
        <p:nvSpPr>
          <p:cNvPr name="AutoShape 51" id="51"/>
          <p:cNvSpPr/>
          <p:nvPr/>
        </p:nvSpPr>
        <p:spPr>
          <a:xfrm rot="7440">
            <a:off x="6893852" y="4826651"/>
            <a:ext cx="4410627" cy="0"/>
          </a:xfrm>
          <a:prstGeom prst="line">
            <a:avLst/>
          </a:prstGeom>
          <a:ln cap="rnd" w="9525">
            <a:solidFill>
              <a:srgbClr val="DBDBDB"/>
            </a:solidFill>
            <a:prstDash val="solid"/>
            <a:headEnd type="none" len="sm" w="sm"/>
            <a:tailEnd type="none" len="sm" w="sm"/>
          </a:ln>
        </p:spPr>
      </p:sp>
      <p:grpSp>
        <p:nvGrpSpPr>
          <p:cNvPr name="Group 52" id="52"/>
          <p:cNvGrpSpPr/>
          <p:nvPr/>
        </p:nvGrpSpPr>
        <p:grpSpPr>
          <a:xfrm rot="0">
            <a:off x="6903387" y="5098113"/>
            <a:ext cx="620840" cy="620840"/>
            <a:chOff x="0" y="0"/>
            <a:chExt cx="827786" cy="827786"/>
          </a:xfrm>
        </p:grpSpPr>
        <p:sp>
          <p:nvSpPr>
            <p:cNvPr name="Freeform 53" id="53"/>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DFDFDF"/>
            </a:solidFill>
          </p:spPr>
        </p:sp>
      </p:grpSp>
      <p:grpSp>
        <p:nvGrpSpPr>
          <p:cNvPr name="Group 54" id="54"/>
          <p:cNvGrpSpPr/>
          <p:nvPr/>
        </p:nvGrpSpPr>
        <p:grpSpPr>
          <a:xfrm rot="0">
            <a:off x="6961594" y="5134499"/>
            <a:ext cx="504444" cy="526266"/>
            <a:chOff x="0" y="0"/>
            <a:chExt cx="672592" cy="701688"/>
          </a:xfrm>
        </p:grpSpPr>
        <p:sp>
          <p:nvSpPr>
            <p:cNvPr name="Freeform 55" id="55"/>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56" id="56"/>
          <p:cNvGrpSpPr/>
          <p:nvPr/>
        </p:nvGrpSpPr>
        <p:grpSpPr>
          <a:xfrm rot="0">
            <a:off x="6961594" y="5113068"/>
            <a:ext cx="504444" cy="547697"/>
            <a:chOff x="0" y="0"/>
            <a:chExt cx="672592" cy="730263"/>
          </a:xfrm>
        </p:grpSpPr>
        <p:sp>
          <p:nvSpPr>
            <p:cNvPr name="Freeform 57" id="57"/>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58" id="58"/>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111C2B"/>
                  </a:solidFill>
                  <a:latin typeface="Bricolage Grotesque Bold"/>
                  <a:ea typeface="Bricolage Grotesque Bold"/>
                  <a:cs typeface="Bricolage Grotesque Bold"/>
                  <a:sym typeface="Bricolage Grotesque Bold"/>
                </a:rPr>
                <a:t>03</a:t>
              </a:r>
            </a:p>
          </p:txBody>
        </p:sp>
      </p:grpSp>
      <p:sp>
        <p:nvSpPr>
          <p:cNvPr name="TextBox 59" id="59"/>
          <p:cNvSpPr txBox="true"/>
          <p:nvPr/>
        </p:nvSpPr>
        <p:spPr>
          <a:xfrm rot="0">
            <a:off x="7773667" y="5282241"/>
            <a:ext cx="3529860" cy="628650"/>
          </a:xfrm>
          <a:prstGeom prst="rect">
            <a:avLst/>
          </a:prstGeom>
        </p:spPr>
        <p:txBody>
          <a:bodyPr anchor="t" rtlCol="false" tIns="0" lIns="0" bIns="0" rIns="0">
            <a:spAutoFit/>
          </a:bodyPr>
          <a:lstStyle/>
          <a:p>
            <a:pPr algn="l">
              <a:lnSpc>
                <a:spcPts val="2519"/>
              </a:lnSpc>
            </a:pPr>
            <a:r>
              <a:rPr lang="en-US" sz="2099">
                <a:solidFill>
                  <a:srgbClr val="4B5563"/>
                </a:solidFill>
                <a:latin typeface="Inter"/>
                <a:ea typeface="Inter"/>
                <a:cs typeface="Inter"/>
                <a:sym typeface="Inter"/>
              </a:rPr>
              <a:t>Extraction incohérente, erreurs humaines</a:t>
            </a:r>
          </a:p>
        </p:txBody>
      </p:sp>
      <p:sp>
        <p:nvSpPr>
          <p:cNvPr name="AutoShape 60" id="60"/>
          <p:cNvSpPr/>
          <p:nvPr/>
        </p:nvSpPr>
        <p:spPr>
          <a:xfrm rot="7440">
            <a:off x="6893852" y="5966660"/>
            <a:ext cx="4410627" cy="0"/>
          </a:xfrm>
          <a:prstGeom prst="line">
            <a:avLst/>
          </a:prstGeom>
          <a:ln cap="rnd" w="9525">
            <a:solidFill>
              <a:srgbClr val="DBDBDB"/>
            </a:solidFill>
            <a:prstDash val="solid"/>
            <a:headEnd type="none" len="sm" w="sm"/>
            <a:tailEnd type="none" len="sm" w="sm"/>
          </a:ln>
        </p:spPr>
      </p:sp>
      <p:grpSp>
        <p:nvGrpSpPr>
          <p:cNvPr name="Group 61" id="61"/>
          <p:cNvGrpSpPr/>
          <p:nvPr/>
        </p:nvGrpSpPr>
        <p:grpSpPr>
          <a:xfrm rot="0">
            <a:off x="6903387" y="6238123"/>
            <a:ext cx="620840" cy="620840"/>
            <a:chOff x="0" y="0"/>
            <a:chExt cx="827786" cy="827786"/>
          </a:xfrm>
        </p:grpSpPr>
        <p:sp>
          <p:nvSpPr>
            <p:cNvPr name="Freeform 62" id="62"/>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DFDFDF"/>
            </a:solidFill>
          </p:spPr>
        </p:sp>
      </p:grpSp>
      <p:grpSp>
        <p:nvGrpSpPr>
          <p:cNvPr name="Group 63" id="63"/>
          <p:cNvGrpSpPr/>
          <p:nvPr/>
        </p:nvGrpSpPr>
        <p:grpSpPr>
          <a:xfrm rot="0">
            <a:off x="6961594" y="6274498"/>
            <a:ext cx="504444" cy="526266"/>
            <a:chOff x="0" y="0"/>
            <a:chExt cx="672592" cy="701688"/>
          </a:xfrm>
        </p:grpSpPr>
        <p:sp>
          <p:nvSpPr>
            <p:cNvPr name="Freeform 64" id="64"/>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65" id="65"/>
          <p:cNvGrpSpPr/>
          <p:nvPr/>
        </p:nvGrpSpPr>
        <p:grpSpPr>
          <a:xfrm rot="0">
            <a:off x="6961594" y="6253067"/>
            <a:ext cx="504444" cy="547697"/>
            <a:chOff x="0" y="0"/>
            <a:chExt cx="672592" cy="730263"/>
          </a:xfrm>
        </p:grpSpPr>
        <p:sp>
          <p:nvSpPr>
            <p:cNvPr name="Freeform 66" id="66"/>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67" id="67"/>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111C2B"/>
                  </a:solidFill>
                  <a:latin typeface="Bricolage Grotesque Bold"/>
                  <a:ea typeface="Bricolage Grotesque Bold"/>
                  <a:cs typeface="Bricolage Grotesque Bold"/>
                  <a:sym typeface="Bricolage Grotesque Bold"/>
                </a:rPr>
                <a:t>04</a:t>
              </a:r>
            </a:p>
          </p:txBody>
        </p:sp>
      </p:grpSp>
      <p:sp>
        <p:nvSpPr>
          <p:cNvPr name="TextBox 68" id="68"/>
          <p:cNvSpPr txBox="true"/>
          <p:nvPr/>
        </p:nvSpPr>
        <p:spPr>
          <a:xfrm rot="0">
            <a:off x="7773667" y="6422241"/>
            <a:ext cx="3529860" cy="628650"/>
          </a:xfrm>
          <a:prstGeom prst="rect">
            <a:avLst/>
          </a:prstGeom>
        </p:spPr>
        <p:txBody>
          <a:bodyPr anchor="t" rtlCol="false" tIns="0" lIns="0" bIns="0" rIns="0">
            <a:spAutoFit/>
          </a:bodyPr>
          <a:lstStyle/>
          <a:p>
            <a:pPr algn="l">
              <a:lnSpc>
                <a:spcPts val="2519"/>
              </a:lnSpc>
            </a:pPr>
            <a:r>
              <a:rPr lang="en-US" sz="2099">
                <a:solidFill>
                  <a:srgbClr val="4B5563"/>
                </a:solidFill>
                <a:latin typeface="Inter"/>
                <a:ea typeface="Inter"/>
                <a:cs typeface="Inter"/>
                <a:sym typeface="Inter"/>
              </a:rPr>
              <a:t>Aucun outil de recherche/filtrage</a:t>
            </a:r>
          </a:p>
        </p:txBody>
      </p:sp>
      <p:sp>
        <p:nvSpPr>
          <p:cNvPr name="AutoShape 69" id="69"/>
          <p:cNvSpPr/>
          <p:nvPr/>
        </p:nvSpPr>
        <p:spPr>
          <a:xfrm rot="7440">
            <a:off x="6893852" y="7106660"/>
            <a:ext cx="4410627" cy="0"/>
          </a:xfrm>
          <a:prstGeom prst="line">
            <a:avLst/>
          </a:prstGeom>
          <a:ln cap="rnd" w="9525">
            <a:solidFill>
              <a:srgbClr val="DBDBDB"/>
            </a:solidFill>
            <a:prstDash val="solid"/>
            <a:headEnd type="none" len="sm" w="sm"/>
            <a:tailEnd type="none" len="sm" w="sm"/>
          </a:ln>
        </p:spPr>
      </p:sp>
      <p:grpSp>
        <p:nvGrpSpPr>
          <p:cNvPr name="Group 70" id="70"/>
          <p:cNvGrpSpPr/>
          <p:nvPr/>
        </p:nvGrpSpPr>
        <p:grpSpPr>
          <a:xfrm rot="0">
            <a:off x="6903387" y="7378122"/>
            <a:ext cx="620840" cy="620840"/>
            <a:chOff x="0" y="0"/>
            <a:chExt cx="827786" cy="827786"/>
          </a:xfrm>
        </p:grpSpPr>
        <p:sp>
          <p:nvSpPr>
            <p:cNvPr name="Freeform 71" id="71"/>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DFDFDF"/>
            </a:solidFill>
          </p:spPr>
        </p:sp>
      </p:grpSp>
      <p:grpSp>
        <p:nvGrpSpPr>
          <p:cNvPr name="Group 72" id="72"/>
          <p:cNvGrpSpPr/>
          <p:nvPr/>
        </p:nvGrpSpPr>
        <p:grpSpPr>
          <a:xfrm rot="0">
            <a:off x="6961594" y="7414498"/>
            <a:ext cx="504444" cy="526266"/>
            <a:chOff x="0" y="0"/>
            <a:chExt cx="672592" cy="701688"/>
          </a:xfrm>
        </p:grpSpPr>
        <p:sp>
          <p:nvSpPr>
            <p:cNvPr name="Freeform 73" id="73"/>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74" id="74"/>
          <p:cNvGrpSpPr/>
          <p:nvPr/>
        </p:nvGrpSpPr>
        <p:grpSpPr>
          <a:xfrm rot="0">
            <a:off x="6961594" y="7393067"/>
            <a:ext cx="504444" cy="547697"/>
            <a:chOff x="0" y="0"/>
            <a:chExt cx="672592" cy="730263"/>
          </a:xfrm>
        </p:grpSpPr>
        <p:sp>
          <p:nvSpPr>
            <p:cNvPr name="Freeform 75" id="75"/>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76" id="76"/>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111C2B"/>
                  </a:solidFill>
                  <a:latin typeface="Bricolage Grotesque Bold"/>
                  <a:ea typeface="Bricolage Grotesque Bold"/>
                  <a:cs typeface="Bricolage Grotesque Bold"/>
                  <a:sym typeface="Bricolage Grotesque Bold"/>
                </a:rPr>
                <a:t>05</a:t>
              </a:r>
            </a:p>
          </p:txBody>
        </p:sp>
      </p:grpSp>
      <p:sp>
        <p:nvSpPr>
          <p:cNvPr name="TextBox 77" id="77"/>
          <p:cNvSpPr txBox="true"/>
          <p:nvPr/>
        </p:nvSpPr>
        <p:spPr>
          <a:xfrm rot="0">
            <a:off x="7773667" y="7562250"/>
            <a:ext cx="3529860" cy="628650"/>
          </a:xfrm>
          <a:prstGeom prst="rect">
            <a:avLst/>
          </a:prstGeom>
        </p:spPr>
        <p:txBody>
          <a:bodyPr anchor="t" rtlCol="false" tIns="0" lIns="0" bIns="0" rIns="0">
            <a:spAutoFit/>
          </a:bodyPr>
          <a:lstStyle/>
          <a:p>
            <a:pPr algn="l">
              <a:lnSpc>
                <a:spcPts val="2519"/>
              </a:lnSpc>
            </a:pPr>
            <a:r>
              <a:rPr lang="en-US" sz="2099">
                <a:solidFill>
                  <a:srgbClr val="4B5563"/>
                </a:solidFill>
                <a:latin typeface="Inter"/>
                <a:ea typeface="Inter"/>
                <a:cs typeface="Inter"/>
                <a:sym typeface="Inter"/>
              </a:rPr>
              <a:t>Profils dispersés, non structurés</a:t>
            </a:r>
          </a:p>
        </p:txBody>
      </p:sp>
      <p:sp>
        <p:nvSpPr>
          <p:cNvPr name="AutoShape 78" id="78"/>
          <p:cNvSpPr/>
          <p:nvPr/>
        </p:nvSpPr>
        <p:spPr>
          <a:xfrm rot="7440">
            <a:off x="6893852" y="8246659"/>
            <a:ext cx="4410627" cy="0"/>
          </a:xfrm>
          <a:prstGeom prst="line">
            <a:avLst/>
          </a:prstGeom>
          <a:ln cap="rnd" w="9525">
            <a:solidFill>
              <a:srgbClr val="DBDBDB"/>
            </a:solidFill>
            <a:prstDash val="solid"/>
            <a:headEnd type="none" len="sm" w="sm"/>
            <a:tailEnd type="none" len="sm" w="sm"/>
          </a:ln>
        </p:spPr>
      </p:sp>
      <p:grpSp>
        <p:nvGrpSpPr>
          <p:cNvPr name="Group 79" id="79"/>
          <p:cNvGrpSpPr/>
          <p:nvPr/>
        </p:nvGrpSpPr>
        <p:grpSpPr>
          <a:xfrm rot="0">
            <a:off x="6903387" y="8518122"/>
            <a:ext cx="620840" cy="620840"/>
            <a:chOff x="0" y="0"/>
            <a:chExt cx="827786" cy="827786"/>
          </a:xfrm>
        </p:grpSpPr>
        <p:sp>
          <p:nvSpPr>
            <p:cNvPr name="Freeform 80" id="80"/>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DFDFDF"/>
            </a:solidFill>
          </p:spPr>
        </p:sp>
      </p:grpSp>
      <p:grpSp>
        <p:nvGrpSpPr>
          <p:cNvPr name="Group 81" id="81"/>
          <p:cNvGrpSpPr/>
          <p:nvPr/>
        </p:nvGrpSpPr>
        <p:grpSpPr>
          <a:xfrm rot="0">
            <a:off x="6961594" y="8554507"/>
            <a:ext cx="504444" cy="526266"/>
            <a:chOff x="0" y="0"/>
            <a:chExt cx="672592" cy="701688"/>
          </a:xfrm>
        </p:grpSpPr>
        <p:sp>
          <p:nvSpPr>
            <p:cNvPr name="Freeform 82" id="82"/>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83" id="83"/>
          <p:cNvGrpSpPr/>
          <p:nvPr/>
        </p:nvGrpSpPr>
        <p:grpSpPr>
          <a:xfrm rot="0">
            <a:off x="6961594" y="8533076"/>
            <a:ext cx="504444" cy="547697"/>
            <a:chOff x="0" y="0"/>
            <a:chExt cx="672592" cy="730263"/>
          </a:xfrm>
        </p:grpSpPr>
        <p:sp>
          <p:nvSpPr>
            <p:cNvPr name="Freeform 84" id="84"/>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85" id="85"/>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111C2B"/>
                  </a:solidFill>
                  <a:latin typeface="Bricolage Grotesque Bold"/>
                  <a:ea typeface="Bricolage Grotesque Bold"/>
                  <a:cs typeface="Bricolage Grotesque Bold"/>
                  <a:sym typeface="Bricolage Grotesque Bold"/>
                </a:rPr>
                <a:t>06</a:t>
              </a:r>
            </a:p>
          </p:txBody>
        </p:sp>
      </p:grpSp>
      <p:sp>
        <p:nvSpPr>
          <p:cNvPr name="TextBox 86" id="86"/>
          <p:cNvSpPr txBox="true"/>
          <p:nvPr/>
        </p:nvSpPr>
        <p:spPr>
          <a:xfrm rot="0">
            <a:off x="7773667" y="8702250"/>
            <a:ext cx="3529860" cy="590550"/>
          </a:xfrm>
          <a:prstGeom prst="rect">
            <a:avLst/>
          </a:prstGeom>
        </p:spPr>
        <p:txBody>
          <a:bodyPr anchor="t" rtlCol="false" tIns="0" lIns="0" bIns="0" rIns="0">
            <a:spAutoFit/>
          </a:bodyPr>
          <a:lstStyle/>
          <a:p>
            <a:pPr algn="l">
              <a:lnSpc>
                <a:spcPts val="2398"/>
              </a:lnSpc>
            </a:pPr>
            <a:r>
              <a:rPr lang="en-US" sz="1998">
                <a:solidFill>
                  <a:srgbClr val="4B5563"/>
                </a:solidFill>
                <a:latin typeface="Inter"/>
                <a:ea typeface="Inter"/>
                <a:cs typeface="Inter"/>
                <a:sym typeface="Inter"/>
              </a:rPr>
              <a:t>Aucune traçabilité, conformité difficile à prouver</a:t>
            </a:r>
          </a:p>
        </p:txBody>
      </p:sp>
      <p:grpSp>
        <p:nvGrpSpPr>
          <p:cNvPr name="Group 87" id="87"/>
          <p:cNvGrpSpPr/>
          <p:nvPr/>
        </p:nvGrpSpPr>
        <p:grpSpPr>
          <a:xfrm rot="0">
            <a:off x="12641799" y="2815752"/>
            <a:ext cx="620840" cy="620840"/>
            <a:chOff x="0" y="0"/>
            <a:chExt cx="827786" cy="827786"/>
          </a:xfrm>
        </p:grpSpPr>
        <p:sp>
          <p:nvSpPr>
            <p:cNvPr name="Freeform 88" id="88"/>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FF681E"/>
            </a:solidFill>
          </p:spPr>
        </p:sp>
      </p:grpSp>
      <p:grpSp>
        <p:nvGrpSpPr>
          <p:cNvPr name="Group 89" id="89"/>
          <p:cNvGrpSpPr/>
          <p:nvPr/>
        </p:nvGrpSpPr>
        <p:grpSpPr>
          <a:xfrm rot="0">
            <a:off x="12699997" y="2852128"/>
            <a:ext cx="504444" cy="526266"/>
            <a:chOff x="0" y="0"/>
            <a:chExt cx="672592" cy="701688"/>
          </a:xfrm>
        </p:grpSpPr>
        <p:sp>
          <p:nvSpPr>
            <p:cNvPr name="Freeform 90" id="90"/>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91" id="91"/>
          <p:cNvGrpSpPr/>
          <p:nvPr/>
        </p:nvGrpSpPr>
        <p:grpSpPr>
          <a:xfrm rot="0">
            <a:off x="12699997" y="2830697"/>
            <a:ext cx="504444" cy="547697"/>
            <a:chOff x="0" y="0"/>
            <a:chExt cx="672592" cy="730263"/>
          </a:xfrm>
        </p:grpSpPr>
        <p:sp>
          <p:nvSpPr>
            <p:cNvPr name="Freeform 92" id="92"/>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93" id="93"/>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FFFFFF"/>
                  </a:solidFill>
                  <a:latin typeface="Bricolage Grotesque Bold"/>
                  <a:ea typeface="Bricolage Grotesque Bold"/>
                  <a:cs typeface="Bricolage Grotesque Bold"/>
                  <a:sym typeface="Bricolage Grotesque Bold"/>
                </a:rPr>
                <a:t>01</a:t>
              </a:r>
            </a:p>
          </p:txBody>
        </p:sp>
      </p:grpSp>
      <p:sp>
        <p:nvSpPr>
          <p:cNvPr name="TextBox 94" id="94"/>
          <p:cNvSpPr txBox="true"/>
          <p:nvPr/>
        </p:nvSpPr>
        <p:spPr>
          <a:xfrm rot="0">
            <a:off x="13512079" y="2999880"/>
            <a:ext cx="4259904" cy="628650"/>
          </a:xfrm>
          <a:prstGeom prst="rect">
            <a:avLst/>
          </a:prstGeom>
        </p:spPr>
        <p:txBody>
          <a:bodyPr anchor="t" rtlCol="false" tIns="0" lIns="0" bIns="0" rIns="0">
            <a:spAutoFit/>
          </a:bodyPr>
          <a:lstStyle/>
          <a:p>
            <a:pPr algn="l">
              <a:lnSpc>
                <a:spcPts val="2519"/>
              </a:lnSpc>
            </a:pPr>
            <a:r>
              <a:rPr lang="en-US" sz="2099" b="true">
                <a:solidFill>
                  <a:srgbClr val="111827"/>
                </a:solidFill>
                <a:latin typeface="Inter Bold"/>
                <a:ea typeface="Inter Bold"/>
                <a:cs typeface="Inter Bold"/>
                <a:sym typeface="Inter Bold"/>
              </a:rPr>
              <a:t>Traitement automatisé, &lt; 0.5s par CV en exécution chaude</a:t>
            </a:r>
          </a:p>
        </p:txBody>
      </p:sp>
      <p:sp>
        <p:nvSpPr>
          <p:cNvPr name="AutoShape 95" id="95"/>
          <p:cNvSpPr/>
          <p:nvPr/>
        </p:nvSpPr>
        <p:spPr>
          <a:xfrm rot="7440">
            <a:off x="12632255" y="3684289"/>
            <a:ext cx="4410627" cy="0"/>
          </a:xfrm>
          <a:prstGeom prst="line">
            <a:avLst/>
          </a:prstGeom>
          <a:ln cap="rnd" w="9525">
            <a:solidFill>
              <a:srgbClr val="DBDBDB"/>
            </a:solidFill>
            <a:prstDash val="solid"/>
            <a:headEnd type="none" len="sm" w="sm"/>
            <a:tailEnd type="none" len="sm" w="sm"/>
          </a:ln>
        </p:spPr>
      </p:sp>
      <p:grpSp>
        <p:nvGrpSpPr>
          <p:cNvPr name="Group 96" id="96"/>
          <p:cNvGrpSpPr/>
          <p:nvPr/>
        </p:nvGrpSpPr>
        <p:grpSpPr>
          <a:xfrm rot="0">
            <a:off x="12641799" y="3955752"/>
            <a:ext cx="620840" cy="620840"/>
            <a:chOff x="0" y="0"/>
            <a:chExt cx="827786" cy="827786"/>
          </a:xfrm>
        </p:grpSpPr>
        <p:sp>
          <p:nvSpPr>
            <p:cNvPr name="Freeform 97" id="97"/>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FF681E"/>
            </a:solidFill>
          </p:spPr>
        </p:sp>
      </p:grpSp>
      <p:grpSp>
        <p:nvGrpSpPr>
          <p:cNvPr name="Group 98" id="98"/>
          <p:cNvGrpSpPr/>
          <p:nvPr/>
        </p:nvGrpSpPr>
        <p:grpSpPr>
          <a:xfrm rot="0">
            <a:off x="12699997" y="3992128"/>
            <a:ext cx="504444" cy="526266"/>
            <a:chOff x="0" y="0"/>
            <a:chExt cx="672592" cy="701688"/>
          </a:xfrm>
        </p:grpSpPr>
        <p:sp>
          <p:nvSpPr>
            <p:cNvPr name="Freeform 99" id="99"/>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100" id="100"/>
          <p:cNvGrpSpPr/>
          <p:nvPr/>
        </p:nvGrpSpPr>
        <p:grpSpPr>
          <a:xfrm rot="0">
            <a:off x="12699997" y="3970696"/>
            <a:ext cx="504444" cy="547697"/>
            <a:chOff x="0" y="0"/>
            <a:chExt cx="672592" cy="730263"/>
          </a:xfrm>
        </p:grpSpPr>
        <p:sp>
          <p:nvSpPr>
            <p:cNvPr name="Freeform 101" id="101"/>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102" id="102"/>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FFFFFF"/>
                  </a:solidFill>
                  <a:latin typeface="Bricolage Grotesque Bold"/>
                  <a:ea typeface="Bricolage Grotesque Bold"/>
                  <a:cs typeface="Bricolage Grotesque Bold"/>
                  <a:sym typeface="Bricolage Grotesque Bold"/>
                </a:rPr>
                <a:t>02</a:t>
              </a:r>
            </a:p>
          </p:txBody>
        </p:sp>
      </p:grpSp>
      <p:sp>
        <p:nvSpPr>
          <p:cNvPr name="TextBox 103" id="103"/>
          <p:cNvSpPr txBox="true"/>
          <p:nvPr/>
        </p:nvSpPr>
        <p:spPr>
          <a:xfrm rot="0">
            <a:off x="13512079" y="3786130"/>
            <a:ext cx="4542511" cy="942975"/>
          </a:xfrm>
          <a:prstGeom prst="rect">
            <a:avLst/>
          </a:prstGeom>
        </p:spPr>
        <p:txBody>
          <a:bodyPr anchor="t" rtlCol="false" tIns="0" lIns="0" bIns="0" rIns="0">
            <a:spAutoFit/>
          </a:bodyPr>
          <a:lstStyle/>
          <a:p>
            <a:pPr algn="l">
              <a:lnSpc>
                <a:spcPts val="2519"/>
              </a:lnSpc>
            </a:pPr>
            <a:r>
              <a:rPr lang="en-US" sz="2099" b="true">
                <a:solidFill>
                  <a:srgbClr val="111827"/>
                </a:solidFill>
                <a:latin typeface="Inter Bold"/>
                <a:ea typeface="Inter Bold"/>
                <a:cs typeface="Inter Bold"/>
                <a:sym typeface="Inter Bold"/>
              </a:rPr>
              <a:t>Masquage déterministe systématique dès l'ingestion (SF-04)</a:t>
            </a:r>
          </a:p>
        </p:txBody>
      </p:sp>
      <p:sp>
        <p:nvSpPr>
          <p:cNvPr name="AutoShape 104" id="104"/>
          <p:cNvSpPr/>
          <p:nvPr/>
        </p:nvSpPr>
        <p:spPr>
          <a:xfrm rot="7440">
            <a:off x="12632255" y="4824298"/>
            <a:ext cx="4410627" cy="0"/>
          </a:xfrm>
          <a:prstGeom prst="line">
            <a:avLst/>
          </a:prstGeom>
          <a:ln cap="rnd" w="9525">
            <a:solidFill>
              <a:srgbClr val="DBDBDB"/>
            </a:solidFill>
            <a:prstDash val="solid"/>
            <a:headEnd type="none" len="sm" w="sm"/>
            <a:tailEnd type="none" len="sm" w="sm"/>
          </a:ln>
        </p:spPr>
      </p:sp>
      <p:grpSp>
        <p:nvGrpSpPr>
          <p:cNvPr name="Group 105" id="105"/>
          <p:cNvGrpSpPr/>
          <p:nvPr/>
        </p:nvGrpSpPr>
        <p:grpSpPr>
          <a:xfrm rot="0">
            <a:off x="12641799" y="5095761"/>
            <a:ext cx="620840" cy="620840"/>
            <a:chOff x="0" y="0"/>
            <a:chExt cx="827786" cy="827786"/>
          </a:xfrm>
        </p:grpSpPr>
        <p:sp>
          <p:nvSpPr>
            <p:cNvPr name="Freeform 106" id="106"/>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FF681E"/>
            </a:solidFill>
          </p:spPr>
        </p:sp>
      </p:grpSp>
      <p:grpSp>
        <p:nvGrpSpPr>
          <p:cNvPr name="Group 107" id="107"/>
          <p:cNvGrpSpPr/>
          <p:nvPr/>
        </p:nvGrpSpPr>
        <p:grpSpPr>
          <a:xfrm rot="0">
            <a:off x="12699997" y="5132137"/>
            <a:ext cx="504444" cy="526266"/>
            <a:chOff x="0" y="0"/>
            <a:chExt cx="672592" cy="701688"/>
          </a:xfrm>
        </p:grpSpPr>
        <p:sp>
          <p:nvSpPr>
            <p:cNvPr name="Freeform 108" id="108"/>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109" id="109"/>
          <p:cNvGrpSpPr/>
          <p:nvPr/>
        </p:nvGrpSpPr>
        <p:grpSpPr>
          <a:xfrm rot="0">
            <a:off x="12699997" y="5110705"/>
            <a:ext cx="504444" cy="547697"/>
            <a:chOff x="0" y="0"/>
            <a:chExt cx="672592" cy="730263"/>
          </a:xfrm>
        </p:grpSpPr>
        <p:sp>
          <p:nvSpPr>
            <p:cNvPr name="Freeform 110" id="110"/>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111" id="111"/>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FFFFFF"/>
                  </a:solidFill>
                  <a:latin typeface="Bricolage Grotesque Bold"/>
                  <a:ea typeface="Bricolage Grotesque Bold"/>
                  <a:cs typeface="Bricolage Grotesque Bold"/>
                  <a:sym typeface="Bricolage Grotesque Bold"/>
                </a:rPr>
                <a:t>03</a:t>
              </a:r>
            </a:p>
          </p:txBody>
        </p:sp>
      </p:grpSp>
      <p:sp>
        <p:nvSpPr>
          <p:cNvPr name="TextBox 112" id="112"/>
          <p:cNvSpPr txBox="true"/>
          <p:nvPr/>
        </p:nvSpPr>
        <p:spPr>
          <a:xfrm rot="0">
            <a:off x="13512079" y="5279879"/>
            <a:ext cx="3529860" cy="628650"/>
          </a:xfrm>
          <a:prstGeom prst="rect">
            <a:avLst/>
          </a:prstGeom>
        </p:spPr>
        <p:txBody>
          <a:bodyPr anchor="t" rtlCol="false" tIns="0" lIns="0" bIns="0" rIns="0">
            <a:spAutoFit/>
          </a:bodyPr>
          <a:lstStyle/>
          <a:p>
            <a:pPr algn="l">
              <a:lnSpc>
                <a:spcPts val="2519"/>
              </a:lnSpc>
            </a:pPr>
            <a:r>
              <a:rPr lang="en-US" sz="2099" b="true">
                <a:solidFill>
                  <a:srgbClr val="111827"/>
                </a:solidFill>
                <a:latin typeface="Inter Bold"/>
                <a:ea typeface="Inter Bold"/>
                <a:cs typeface="Inter Bold"/>
                <a:sym typeface="Inter Bold"/>
              </a:rPr>
              <a:t>Extraction NER à 94.2% de précision</a:t>
            </a:r>
          </a:p>
        </p:txBody>
      </p:sp>
      <p:sp>
        <p:nvSpPr>
          <p:cNvPr name="AutoShape 113" id="113"/>
          <p:cNvSpPr/>
          <p:nvPr/>
        </p:nvSpPr>
        <p:spPr>
          <a:xfrm rot="7440">
            <a:off x="12632255" y="5964298"/>
            <a:ext cx="4410627" cy="0"/>
          </a:xfrm>
          <a:prstGeom prst="line">
            <a:avLst/>
          </a:prstGeom>
          <a:ln cap="rnd" w="9525">
            <a:solidFill>
              <a:srgbClr val="DBDBDB"/>
            </a:solidFill>
            <a:prstDash val="solid"/>
            <a:headEnd type="none" len="sm" w="sm"/>
            <a:tailEnd type="none" len="sm" w="sm"/>
          </a:ln>
        </p:spPr>
      </p:sp>
      <p:grpSp>
        <p:nvGrpSpPr>
          <p:cNvPr name="Group 114" id="114"/>
          <p:cNvGrpSpPr/>
          <p:nvPr/>
        </p:nvGrpSpPr>
        <p:grpSpPr>
          <a:xfrm rot="0">
            <a:off x="12641799" y="6235760"/>
            <a:ext cx="620840" cy="620840"/>
            <a:chOff x="0" y="0"/>
            <a:chExt cx="827786" cy="827786"/>
          </a:xfrm>
        </p:grpSpPr>
        <p:sp>
          <p:nvSpPr>
            <p:cNvPr name="Freeform 115" id="115"/>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FF681E"/>
            </a:solidFill>
          </p:spPr>
        </p:sp>
      </p:grpSp>
      <p:grpSp>
        <p:nvGrpSpPr>
          <p:cNvPr name="Group 116" id="116"/>
          <p:cNvGrpSpPr/>
          <p:nvPr/>
        </p:nvGrpSpPr>
        <p:grpSpPr>
          <a:xfrm rot="0">
            <a:off x="12699997" y="6272136"/>
            <a:ext cx="504444" cy="526266"/>
            <a:chOff x="0" y="0"/>
            <a:chExt cx="672592" cy="701688"/>
          </a:xfrm>
        </p:grpSpPr>
        <p:sp>
          <p:nvSpPr>
            <p:cNvPr name="Freeform 117" id="117"/>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118" id="118"/>
          <p:cNvGrpSpPr/>
          <p:nvPr/>
        </p:nvGrpSpPr>
        <p:grpSpPr>
          <a:xfrm rot="0">
            <a:off x="12699997" y="6250705"/>
            <a:ext cx="504444" cy="547697"/>
            <a:chOff x="0" y="0"/>
            <a:chExt cx="672592" cy="730263"/>
          </a:xfrm>
        </p:grpSpPr>
        <p:sp>
          <p:nvSpPr>
            <p:cNvPr name="Freeform 119" id="119"/>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120" id="120"/>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FFFFFF"/>
                  </a:solidFill>
                  <a:latin typeface="Bricolage Grotesque Bold"/>
                  <a:ea typeface="Bricolage Grotesque Bold"/>
                  <a:cs typeface="Bricolage Grotesque Bold"/>
                  <a:sym typeface="Bricolage Grotesque Bold"/>
                </a:rPr>
                <a:t>04</a:t>
              </a:r>
            </a:p>
          </p:txBody>
        </p:sp>
      </p:grpSp>
      <p:sp>
        <p:nvSpPr>
          <p:cNvPr name="TextBox 121" id="121"/>
          <p:cNvSpPr txBox="true"/>
          <p:nvPr/>
        </p:nvSpPr>
        <p:spPr>
          <a:xfrm rot="0">
            <a:off x="13480323" y="6274498"/>
            <a:ext cx="4775921" cy="942975"/>
          </a:xfrm>
          <a:prstGeom prst="rect">
            <a:avLst/>
          </a:prstGeom>
        </p:spPr>
        <p:txBody>
          <a:bodyPr anchor="t" rtlCol="false" tIns="0" lIns="0" bIns="0" rIns="0">
            <a:spAutoFit/>
          </a:bodyPr>
          <a:lstStyle/>
          <a:p>
            <a:pPr algn="l">
              <a:lnSpc>
                <a:spcPts val="2519"/>
              </a:lnSpc>
            </a:pPr>
            <a:r>
              <a:rPr lang="en-US" sz="2099" b="true">
                <a:solidFill>
                  <a:srgbClr val="111827"/>
                </a:solidFill>
                <a:latin typeface="Inter Bold"/>
                <a:ea typeface="Inter Bold"/>
                <a:cs typeface="Inter Bold"/>
                <a:sym typeface="Inter Bold"/>
              </a:rPr>
              <a:t>Recherche SQL multicritères — compétences, expérience, langue (SF-10)</a:t>
            </a:r>
          </a:p>
        </p:txBody>
      </p:sp>
      <p:sp>
        <p:nvSpPr>
          <p:cNvPr name="AutoShape 122" id="122"/>
          <p:cNvSpPr/>
          <p:nvPr/>
        </p:nvSpPr>
        <p:spPr>
          <a:xfrm rot="7440">
            <a:off x="12632255" y="7104297"/>
            <a:ext cx="4410627" cy="0"/>
          </a:xfrm>
          <a:prstGeom prst="line">
            <a:avLst/>
          </a:prstGeom>
          <a:ln cap="rnd" w="9525">
            <a:solidFill>
              <a:srgbClr val="DBDBDB"/>
            </a:solidFill>
            <a:prstDash val="solid"/>
            <a:headEnd type="none" len="sm" w="sm"/>
            <a:tailEnd type="none" len="sm" w="sm"/>
          </a:ln>
        </p:spPr>
      </p:sp>
      <p:grpSp>
        <p:nvGrpSpPr>
          <p:cNvPr name="Group 123" id="123"/>
          <p:cNvGrpSpPr/>
          <p:nvPr/>
        </p:nvGrpSpPr>
        <p:grpSpPr>
          <a:xfrm rot="0">
            <a:off x="12641799" y="7375760"/>
            <a:ext cx="620840" cy="620840"/>
            <a:chOff x="0" y="0"/>
            <a:chExt cx="827786" cy="827786"/>
          </a:xfrm>
        </p:grpSpPr>
        <p:sp>
          <p:nvSpPr>
            <p:cNvPr name="Freeform 124" id="124"/>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FF681E"/>
            </a:solidFill>
          </p:spPr>
        </p:sp>
      </p:grpSp>
      <p:grpSp>
        <p:nvGrpSpPr>
          <p:cNvPr name="Group 125" id="125"/>
          <p:cNvGrpSpPr/>
          <p:nvPr/>
        </p:nvGrpSpPr>
        <p:grpSpPr>
          <a:xfrm rot="0">
            <a:off x="12699997" y="7412136"/>
            <a:ext cx="504444" cy="526266"/>
            <a:chOff x="0" y="0"/>
            <a:chExt cx="672592" cy="701688"/>
          </a:xfrm>
        </p:grpSpPr>
        <p:sp>
          <p:nvSpPr>
            <p:cNvPr name="Freeform 126" id="126"/>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127" id="127"/>
          <p:cNvGrpSpPr/>
          <p:nvPr/>
        </p:nvGrpSpPr>
        <p:grpSpPr>
          <a:xfrm rot="0">
            <a:off x="12699997" y="7390705"/>
            <a:ext cx="504444" cy="547697"/>
            <a:chOff x="0" y="0"/>
            <a:chExt cx="672592" cy="730263"/>
          </a:xfrm>
        </p:grpSpPr>
        <p:sp>
          <p:nvSpPr>
            <p:cNvPr name="Freeform 128" id="128"/>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129" id="129"/>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FFFFFF"/>
                  </a:solidFill>
                  <a:latin typeface="Bricolage Grotesque Bold"/>
                  <a:ea typeface="Bricolage Grotesque Bold"/>
                  <a:cs typeface="Bricolage Grotesque Bold"/>
                  <a:sym typeface="Bricolage Grotesque Bold"/>
                </a:rPr>
                <a:t>05</a:t>
              </a:r>
            </a:p>
          </p:txBody>
        </p:sp>
      </p:grpSp>
      <p:sp>
        <p:nvSpPr>
          <p:cNvPr name="TextBox 130" id="130"/>
          <p:cNvSpPr txBox="true"/>
          <p:nvPr/>
        </p:nvSpPr>
        <p:spPr>
          <a:xfrm rot="0">
            <a:off x="13512079" y="7559888"/>
            <a:ext cx="4744164" cy="628650"/>
          </a:xfrm>
          <a:prstGeom prst="rect">
            <a:avLst/>
          </a:prstGeom>
        </p:spPr>
        <p:txBody>
          <a:bodyPr anchor="t" rtlCol="false" tIns="0" lIns="0" bIns="0" rIns="0">
            <a:spAutoFit/>
          </a:bodyPr>
          <a:lstStyle/>
          <a:p>
            <a:pPr algn="l">
              <a:lnSpc>
                <a:spcPts val="2519"/>
              </a:lnSpc>
            </a:pPr>
            <a:r>
              <a:rPr lang="en-US" sz="2099" b="true">
                <a:solidFill>
                  <a:srgbClr val="111827"/>
                </a:solidFill>
                <a:latin typeface="Inter Bold"/>
                <a:ea typeface="Inter Bold"/>
                <a:cs typeface="Inter Bold"/>
                <a:sym typeface="Inter Bold"/>
              </a:rPr>
              <a:t>Stockage centralisé PostgreSQL, schéma JSON validé</a:t>
            </a:r>
          </a:p>
        </p:txBody>
      </p:sp>
      <p:sp>
        <p:nvSpPr>
          <p:cNvPr name="AutoShape 131" id="131"/>
          <p:cNvSpPr/>
          <p:nvPr/>
        </p:nvSpPr>
        <p:spPr>
          <a:xfrm rot="7440">
            <a:off x="12632255" y="8244307"/>
            <a:ext cx="4410627" cy="0"/>
          </a:xfrm>
          <a:prstGeom prst="line">
            <a:avLst/>
          </a:prstGeom>
          <a:ln cap="rnd" w="9525">
            <a:solidFill>
              <a:srgbClr val="DBDBDB"/>
            </a:solidFill>
            <a:prstDash val="solid"/>
            <a:headEnd type="none" len="sm" w="sm"/>
            <a:tailEnd type="none" len="sm" w="sm"/>
          </a:ln>
        </p:spPr>
      </p:sp>
      <p:grpSp>
        <p:nvGrpSpPr>
          <p:cNvPr name="Group 132" id="132"/>
          <p:cNvGrpSpPr/>
          <p:nvPr/>
        </p:nvGrpSpPr>
        <p:grpSpPr>
          <a:xfrm rot="0">
            <a:off x="12641799" y="8515769"/>
            <a:ext cx="620840" cy="620840"/>
            <a:chOff x="0" y="0"/>
            <a:chExt cx="827786" cy="827786"/>
          </a:xfrm>
        </p:grpSpPr>
        <p:sp>
          <p:nvSpPr>
            <p:cNvPr name="Freeform 133" id="133"/>
            <p:cNvSpPr/>
            <p:nvPr/>
          </p:nvSpPr>
          <p:spPr>
            <a:xfrm flipH="false" flipV="false" rot="0">
              <a:off x="0" y="0"/>
              <a:ext cx="827786" cy="827786"/>
            </a:xfrm>
            <a:custGeom>
              <a:avLst/>
              <a:gdLst/>
              <a:ahLst/>
              <a:cxnLst/>
              <a:rect r="r" b="b" t="t" l="l"/>
              <a:pathLst>
                <a:path h="827786" w="827786">
                  <a:moveTo>
                    <a:pt x="413893" y="0"/>
                  </a:moveTo>
                  <a:cubicBezTo>
                    <a:pt x="185293" y="0"/>
                    <a:pt x="0" y="185293"/>
                    <a:pt x="0" y="413893"/>
                  </a:cubicBezTo>
                  <a:cubicBezTo>
                    <a:pt x="0" y="642493"/>
                    <a:pt x="185293" y="827786"/>
                    <a:pt x="413893" y="827786"/>
                  </a:cubicBezTo>
                  <a:cubicBezTo>
                    <a:pt x="642493" y="827786"/>
                    <a:pt x="827786" y="642493"/>
                    <a:pt x="827786" y="413893"/>
                  </a:cubicBezTo>
                  <a:cubicBezTo>
                    <a:pt x="827786" y="185293"/>
                    <a:pt x="642493" y="0"/>
                    <a:pt x="413893" y="0"/>
                  </a:cubicBezTo>
                  <a:close/>
                </a:path>
              </a:pathLst>
            </a:custGeom>
            <a:solidFill>
              <a:srgbClr val="FF681E"/>
            </a:solidFill>
          </p:spPr>
        </p:sp>
      </p:grpSp>
      <p:grpSp>
        <p:nvGrpSpPr>
          <p:cNvPr name="Group 134" id="134"/>
          <p:cNvGrpSpPr/>
          <p:nvPr/>
        </p:nvGrpSpPr>
        <p:grpSpPr>
          <a:xfrm rot="0">
            <a:off x="12699997" y="8552145"/>
            <a:ext cx="504444" cy="526266"/>
            <a:chOff x="0" y="0"/>
            <a:chExt cx="672592" cy="701688"/>
          </a:xfrm>
        </p:grpSpPr>
        <p:sp>
          <p:nvSpPr>
            <p:cNvPr name="Freeform 135" id="135"/>
            <p:cNvSpPr/>
            <p:nvPr/>
          </p:nvSpPr>
          <p:spPr>
            <a:xfrm flipH="false" flipV="false" rot="0">
              <a:off x="0" y="0"/>
              <a:ext cx="672592" cy="701675"/>
            </a:xfrm>
            <a:custGeom>
              <a:avLst/>
              <a:gdLst/>
              <a:ahLst/>
              <a:cxnLst/>
              <a:rect r="r" b="b" t="t" l="l"/>
              <a:pathLst>
                <a:path h="701675" w="672592">
                  <a:moveTo>
                    <a:pt x="0" y="0"/>
                  </a:moveTo>
                  <a:lnTo>
                    <a:pt x="672592" y="0"/>
                  </a:lnTo>
                  <a:lnTo>
                    <a:pt x="672592" y="701675"/>
                  </a:lnTo>
                  <a:lnTo>
                    <a:pt x="0" y="701675"/>
                  </a:lnTo>
                  <a:close/>
                </a:path>
              </a:pathLst>
            </a:custGeom>
            <a:blipFill>
              <a:blip r:embed="rId14">
                <a:alphaModFix amt="0"/>
              </a:blip>
              <a:stretch>
                <a:fillRect l="-83948" t="0" r="-83946" b="-1"/>
              </a:stretch>
            </a:blipFill>
          </p:spPr>
        </p:sp>
      </p:grpSp>
      <p:grpSp>
        <p:nvGrpSpPr>
          <p:cNvPr name="Group 136" id="136"/>
          <p:cNvGrpSpPr/>
          <p:nvPr/>
        </p:nvGrpSpPr>
        <p:grpSpPr>
          <a:xfrm rot="0">
            <a:off x="12699997" y="8530714"/>
            <a:ext cx="504444" cy="547697"/>
            <a:chOff x="0" y="0"/>
            <a:chExt cx="672592" cy="730263"/>
          </a:xfrm>
        </p:grpSpPr>
        <p:sp>
          <p:nvSpPr>
            <p:cNvPr name="Freeform 137" id="137"/>
            <p:cNvSpPr/>
            <p:nvPr/>
          </p:nvSpPr>
          <p:spPr>
            <a:xfrm flipH="false" flipV="false" rot="0">
              <a:off x="0" y="0"/>
              <a:ext cx="672592" cy="730263"/>
            </a:xfrm>
            <a:custGeom>
              <a:avLst/>
              <a:gdLst/>
              <a:ahLst/>
              <a:cxnLst/>
              <a:rect r="r" b="b" t="t" l="l"/>
              <a:pathLst>
                <a:path h="730263" w="672592">
                  <a:moveTo>
                    <a:pt x="0" y="0"/>
                  </a:moveTo>
                  <a:lnTo>
                    <a:pt x="672592" y="0"/>
                  </a:lnTo>
                  <a:lnTo>
                    <a:pt x="672592" y="730263"/>
                  </a:lnTo>
                  <a:lnTo>
                    <a:pt x="0" y="730263"/>
                  </a:lnTo>
                  <a:close/>
                </a:path>
              </a:pathLst>
            </a:custGeom>
            <a:blipFill>
              <a:blip r:embed="rId15">
                <a:alphaModFix amt="0"/>
              </a:blip>
              <a:stretch>
                <a:fillRect l="-89304" t="0" r="-89304" b="0"/>
              </a:stretch>
            </a:blipFill>
          </p:spPr>
        </p:sp>
        <p:sp>
          <p:nvSpPr>
            <p:cNvPr name="TextBox 138" id="138"/>
            <p:cNvSpPr txBox="true"/>
            <p:nvPr/>
          </p:nvSpPr>
          <p:spPr>
            <a:xfrm>
              <a:off x="0" y="-28575"/>
              <a:ext cx="672592" cy="758838"/>
            </a:xfrm>
            <a:prstGeom prst="rect">
              <a:avLst/>
            </a:prstGeom>
          </p:spPr>
          <p:txBody>
            <a:bodyPr anchor="ctr" rtlCol="false" tIns="0" lIns="0" bIns="0" rIns="0"/>
            <a:lstStyle/>
            <a:p>
              <a:pPr algn="ctr">
                <a:lnSpc>
                  <a:spcPts val="2210"/>
                </a:lnSpc>
              </a:pPr>
              <a:r>
                <a:rPr lang="en-US" b="true" sz="1700" spc="-17">
                  <a:solidFill>
                    <a:srgbClr val="FFFFFF"/>
                  </a:solidFill>
                  <a:latin typeface="Bricolage Grotesque Bold"/>
                  <a:ea typeface="Bricolage Grotesque Bold"/>
                  <a:cs typeface="Bricolage Grotesque Bold"/>
                  <a:sym typeface="Bricolage Grotesque Bold"/>
                </a:rPr>
                <a:t>06</a:t>
              </a:r>
            </a:p>
          </p:txBody>
        </p:sp>
      </p:grpSp>
      <p:sp>
        <p:nvSpPr>
          <p:cNvPr name="TextBox 139" id="139"/>
          <p:cNvSpPr txBox="true"/>
          <p:nvPr/>
        </p:nvSpPr>
        <p:spPr>
          <a:xfrm rot="0">
            <a:off x="13512079" y="8699887"/>
            <a:ext cx="3529860" cy="628650"/>
          </a:xfrm>
          <a:prstGeom prst="rect">
            <a:avLst/>
          </a:prstGeom>
        </p:spPr>
        <p:txBody>
          <a:bodyPr anchor="t" rtlCol="false" tIns="0" lIns="0" bIns="0" rIns="0">
            <a:spAutoFit/>
          </a:bodyPr>
          <a:lstStyle/>
          <a:p>
            <a:pPr algn="l">
              <a:lnSpc>
                <a:spcPts val="2519"/>
              </a:lnSpc>
            </a:pPr>
            <a:r>
              <a:rPr lang="en-US" sz="2099" b="true">
                <a:solidFill>
                  <a:srgbClr val="111827"/>
                </a:solidFill>
                <a:latin typeface="Inter Bold"/>
                <a:ea typeface="Inter Bold"/>
                <a:cs typeface="Inter Bold"/>
                <a:sym typeface="Inter Bold"/>
              </a:rPr>
              <a:t>Logs zéro-PII, security gate audité</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933112" y="846982"/>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5138576" y="846982"/>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5344030" y="846982"/>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AutoShape 6" id="6"/>
          <p:cNvSpPr/>
          <p:nvPr/>
        </p:nvSpPr>
        <p:spPr>
          <a:xfrm>
            <a:off x="-6234981" y="4333989"/>
            <a:ext cx="11296546" cy="0"/>
          </a:xfrm>
          <a:prstGeom prst="line">
            <a:avLst/>
          </a:prstGeom>
          <a:ln cap="rnd" w="47625">
            <a:solidFill>
              <a:srgbClr val="FF5300"/>
            </a:solidFill>
            <a:prstDash val="solid"/>
            <a:headEnd type="none" len="sm" w="sm"/>
            <a:tailEnd type="none" len="sm" w="sm"/>
          </a:ln>
        </p:spPr>
      </p:sp>
      <p:sp>
        <p:nvSpPr>
          <p:cNvPr name="Freeform 7" id="7"/>
          <p:cNvSpPr/>
          <p:nvPr/>
        </p:nvSpPr>
        <p:spPr>
          <a:xfrm flipH="false" flipV="false" rot="0">
            <a:off x="-724033" y="6941849"/>
            <a:ext cx="5915463" cy="4162301"/>
          </a:xfrm>
          <a:custGeom>
            <a:avLst/>
            <a:gdLst/>
            <a:ahLst/>
            <a:cxnLst/>
            <a:rect r="r" b="b" t="t" l="l"/>
            <a:pathLst>
              <a:path h="4162301" w="5915463">
                <a:moveTo>
                  <a:pt x="0" y="0"/>
                </a:moveTo>
                <a:lnTo>
                  <a:pt x="5915463" y="0"/>
                </a:lnTo>
                <a:lnTo>
                  <a:pt x="5915463" y="4162301"/>
                </a:lnTo>
                <a:lnTo>
                  <a:pt x="0" y="4162301"/>
                </a:lnTo>
                <a:lnTo>
                  <a:pt x="0" y="0"/>
                </a:lnTo>
                <a:close/>
              </a:path>
            </a:pathLst>
          </a:custGeom>
          <a:blipFill>
            <a:blip r:embed="rId6">
              <a:extLst>
                <a:ext uri="{96DAC541-7B7A-43D3-8B79-37D633B846F1}">
                  <asvg:svgBlip xmlns:asvg="http://schemas.microsoft.com/office/drawing/2016/SVG/main" r:embed="rId7"/>
                </a:ext>
              </a:extLst>
            </a:blip>
            <a:stretch>
              <a:fillRect l="-75" t="0" r="-75" b="0"/>
            </a:stretch>
          </a:blipFill>
        </p:spPr>
      </p:sp>
      <p:sp>
        <p:nvSpPr>
          <p:cNvPr name="Freeform 8" id="8"/>
          <p:cNvSpPr/>
          <p:nvPr/>
        </p:nvSpPr>
        <p:spPr>
          <a:xfrm flipH="false" flipV="false" rot="0">
            <a:off x="5894956" y="7754884"/>
            <a:ext cx="11734562" cy="1885474"/>
          </a:xfrm>
          <a:custGeom>
            <a:avLst/>
            <a:gdLst/>
            <a:ahLst/>
            <a:cxnLst/>
            <a:rect r="r" b="b" t="t" l="l"/>
            <a:pathLst>
              <a:path h="1885474" w="11734562">
                <a:moveTo>
                  <a:pt x="0" y="0"/>
                </a:moveTo>
                <a:lnTo>
                  <a:pt x="11734562" y="0"/>
                </a:lnTo>
                <a:lnTo>
                  <a:pt x="11734562" y="1885473"/>
                </a:lnTo>
                <a:lnTo>
                  <a:pt x="0" y="1885473"/>
                </a:lnTo>
                <a:lnTo>
                  <a:pt x="0" y="0"/>
                </a:lnTo>
                <a:close/>
              </a:path>
            </a:pathLst>
          </a:custGeom>
          <a:blipFill>
            <a:blip r:embed="rId8">
              <a:extLst>
                <a:ext uri="{96DAC541-7B7A-43D3-8B79-37D633B846F1}">
                  <asvg:svgBlip xmlns:asvg="http://schemas.microsoft.com/office/drawing/2016/SVG/main" r:embed="rId9"/>
                </a:ext>
              </a:extLst>
            </a:blip>
            <a:stretch>
              <a:fillRect l="0" t="-11" r="0" b="-11"/>
            </a:stretch>
          </a:blipFill>
        </p:spPr>
      </p:sp>
      <p:sp>
        <p:nvSpPr>
          <p:cNvPr name="Freeform 9" id="9"/>
          <p:cNvSpPr/>
          <p:nvPr/>
        </p:nvSpPr>
        <p:spPr>
          <a:xfrm flipH="false" flipV="false" rot="0">
            <a:off x="828542" y="7519397"/>
            <a:ext cx="896979" cy="896979"/>
          </a:xfrm>
          <a:custGeom>
            <a:avLst/>
            <a:gdLst/>
            <a:ahLst/>
            <a:cxnLst/>
            <a:rect r="r" b="b" t="t" l="l"/>
            <a:pathLst>
              <a:path h="896979" w="896979">
                <a:moveTo>
                  <a:pt x="0" y="0"/>
                </a:moveTo>
                <a:lnTo>
                  <a:pt x="896978" y="0"/>
                </a:lnTo>
                <a:lnTo>
                  <a:pt x="896978" y="896979"/>
                </a:lnTo>
                <a:lnTo>
                  <a:pt x="0" y="8969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54427" y="7788697"/>
            <a:ext cx="445208" cy="358397"/>
          </a:xfrm>
          <a:custGeom>
            <a:avLst/>
            <a:gdLst/>
            <a:ahLst/>
            <a:cxnLst/>
            <a:rect r="r" b="b" t="t" l="l"/>
            <a:pathLst>
              <a:path h="358397" w="445208">
                <a:moveTo>
                  <a:pt x="0" y="0"/>
                </a:moveTo>
                <a:lnTo>
                  <a:pt x="445208" y="0"/>
                </a:lnTo>
                <a:lnTo>
                  <a:pt x="445208" y="358397"/>
                </a:lnTo>
                <a:lnTo>
                  <a:pt x="0" y="358397"/>
                </a:lnTo>
                <a:lnTo>
                  <a:pt x="0" y="0"/>
                </a:lnTo>
                <a:close/>
              </a:path>
            </a:pathLst>
          </a:custGeom>
          <a:blipFill>
            <a:blip r:embed="rId12">
              <a:extLst>
                <a:ext uri="{96DAC541-7B7A-43D3-8B79-37D633B846F1}">
                  <asvg:svgBlip xmlns:asvg="http://schemas.microsoft.com/office/drawing/2016/SVG/main" r:embed="rId13"/>
                </a:ext>
              </a:extLst>
            </a:blip>
            <a:stretch>
              <a:fillRect l="0" t="-217" r="0" b="-217"/>
            </a:stretch>
          </a:blipFill>
        </p:spPr>
      </p:sp>
      <p:sp>
        <p:nvSpPr>
          <p:cNvPr name="Freeform 11" id="11"/>
          <p:cNvSpPr/>
          <p:nvPr/>
        </p:nvSpPr>
        <p:spPr>
          <a:xfrm flipH="false" flipV="false" rot="0">
            <a:off x="6367148" y="8291998"/>
            <a:ext cx="542468" cy="416347"/>
          </a:xfrm>
          <a:custGeom>
            <a:avLst/>
            <a:gdLst/>
            <a:ahLst/>
            <a:cxnLst/>
            <a:rect r="r" b="b" t="t" l="l"/>
            <a:pathLst>
              <a:path h="416347" w="542468">
                <a:moveTo>
                  <a:pt x="0" y="0"/>
                </a:moveTo>
                <a:lnTo>
                  <a:pt x="542468" y="0"/>
                </a:lnTo>
                <a:lnTo>
                  <a:pt x="542468" y="416348"/>
                </a:lnTo>
                <a:lnTo>
                  <a:pt x="0" y="416348"/>
                </a:lnTo>
                <a:lnTo>
                  <a:pt x="0" y="0"/>
                </a:lnTo>
                <a:close/>
              </a:path>
            </a:pathLst>
          </a:custGeom>
          <a:blipFill>
            <a:blip r:embed="rId14">
              <a:extLst>
                <a:ext uri="{96DAC541-7B7A-43D3-8B79-37D633B846F1}">
                  <asvg:svgBlip xmlns:asvg="http://schemas.microsoft.com/office/drawing/2016/SVG/main" r:embed="rId15"/>
                </a:ext>
              </a:extLst>
            </a:blip>
            <a:stretch>
              <a:fillRect l="0" t="-288" r="0" b="-288"/>
            </a:stretch>
          </a:blipFill>
        </p:spPr>
      </p:sp>
      <p:sp>
        <p:nvSpPr>
          <p:cNvPr name="AutoShape 12" id="12"/>
          <p:cNvSpPr/>
          <p:nvPr/>
        </p:nvSpPr>
        <p:spPr>
          <a:xfrm rot="54660">
            <a:off x="13053212" y="8723776"/>
            <a:ext cx="1197635" cy="0"/>
          </a:xfrm>
          <a:prstGeom prst="line">
            <a:avLst/>
          </a:prstGeom>
          <a:ln cap="rnd" w="19050">
            <a:solidFill>
              <a:srgbClr val="DFDFDF"/>
            </a:solidFill>
            <a:prstDash val="solid"/>
            <a:headEnd type="none" len="sm" w="sm"/>
            <a:tailEnd type="none" len="sm" w="sm"/>
          </a:ln>
        </p:spPr>
      </p:sp>
      <p:grpSp>
        <p:nvGrpSpPr>
          <p:cNvPr name="Group 13" id="13"/>
          <p:cNvGrpSpPr/>
          <p:nvPr/>
        </p:nvGrpSpPr>
        <p:grpSpPr>
          <a:xfrm rot="0">
            <a:off x="14038097" y="8197091"/>
            <a:ext cx="1091565" cy="1091565"/>
            <a:chOff x="0" y="0"/>
            <a:chExt cx="1455420" cy="1455420"/>
          </a:xfrm>
        </p:grpSpPr>
        <p:sp>
          <p:nvSpPr>
            <p:cNvPr name="Freeform 14" id="14"/>
            <p:cNvSpPr/>
            <p:nvPr/>
          </p:nvSpPr>
          <p:spPr>
            <a:xfrm flipH="false" flipV="false" rot="0">
              <a:off x="0" y="0"/>
              <a:ext cx="1455420" cy="1455420"/>
            </a:xfrm>
            <a:custGeom>
              <a:avLst/>
              <a:gdLst/>
              <a:ahLst/>
              <a:cxnLst/>
              <a:rect r="r" b="b" t="t" l="l"/>
              <a:pathLst>
                <a:path h="1455420" w="1455420">
                  <a:moveTo>
                    <a:pt x="727710" y="0"/>
                  </a:moveTo>
                  <a:cubicBezTo>
                    <a:pt x="325755" y="0"/>
                    <a:pt x="0" y="325755"/>
                    <a:pt x="0" y="727710"/>
                  </a:cubicBezTo>
                  <a:cubicBezTo>
                    <a:pt x="0" y="1129665"/>
                    <a:pt x="325755" y="1455420"/>
                    <a:pt x="727710" y="1455420"/>
                  </a:cubicBezTo>
                  <a:cubicBezTo>
                    <a:pt x="1129665" y="1455420"/>
                    <a:pt x="1455420" y="1129665"/>
                    <a:pt x="1455420" y="727710"/>
                  </a:cubicBezTo>
                  <a:cubicBezTo>
                    <a:pt x="1455420" y="325755"/>
                    <a:pt x="1129538" y="0"/>
                    <a:pt x="727710" y="0"/>
                  </a:cubicBezTo>
                  <a:close/>
                </a:path>
              </a:pathLst>
            </a:custGeom>
            <a:blipFill>
              <a:blip r:embed="rId16"/>
              <a:stretch>
                <a:fillRect l="0" t="0" r="0" b="0"/>
              </a:stretch>
            </a:blipFill>
          </p:spPr>
        </p:sp>
      </p:grpSp>
      <p:sp>
        <p:nvSpPr>
          <p:cNvPr name="TextBox 15" id="15"/>
          <p:cNvSpPr txBox="true"/>
          <p:nvPr/>
        </p:nvSpPr>
        <p:spPr>
          <a:xfrm rot="0">
            <a:off x="817493" y="2225164"/>
            <a:ext cx="4299261" cy="2108825"/>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DES RÉSULTATS MESURABLES</a:t>
            </a:r>
          </a:p>
          <a:p>
            <a:pPr algn="l">
              <a:lnSpc>
                <a:spcPts val="3600"/>
              </a:lnSpc>
            </a:pPr>
            <a:r>
              <a:rPr lang="en-US" sz="3000" b="true">
                <a:solidFill>
                  <a:srgbClr val="FF6B00"/>
                </a:solidFill>
                <a:latin typeface="Inter Bold"/>
                <a:ea typeface="Inter Bold"/>
                <a:cs typeface="Inter Bold"/>
                <a:sym typeface="Inter Bold"/>
              </a:rPr>
              <a:t>ET VALIDÉS</a:t>
            </a:r>
          </a:p>
        </p:txBody>
      </p:sp>
      <p:sp>
        <p:nvSpPr>
          <p:cNvPr name="TextBox 16" id="16"/>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07</a:t>
            </a:r>
          </a:p>
        </p:txBody>
      </p:sp>
      <p:sp>
        <p:nvSpPr>
          <p:cNvPr name="TextBox 17" id="17"/>
          <p:cNvSpPr txBox="true"/>
          <p:nvPr/>
        </p:nvSpPr>
        <p:spPr>
          <a:xfrm rot="0">
            <a:off x="828542" y="69437"/>
            <a:ext cx="7121347" cy="361950"/>
          </a:xfrm>
          <a:prstGeom prst="rect">
            <a:avLst/>
          </a:prstGeom>
        </p:spPr>
        <p:txBody>
          <a:bodyPr anchor="t" rtlCol="false" tIns="0" lIns="0" bIns="0" rIns="0">
            <a:spAutoFit/>
          </a:bodyPr>
          <a:lstStyle/>
          <a:p>
            <a:pPr algn="l">
              <a:lnSpc>
                <a:spcPts val="2878"/>
              </a:lnSpc>
            </a:pPr>
            <a:r>
              <a:rPr lang="en-US" sz="2399" b="true">
                <a:solidFill>
                  <a:srgbClr val="FF6B00"/>
                </a:solidFill>
                <a:latin typeface="Inter Bold"/>
                <a:ea typeface="Inter Bold"/>
                <a:cs typeface="Inter Bold"/>
                <a:sym typeface="Inter Bold"/>
              </a:rPr>
              <a:t>07 — RÉSULTATS &amp; VALIDATION</a:t>
            </a:r>
          </a:p>
        </p:txBody>
      </p:sp>
      <p:sp>
        <p:nvSpPr>
          <p:cNvPr name="TextBox 18" id="18"/>
          <p:cNvSpPr txBox="true"/>
          <p:nvPr/>
        </p:nvSpPr>
        <p:spPr>
          <a:xfrm rot="0">
            <a:off x="6542637" y="3783597"/>
            <a:ext cx="8586930" cy="2700757"/>
          </a:xfrm>
          <a:prstGeom prst="rect">
            <a:avLst/>
          </a:prstGeom>
        </p:spPr>
        <p:txBody>
          <a:bodyPr anchor="t" rtlCol="false" tIns="0" lIns="0" bIns="0" rIns="0">
            <a:spAutoFit/>
          </a:bodyPr>
          <a:lstStyle/>
          <a:p>
            <a:pPr algn="l">
              <a:lnSpc>
                <a:spcPts val="5303"/>
              </a:lnSpc>
            </a:pPr>
            <a:r>
              <a:rPr lang="en-US" sz="4419">
                <a:solidFill>
                  <a:srgbClr val="4B5563"/>
                </a:solidFill>
                <a:latin typeface="Inter"/>
                <a:ea typeface="Inter"/>
                <a:cs typeface="Inter"/>
                <a:sym typeface="Inter"/>
              </a:rPr>
              <a:t>Le moteur a été validé par une suite de tests automatisés couvrant chaque couche du pipeline.</a:t>
            </a:r>
          </a:p>
        </p:txBody>
      </p:sp>
      <p:sp>
        <p:nvSpPr>
          <p:cNvPr name="TextBox 19" id="19"/>
          <p:cNvSpPr txBox="true"/>
          <p:nvPr/>
        </p:nvSpPr>
        <p:spPr>
          <a:xfrm rot="0">
            <a:off x="865118" y="8576177"/>
            <a:ext cx="3935863" cy="1035558"/>
          </a:xfrm>
          <a:prstGeom prst="rect">
            <a:avLst/>
          </a:prstGeom>
        </p:spPr>
        <p:txBody>
          <a:bodyPr anchor="t" rtlCol="false" tIns="0" lIns="0" bIns="0" rIns="0">
            <a:spAutoFit/>
          </a:bodyPr>
          <a:lstStyle/>
          <a:p>
            <a:pPr algn="l">
              <a:lnSpc>
                <a:spcPts val="1558"/>
              </a:lnSpc>
            </a:pPr>
            <a:r>
              <a:rPr lang="en-US" sz="1299" b="true">
                <a:solidFill>
                  <a:srgbClr val="111827"/>
                </a:solidFill>
                <a:latin typeface="Inter Bold"/>
                <a:ea typeface="Inter Bold"/>
                <a:cs typeface="Inter Bold"/>
                <a:sym typeface="Inter Bold"/>
              </a:rPr>
              <a:t>Pipeline validé · 100% Succès · Zéro Régression</a:t>
            </a:r>
          </a:p>
        </p:txBody>
      </p:sp>
      <p:sp>
        <p:nvSpPr>
          <p:cNvPr name="AutoShape 20" id="20"/>
          <p:cNvSpPr/>
          <p:nvPr/>
        </p:nvSpPr>
        <p:spPr>
          <a:xfrm rot="22500">
            <a:off x="6540979" y="-6637687"/>
            <a:ext cx="2911469" cy="0"/>
          </a:xfrm>
          <a:prstGeom prst="line">
            <a:avLst/>
          </a:prstGeom>
          <a:ln cap="rnd" w="19050">
            <a:solidFill>
              <a:srgbClr val="FF5300"/>
            </a:solidFill>
            <a:prstDash val="solid"/>
            <a:headEnd type="none" len="sm" w="sm"/>
            <a:tailEnd type="none" len="sm" w="sm"/>
          </a:ln>
        </p:spPr>
      </p:sp>
      <p:sp>
        <p:nvSpPr>
          <p:cNvPr name="Freeform 21" id="21"/>
          <p:cNvSpPr/>
          <p:nvPr/>
        </p:nvSpPr>
        <p:spPr>
          <a:xfrm flipH="false" flipV="false" rot="0">
            <a:off x="6542008" y="-6244533"/>
            <a:ext cx="2786243" cy="6313970"/>
          </a:xfrm>
          <a:custGeom>
            <a:avLst/>
            <a:gdLst/>
            <a:ahLst/>
            <a:cxnLst/>
            <a:rect r="r" b="b" t="t" l="l"/>
            <a:pathLst>
              <a:path h="6313970" w="2786243">
                <a:moveTo>
                  <a:pt x="0" y="0"/>
                </a:moveTo>
                <a:lnTo>
                  <a:pt x="2786244" y="0"/>
                </a:lnTo>
                <a:lnTo>
                  <a:pt x="2786244" y="6313970"/>
                </a:lnTo>
                <a:lnTo>
                  <a:pt x="0" y="6313970"/>
                </a:lnTo>
                <a:lnTo>
                  <a:pt x="0" y="0"/>
                </a:lnTo>
                <a:close/>
              </a:path>
            </a:pathLst>
          </a:custGeom>
          <a:blipFill>
            <a:blip r:embed="rId17">
              <a:extLst>
                <a:ext uri="{96DAC541-7B7A-43D3-8B79-37D633B846F1}">
                  <asvg:svgBlip xmlns:asvg="http://schemas.microsoft.com/office/drawing/2016/SVG/main" r:embed="rId18"/>
                </a:ext>
              </a:extLst>
            </a:blip>
            <a:stretch>
              <a:fillRect l="-73" t="0" r="-73" b="0"/>
            </a:stretch>
          </a:blipFill>
        </p:spPr>
      </p:sp>
      <p:grpSp>
        <p:nvGrpSpPr>
          <p:cNvPr name="Group 22" id="22"/>
          <p:cNvGrpSpPr/>
          <p:nvPr/>
        </p:nvGrpSpPr>
        <p:grpSpPr>
          <a:xfrm rot="0">
            <a:off x="6560087" y="-6153598"/>
            <a:ext cx="2726084" cy="2306860"/>
            <a:chOff x="0" y="0"/>
            <a:chExt cx="3634778" cy="3075813"/>
          </a:xfrm>
        </p:grpSpPr>
        <p:sp>
          <p:nvSpPr>
            <p:cNvPr name="Freeform 23" id="23"/>
            <p:cNvSpPr/>
            <p:nvPr/>
          </p:nvSpPr>
          <p:spPr>
            <a:xfrm flipH="false" flipV="false" rot="0">
              <a:off x="0" y="0"/>
              <a:ext cx="3634740" cy="3075813"/>
            </a:xfrm>
            <a:custGeom>
              <a:avLst/>
              <a:gdLst/>
              <a:ahLst/>
              <a:cxnLst/>
              <a:rect r="r" b="b" t="t" l="l"/>
              <a:pathLst>
                <a:path h="3075813" w="3634740">
                  <a:moveTo>
                    <a:pt x="0" y="0"/>
                  </a:moveTo>
                  <a:lnTo>
                    <a:pt x="3634740" y="0"/>
                  </a:lnTo>
                  <a:lnTo>
                    <a:pt x="3634740" y="3075813"/>
                  </a:lnTo>
                  <a:lnTo>
                    <a:pt x="0" y="3075813"/>
                  </a:lnTo>
                  <a:lnTo>
                    <a:pt x="0" y="0"/>
                  </a:lnTo>
                  <a:close/>
                </a:path>
              </a:pathLst>
            </a:custGeom>
            <a:blipFill>
              <a:blip r:embed="rId19"/>
              <a:stretch>
                <a:fillRect l="-13358" t="0" r="-13359" b="0"/>
              </a:stretch>
            </a:blipFill>
          </p:spPr>
        </p:sp>
      </p:grpSp>
      <p:grpSp>
        <p:nvGrpSpPr>
          <p:cNvPr name="Group 24" id="24"/>
          <p:cNvGrpSpPr/>
          <p:nvPr/>
        </p:nvGrpSpPr>
        <p:grpSpPr>
          <a:xfrm rot="0">
            <a:off x="7401973" y="-4418076"/>
            <a:ext cx="1066314" cy="1063885"/>
            <a:chOff x="0" y="0"/>
            <a:chExt cx="1421752" cy="1418514"/>
          </a:xfrm>
        </p:grpSpPr>
        <p:sp>
          <p:nvSpPr>
            <p:cNvPr name="Freeform 25" id="25"/>
            <p:cNvSpPr/>
            <p:nvPr/>
          </p:nvSpPr>
          <p:spPr>
            <a:xfrm flipH="false" flipV="false" rot="0">
              <a:off x="0" y="0"/>
              <a:ext cx="1421765" cy="1418463"/>
            </a:xfrm>
            <a:custGeom>
              <a:avLst/>
              <a:gdLst/>
              <a:ahLst/>
              <a:cxnLst/>
              <a:rect r="r" b="b" t="t" l="l"/>
              <a:pathLst>
                <a:path h="1418463" w="1421765">
                  <a:moveTo>
                    <a:pt x="0" y="0"/>
                  </a:moveTo>
                  <a:lnTo>
                    <a:pt x="1421765" y="0"/>
                  </a:lnTo>
                  <a:lnTo>
                    <a:pt x="1421765" y="1418463"/>
                  </a:lnTo>
                  <a:lnTo>
                    <a:pt x="0" y="1418463"/>
                  </a:lnTo>
                  <a:close/>
                </a:path>
              </a:pathLst>
            </a:custGeom>
            <a:blipFill>
              <a:blip r:embed="rId20"/>
              <a:stretch>
                <a:fillRect l="0" t="-113" r="0" b="-118"/>
              </a:stretch>
            </a:blipFill>
          </p:spPr>
        </p:sp>
      </p:grpSp>
      <p:sp>
        <p:nvSpPr>
          <p:cNvPr name="Freeform 26" id="26"/>
          <p:cNvSpPr/>
          <p:nvPr/>
        </p:nvSpPr>
        <p:spPr>
          <a:xfrm flipH="false" flipV="false" rot="0">
            <a:off x="6560087" y="-1466688"/>
            <a:ext cx="2750077" cy="1518047"/>
          </a:xfrm>
          <a:custGeom>
            <a:avLst/>
            <a:gdLst/>
            <a:ahLst/>
            <a:cxnLst/>
            <a:rect r="r" b="b" t="t" l="l"/>
            <a:pathLst>
              <a:path h="1518047" w="2750077">
                <a:moveTo>
                  <a:pt x="0" y="0"/>
                </a:moveTo>
                <a:lnTo>
                  <a:pt x="2750077" y="0"/>
                </a:lnTo>
                <a:lnTo>
                  <a:pt x="2750077" y="1518047"/>
                </a:lnTo>
                <a:lnTo>
                  <a:pt x="0" y="1518047"/>
                </a:lnTo>
                <a:lnTo>
                  <a:pt x="0" y="0"/>
                </a:lnTo>
                <a:close/>
              </a:path>
            </a:pathLst>
          </a:custGeom>
          <a:blipFill>
            <a:blip r:embed="rId21">
              <a:extLst>
                <a:ext uri="{96DAC541-7B7A-43D3-8B79-37D633B846F1}">
                  <asvg:svgBlip xmlns:asvg="http://schemas.microsoft.com/office/drawing/2016/SVG/main" r:embed="rId22"/>
                </a:ext>
              </a:extLst>
            </a:blip>
            <a:stretch>
              <a:fillRect l="0" t="-148" r="0" b="-147"/>
            </a:stretch>
          </a:blipFill>
        </p:spPr>
      </p:sp>
      <p:sp>
        <p:nvSpPr>
          <p:cNvPr name="TextBox 27" id="27"/>
          <p:cNvSpPr txBox="true"/>
          <p:nvPr/>
        </p:nvSpPr>
        <p:spPr>
          <a:xfrm rot="0">
            <a:off x="9896008" y="-6836416"/>
            <a:ext cx="6031792" cy="333375"/>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VALIDATION TECHNIQUE INTÉGRALE</a:t>
            </a:r>
          </a:p>
        </p:txBody>
      </p:sp>
      <p:sp>
        <p:nvSpPr>
          <p:cNvPr name="Freeform 28" id="28"/>
          <p:cNvSpPr/>
          <p:nvPr/>
        </p:nvSpPr>
        <p:spPr>
          <a:xfrm flipH="false" flipV="false" rot="0">
            <a:off x="9528591" y="-6251324"/>
            <a:ext cx="2786243" cy="6313970"/>
          </a:xfrm>
          <a:custGeom>
            <a:avLst/>
            <a:gdLst/>
            <a:ahLst/>
            <a:cxnLst/>
            <a:rect r="r" b="b" t="t" l="l"/>
            <a:pathLst>
              <a:path h="6313970" w="2786243">
                <a:moveTo>
                  <a:pt x="0" y="0"/>
                </a:moveTo>
                <a:lnTo>
                  <a:pt x="2786243" y="0"/>
                </a:lnTo>
                <a:lnTo>
                  <a:pt x="2786243" y="6313970"/>
                </a:lnTo>
                <a:lnTo>
                  <a:pt x="0" y="6313970"/>
                </a:lnTo>
                <a:lnTo>
                  <a:pt x="0" y="0"/>
                </a:lnTo>
                <a:close/>
              </a:path>
            </a:pathLst>
          </a:custGeom>
          <a:blipFill>
            <a:blip r:embed="rId17">
              <a:extLst>
                <a:ext uri="{96DAC541-7B7A-43D3-8B79-37D633B846F1}">
                  <asvg:svgBlip xmlns:asvg="http://schemas.microsoft.com/office/drawing/2016/SVG/main" r:embed="rId18"/>
                </a:ext>
              </a:extLst>
            </a:blip>
            <a:stretch>
              <a:fillRect l="-73" t="0" r="-73" b="0"/>
            </a:stretch>
          </a:blipFill>
        </p:spPr>
      </p:sp>
      <p:grpSp>
        <p:nvGrpSpPr>
          <p:cNvPr name="Group 29" id="29"/>
          <p:cNvGrpSpPr/>
          <p:nvPr/>
        </p:nvGrpSpPr>
        <p:grpSpPr>
          <a:xfrm rot="0">
            <a:off x="9558118" y="-6142720"/>
            <a:ext cx="2738628" cy="2296001"/>
            <a:chOff x="0" y="0"/>
            <a:chExt cx="3651504" cy="3061335"/>
          </a:xfrm>
        </p:grpSpPr>
        <p:sp>
          <p:nvSpPr>
            <p:cNvPr name="Freeform 30" id="30"/>
            <p:cNvSpPr/>
            <p:nvPr/>
          </p:nvSpPr>
          <p:spPr>
            <a:xfrm flipH="false" flipV="false" rot="0">
              <a:off x="0" y="0"/>
              <a:ext cx="3651504" cy="3061335"/>
            </a:xfrm>
            <a:custGeom>
              <a:avLst/>
              <a:gdLst/>
              <a:ahLst/>
              <a:cxnLst/>
              <a:rect r="r" b="b" t="t" l="l"/>
              <a:pathLst>
                <a:path h="3061335" w="3651504">
                  <a:moveTo>
                    <a:pt x="0" y="0"/>
                  </a:moveTo>
                  <a:lnTo>
                    <a:pt x="3651504" y="0"/>
                  </a:lnTo>
                  <a:lnTo>
                    <a:pt x="3651504" y="3061335"/>
                  </a:lnTo>
                  <a:lnTo>
                    <a:pt x="0" y="3061335"/>
                  </a:lnTo>
                  <a:close/>
                </a:path>
              </a:pathLst>
            </a:custGeom>
            <a:blipFill>
              <a:blip r:embed="rId23"/>
              <a:stretch>
                <a:fillRect l="-12935" t="0" r="-12935" b="0"/>
              </a:stretch>
            </a:blipFill>
          </p:spPr>
        </p:sp>
      </p:grpSp>
      <p:sp>
        <p:nvSpPr>
          <p:cNvPr name="Freeform 31" id="31"/>
          <p:cNvSpPr/>
          <p:nvPr/>
        </p:nvSpPr>
        <p:spPr>
          <a:xfrm flipH="false" flipV="false" rot="0">
            <a:off x="10357237" y="-4411228"/>
            <a:ext cx="1128960" cy="1128960"/>
          </a:xfrm>
          <a:custGeom>
            <a:avLst/>
            <a:gdLst/>
            <a:ahLst/>
            <a:cxnLst/>
            <a:rect r="r" b="b" t="t" l="l"/>
            <a:pathLst>
              <a:path h="1128960" w="1128960">
                <a:moveTo>
                  <a:pt x="0" y="0"/>
                </a:moveTo>
                <a:lnTo>
                  <a:pt x="1128961" y="0"/>
                </a:lnTo>
                <a:lnTo>
                  <a:pt x="1128961" y="1128961"/>
                </a:lnTo>
                <a:lnTo>
                  <a:pt x="0" y="112896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32" id="32"/>
          <p:cNvSpPr/>
          <p:nvPr/>
        </p:nvSpPr>
        <p:spPr>
          <a:xfrm flipH="false" flipV="false" rot="0">
            <a:off x="9546669" y="-1472336"/>
            <a:ext cx="2750077" cy="1518047"/>
          </a:xfrm>
          <a:custGeom>
            <a:avLst/>
            <a:gdLst/>
            <a:ahLst/>
            <a:cxnLst/>
            <a:rect r="r" b="b" t="t" l="l"/>
            <a:pathLst>
              <a:path h="1518047" w="2750077">
                <a:moveTo>
                  <a:pt x="0" y="0"/>
                </a:moveTo>
                <a:lnTo>
                  <a:pt x="2750077" y="0"/>
                </a:lnTo>
                <a:lnTo>
                  <a:pt x="2750077" y="1518046"/>
                </a:lnTo>
                <a:lnTo>
                  <a:pt x="0" y="1518046"/>
                </a:lnTo>
                <a:lnTo>
                  <a:pt x="0" y="0"/>
                </a:lnTo>
                <a:close/>
              </a:path>
            </a:pathLst>
          </a:custGeom>
          <a:blipFill>
            <a:blip r:embed="rId21">
              <a:extLst>
                <a:ext uri="{96DAC541-7B7A-43D3-8B79-37D633B846F1}">
                  <asvg:svgBlip xmlns:asvg="http://schemas.microsoft.com/office/drawing/2016/SVG/main" r:embed="rId22"/>
                </a:ext>
              </a:extLst>
            </a:blip>
            <a:stretch>
              <a:fillRect l="0" t="-148" r="0" b="-147"/>
            </a:stretch>
          </a:blipFill>
        </p:spPr>
      </p:sp>
      <p:sp>
        <p:nvSpPr>
          <p:cNvPr name="Freeform 33" id="33"/>
          <p:cNvSpPr/>
          <p:nvPr/>
        </p:nvSpPr>
        <p:spPr>
          <a:xfrm flipH="false" flipV="false" rot="0">
            <a:off x="12515183" y="-6258125"/>
            <a:ext cx="2786243" cy="6313970"/>
          </a:xfrm>
          <a:custGeom>
            <a:avLst/>
            <a:gdLst/>
            <a:ahLst/>
            <a:cxnLst/>
            <a:rect r="r" b="b" t="t" l="l"/>
            <a:pathLst>
              <a:path h="6313970" w="2786243">
                <a:moveTo>
                  <a:pt x="0" y="0"/>
                </a:moveTo>
                <a:lnTo>
                  <a:pt x="2786244" y="0"/>
                </a:lnTo>
                <a:lnTo>
                  <a:pt x="2786244" y="6313970"/>
                </a:lnTo>
                <a:lnTo>
                  <a:pt x="0" y="6313970"/>
                </a:lnTo>
                <a:lnTo>
                  <a:pt x="0" y="0"/>
                </a:lnTo>
                <a:close/>
              </a:path>
            </a:pathLst>
          </a:custGeom>
          <a:blipFill>
            <a:blip r:embed="rId17">
              <a:extLst>
                <a:ext uri="{96DAC541-7B7A-43D3-8B79-37D633B846F1}">
                  <asvg:svgBlip xmlns:asvg="http://schemas.microsoft.com/office/drawing/2016/SVG/main" r:embed="rId18"/>
                </a:ext>
              </a:extLst>
            </a:blip>
            <a:stretch>
              <a:fillRect l="-73" t="0" r="-73" b="0"/>
            </a:stretch>
          </a:blipFill>
        </p:spPr>
      </p:sp>
      <p:grpSp>
        <p:nvGrpSpPr>
          <p:cNvPr name="Group 34" id="34"/>
          <p:cNvGrpSpPr/>
          <p:nvPr/>
        </p:nvGrpSpPr>
        <p:grpSpPr>
          <a:xfrm rot="0">
            <a:off x="12544701" y="-6149569"/>
            <a:ext cx="2738628" cy="2296001"/>
            <a:chOff x="0" y="0"/>
            <a:chExt cx="3651504" cy="3061335"/>
          </a:xfrm>
        </p:grpSpPr>
        <p:sp>
          <p:nvSpPr>
            <p:cNvPr name="Freeform 35" id="35"/>
            <p:cNvSpPr/>
            <p:nvPr/>
          </p:nvSpPr>
          <p:spPr>
            <a:xfrm flipH="false" flipV="false" rot="0">
              <a:off x="0" y="0"/>
              <a:ext cx="3651504" cy="3061335"/>
            </a:xfrm>
            <a:custGeom>
              <a:avLst/>
              <a:gdLst/>
              <a:ahLst/>
              <a:cxnLst/>
              <a:rect r="r" b="b" t="t" l="l"/>
              <a:pathLst>
                <a:path h="3061335" w="3651504">
                  <a:moveTo>
                    <a:pt x="0" y="0"/>
                  </a:moveTo>
                  <a:lnTo>
                    <a:pt x="3651504" y="0"/>
                  </a:lnTo>
                  <a:lnTo>
                    <a:pt x="3651504" y="3061335"/>
                  </a:lnTo>
                  <a:lnTo>
                    <a:pt x="0" y="3061335"/>
                  </a:lnTo>
                  <a:close/>
                </a:path>
              </a:pathLst>
            </a:custGeom>
            <a:blipFill>
              <a:blip r:embed="rId26"/>
              <a:stretch>
                <a:fillRect l="-14375" t="0" r="-14375" b="0"/>
              </a:stretch>
            </a:blipFill>
          </p:spPr>
        </p:sp>
      </p:grpSp>
      <p:sp>
        <p:nvSpPr>
          <p:cNvPr name="Freeform 36" id="36"/>
          <p:cNvSpPr/>
          <p:nvPr/>
        </p:nvSpPr>
        <p:spPr>
          <a:xfrm flipH="false" flipV="false" rot="0">
            <a:off x="13343820" y="-4418076"/>
            <a:ext cx="1128960" cy="1128960"/>
          </a:xfrm>
          <a:custGeom>
            <a:avLst/>
            <a:gdLst/>
            <a:ahLst/>
            <a:cxnLst/>
            <a:rect r="r" b="b" t="t" l="l"/>
            <a:pathLst>
              <a:path h="1128960" w="1128960">
                <a:moveTo>
                  <a:pt x="0" y="0"/>
                </a:moveTo>
                <a:lnTo>
                  <a:pt x="1128960" y="0"/>
                </a:lnTo>
                <a:lnTo>
                  <a:pt x="1128960" y="1128960"/>
                </a:lnTo>
                <a:lnTo>
                  <a:pt x="0" y="112896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37" id="37"/>
          <p:cNvSpPr/>
          <p:nvPr/>
        </p:nvSpPr>
        <p:spPr>
          <a:xfrm flipH="false" flipV="false" rot="0">
            <a:off x="12533262" y="-1477985"/>
            <a:ext cx="2750077" cy="1518047"/>
          </a:xfrm>
          <a:custGeom>
            <a:avLst/>
            <a:gdLst/>
            <a:ahLst/>
            <a:cxnLst/>
            <a:rect r="r" b="b" t="t" l="l"/>
            <a:pathLst>
              <a:path h="1518047" w="2750077">
                <a:moveTo>
                  <a:pt x="0" y="0"/>
                </a:moveTo>
                <a:lnTo>
                  <a:pt x="2750077" y="0"/>
                </a:lnTo>
                <a:lnTo>
                  <a:pt x="2750077" y="1518047"/>
                </a:lnTo>
                <a:lnTo>
                  <a:pt x="0" y="1518047"/>
                </a:lnTo>
                <a:lnTo>
                  <a:pt x="0" y="0"/>
                </a:lnTo>
                <a:close/>
              </a:path>
            </a:pathLst>
          </a:custGeom>
          <a:blipFill>
            <a:blip r:embed="rId21">
              <a:extLst>
                <a:ext uri="{96DAC541-7B7A-43D3-8B79-37D633B846F1}">
                  <asvg:svgBlip xmlns:asvg="http://schemas.microsoft.com/office/drawing/2016/SVG/main" r:embed="rId22"/>
                </a:ext>
              </a:extLst>
            </a:blip>
            <a:stretch>
              <a:fillRect l="0" t="-148" r="0" b="-147"/>
            </a:stretch>
          </a:blipFill>
        </p:spPr>
      </p:sp>
      <p:sp>
        <p:nvSpPr>
          <p:cNvPr name="Freeform 38" id="38"/>
          <p:cNvSpPr/>
          <p:nvPr/>
        </p:nvSpPr>
        <p:spPr>
          <a:xfrm flipH="false" flipV="false" rot="0">
            <a:off x="15501757" y="-6264916"/>
            <a:ext cx="2786243" cy="6313970"/>
          </a:xfrm>
          <a:custGeom>
            <a:avLst/>
            <a:gdLst/>
            <a:ahLst/>
            <a:cxnLst/>
            <a:rect r="r" b="b" t="t" l="l"/>
            <a:pathLst>
              <a:path h="6313970" w="2786243">
                <a:moveTo>
                  <a:pt x="0" y="0"/>
                </a:moveTo>
                <a:lnTo>
                  <a:pt x="2786243" y="0"/>
                </a:lnTo>
                <a:lnTo>
                  <a:pt x="2786243" y="6313970"/>
                </a:lnTo>
                <a:lnTo>
                  <a:pt x="0" y="6313970"/>
                </a:lnTo>
                <a:lnTo>
                  <a:pt x="0" y="0"/>
                </a:lnTo>
                <a:close/>
              </a:path>
            </a:pathLst>
          </a:custGeom>
          <a:blipFill>
            <a:blip r:embed="rId17">
              <a:extLst>
                <a:ext uri="{96DAC541-7B7A-43D3-8B79-37D633B846F1}">
                  <asvg:svgBlip xmlns:asvg="http://schemas.microsoft.com/office/drawing/2016/SVG/main" r:embed="rId18"/>
                </a:ext>
              </a:extLst>
            </a:blip>
            <a:stretch>
              <a:fillRect l="-73" t="0" r="-73" b="0"/>
            </a:stretch>
          </a:blipFill>
        </p:spPr>
      </p:sp>
      <p:grpSp>
        <p:nvGrpSpPr>
          <p:cNvPr name="Group 39" id="39"/>
          <p:cNvGrpSpPr/>
          <p:nvPr/>
        </p:nvGrpSpPr>
        <p:grpSpPr>
          <a:xfrm rot="0">
            <a:off x="15531284" y="-6156417"/>
            <a:ext cx="2738628" cy="2296001"/>
            <a:chOff x="0" y="0"/>
            <a:chExt cx="3651504" cy="3061335"/>
          </a:xfrm>
        </p:grpSpPr>
        <p:sp>
          <p:nvSpPr>
            <p:cNvPr name="Freeform 40" id="40"/>
            <p:cNvSpPr/>
            <p:nvPr/>
          </p:nvSpPr>
          <p:spPr>
            <a:xfrm flipH="false" flipV="false" rot="0">
              <a:off x="0" y="0"/>
              <a:ext cx="3651504" cy="3061335"/>
            </a:xfrm>
            <a:custGeom>
              <a:avLst/>
              <a:gdLst/>
              <a:ahLst/>
              <a:cxnLst/>
              <a:rect r="r" b="b" t="t" l="l"/>
              <a:pathLst>
                <a:path h="3061335" w="3651504">
                  <a:moveTo>
                    <a:pt x="0" y="0"/>
                  </a:moveTo>
                  <a:lnTo>
                    <a:pt x="3651504" y="0"/>
                  </a:lnTo>
                  <a:lnTo>
                    <a:pt x="3651504" y="3061335"/>
                  </a:lnTo>
                  <a:lnTo>
                    <a:pt x="0" y="3061335"/>
                  </a:lnTo>
                  <a:close/>
                </a:path>
              </a:pathLst>
            </a:custGeom>
            <a:blipFill>
              <a:blip r:embed="rId27"/>
              <a:stretch>
                <a:fillRect l="-12878" t="0" r="-12878" b="0"/>
              </a:stretch>
            </a:blipFill>
          </p:spPr>
        </p:sp>
      </p:grpSp>
      <p:sp>
        <p:nvSpPr>
          <p:cNvPr name="Freeform 41" id="41"/>
          <p:cNvSpPr/>
          <p:nvPr/>
        </p:nvSpPr>
        <p:spPr>
          <a:xfrm flipH="false" flipV="false" rot="0">
            <a:off x="16368217" y="-4365022"/>
            <a:ext cx="1128960" cy="1128960"/>
          </a:xfrm>
          <a:custGeom>
            <a:avLst/>
            <a:gdLst/>
            <a:ahLst/>
            <a:cxnLst/>
            <a:rect r="r" b="b" t="t" l="l"/>
            <a:pathLst>
              <a:path h="1128960" w="1128960">
                <a:moveTo>
                  <a:pt x="0" y="0"/>
                </a:moveTo>
                <a:lnTo>
                  <a:pt x="1128960" y="0"/>
                </a:lnTo>
                <a:lnTo>
                  <a:pt x="1128960" y="1128960"/>
                </a:lnTo>
                <a:lnTo>
                  <a:pt x="0" y="112896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42" id="42"/>
          <p:cNvSpPr/>
          <p:nvPr/>
        </p:nvSpPr>
        <p:spPr>
          <a:xfrm flipH="false" flipV="false" rot="0">
            <a:off x="15519845" y="-1483624"/>
            <a:ext cx="2750077" cy="1518047"/>
          </a:xfrm>
          <a:custGeom>
            <a:avLst/>
            <a:gdLst/>
            <a:ahLst/>
            <a:cxnLst/>
            <a:rect r="r" b="b" t="t" l="l"/>
            <a:pathLst>
              <a:path h="1518047" w="2750077">
                <a:moveTo>
                  <a:pt x="0" y="0"/>
                </a:moveTo>
                <a:lnTo>
                  <a:pt x="2750077" y="0"/>
                </a:lnTo>
                <a:lnTo>
                  <a:pt x="2750077" y="1518047"/>
                </a:lnTo>
                <a:lnTo>
                  <a:pt x="0" y="1518047"/>
                </a:lnTo>
                <a:lnTo>
                  <a:pt x="0" y="0"/>
                </a:lnTo>
                <a:close/>
              </a:path>
            </a:pathLst>
          </a:custGeom>
          <a:blipFill>
            <a:blip r:embed="rId21">
              <a:extLst>
                <a:ext uri="{96DAC541-7B7A-43D3-8B79-37D633B846F1}">
                  <asvg:svgBlip xmlns:asvg="http://schemas.microsoft.com/office/drawing/2016/SVG/main" r:embed="rId22"/>
                </a:ext>
              </a:extLst>
            </a:blip>
            <a:stretch>
              <a:fillRect l="0" t="-148" r="0" b="-147"/>
            </a:stretch>
          </a:blipFill>
        </p:spPr>
      </p:sp>
      <p:sp>
        <p:nvSpPr>
          <p:cNvPr name="AutoShape 43" id="43"/>
          <p:cNvSpPr/>
          <p:nvPr/>
        </p:nvSpPr>
        <p:spPr>
          <a:xfrm rot="22500">
            <a:off x="15377579" y="-6637687"/>
            <a:ext cx="2911469" cy="0"/>
          </a:xfrm>
          <a:prstGeom prst="line">
            <a:avLst/>
          </a:prstGeom>
          <a:ln cap="rnd" w="19050">
            <a:solidFill>
              <a:srgbClr val="FF5300"/>
            </a:solidFill>
            <a:prstDash val="solid"/>
            <a:headEnd type="none" len="sm" w="sm"/>
            <a:tailEnd type="none" len="sm" w="sm"/>
          </a:ln>
        </p:spPr>
      </p:sp>
      <p:sp>
        <p:nvSpPr>
          <p:cNvPr name="Freeform 44" id="44"/>
          <p:cNvSpPr/>
          <p:nvPr/>
        </p:nvSpPr>
        <p:spPr>
          <a:xfrm flipH="false" flipV="false" rot="0">
            <a:off x="10649769" y="-4050716"/>
            <a:ext cx="555336" cy="407918"/>
          </a:xfrm>
          <a:custGeom>
            <a:avLst/>
            <a:gdLst/>
            <a:ahLst/>
            <a:cxnLst/>
            <a:rect r="r" b="b" t="t" l="l"/>
            <a:pathLst>
              <a:path h="407918" w="555336">
                <a:moveTo>
                  <a:pt x="0" y="0"/>
                </a:moveTo>
                <a:lnTo>
                  <a:pt x="555336" y="0"/>
                </a:lnTo>
                <a:lnTo>
                  <a:pt x="555336" y="407918"/>
                </a:lnTo>
                <a:lnTo>
                  <a:pt x="0" y="407918"/>
                </a:lnTo>
                <a:lnTo>
                  <a:pt x="0" y="0"/>
                </a:lnTo>
                <a:close/>
              </a:path>
            </a:pathLst>
          </a:custGeom>
          <a:blipFill>
            <a:blip r:embed="rId28">
              <a:extLst>
                <a:ext uri="{96DAC541-7B7A-43D3-8B79-37D633B846F1}">
                  <asvg:svgBlip xmlns:asvg="http://schemas.microsoft.com/office/drawing/2016/SVG/main" r:embed="rId29"/>
                </a:ext>
              </a:extLst>
            </a:blip>
            <a:stretch>
              <a:fillRect l="-392" t="0" r="-392" b="0"/>
            </a:stretch>
          </a:blipFill>
        </p:spPr>
      </p:sp>
      <p:grpSp>
        <p:nvGrpSpPr>
          <p:cNvPr name="Group 45" id="45"/>
          <p:cNvGrpSpPr/>
          <p:nvPr/>
        </p:nvGrpSpPr>
        <p:grpSpPr>
          <a:xfrm rot="0">
            <a:off x="13661203" y="-4103808"/>
            <a:ext cx="505625" cy="505625"/>
            <a:chOff x="0" y="0"/>
            <a:chExt cx="674167" cy="674167"/>
          </a:xfrm>
        </p:grpSpPr>
        <p:sp>
          <p:nvSpPr>
            <p:cNvPr name="Freeform 46" id="46"/>
            <p:cNvSpPr/>
            <p:nvPr/>
          </p:nvSpPr>
          <p:spPr>
            <a:xfrm flipH="false" flipV="false" rot="0">
              <a:off x="0" y="0"/>
              <a:ext cx="674116" cy="674116"/>
            </a:xfrm>
            <a:custGeom>
              <a:avLst/>
              <a:gdLst/>
              <a:ahLst/>
              <a:cxnLst/>
              <a:rect r="r" b="b" t="t" l="l"/>
              <a:pathLst>
                <a:path h="674116" w="674116">
                  <a:moveTo>
                    <a:pt x="0" y="0"/>
                  </a:moveTo>
                  <a:lnTo>
                    <a:pt x="674116" y="0"/>
                  </a:lnTo>
                  <a:lnTo>
                    <a:pt x="674116" y="674116"/>
                  </a:lnTo>
                  <a:lnTo>
                    <a:pt x="0" y="674116"/>
                  </a:lnTo>
                  <a:lnTo>
                    <a:pt x="0" y="0"/>
                  </a:lnTo>
                  <a:close/>
                </a:path>
              </a:pathLst>
            </a:custGeom>
            <a:blipFill>
              <a:blip r:embed="rId30"/>
              <a:stretch>
                <a:fillRect l="-410" t="0" r="-416" b="-7"/>
              </a:stretch>
            </a:blipFill>
          </p:spPr>
        </p:sp>
      </p:grpSp>
      <p:grpSp>
        <p:nvGrpSpPr>
          <p:cNvPr name="Group 47" id="47"/>
          <p:cNvGrpSpPr/>
          <p:nvPr/>
        </p:nvGrpSpPr>
        <p:grpSpPr>
          <a:xfrm rot="0">
            <a:off x="16613314" y="-4103808"/>
            <a:ext cx="574577" cy="505625"/>
            <a:chOff x="0" y="0"/>
            <a:chExt cx="766102" cy="674167"/>
          </a:xfrm>
        </p:grpSpPr>
        <p:sp>
          <p:nvSpPr>
            <p:cNvPr name="Freeform 48" id="48"/>
            <p:cNvSpPr/>
            <p:nvPr/>
          </p:nvSpPr>
          <p:spPr>
            <a:xfrm flipH="false" flipV="false" rot="0">
              <a:off x="0" y="0"/>
              <a:ext cx="766064" cy="674116"/>
            </a:xfrm>
            <a:custGeom>
              <a:avLst/>
              <a:gdLst/>
              <a:ahLst/>
              <a:cxnLst/>
              <a:rect r="r" b="b" t="t" l="l"/>
              <a:pathLst>
                <a:path h="674116" w="766064">
                  <a:moveTo>
                    <a:pt x="0" y="0"/>
                  </a:moveTo>
                  <a:lnTo>
                    <a:pt x="766064" y="0"/>
                  </a:lnTo>
                  <a:lnTo>
                    <a:pt x="766064" y="674116"/>
                  </a:lnTo>
                  <a:lnTo>
                    <a:pt x="0" y="674116"/>
                  </a:lnTo>
                  <a:lnTo>
                    <a:pt x="0" y="0"/>
                  </a:lnTo>
                  <a:close/>
                </a:path>
              </a:pathLst>
            </a:custGeom>
            <a:blipFill>
              <a:blip r:embed="rId31"/>
              <a:stretch>
                <a:fillRect l="0" t="-900" r="-4" b="-906"/>
              </a:stretch>
            </a:blipFill>
          </p:spPr>
        </p:sp>
      </p:grpSp>
      <p:grpSp>
        <p:nvGrpSpPr>
          <p:cNvPr name="Group 49" id="49"/>
          <p:cNvGrpSpPr/>
          <p:nvPr/>
        </p:nvGrpSpPr>
        <p:grpSpPr>
          <a:xfrm rot="0">
            <a:off x="16368217" y="-4286155"/>
            <a:ext cx="1026928" cy="1003887"/>
            <a:chOff x="0" y="0"/>
            <a:chExt cx="1369238" cy="1338516"/>
          </a:xfrm>
        </p:grpSpPr>
        <p:sp>
          <p:nvSpPr>
            <p:cNvPr name="Freeform 50" id="50"/>
            <p:cNvSpPr/>
            <p:nvPr/>
          </p:nvSpPr>
          <p:spPr>
            <a:xfrm flipH="false" flipV="false" rot="0">
              <a:off x="0" y="0"/>
              <a:ext cx="1369187" cy="1338580"/>
            </a:xfrm>
            <a:custGeom>
              <a:avLst/>
              <a:gdLst/>
              <a:ahLst/>
              <a:cxnLst/>
              <a:rect r="r" b="b" t="t" l="l"/>
              <a:pathLst>
                <a:path h="1338580" w="1369187">
                  <a:moveTo>
                    <a:pt x="0" y="0"/>
                  </a:moveTo>
                  <a:lnTo>
                    <a:pt x="1369187" y="0"/>
                  </a:lnTo>
                  <a:lnTo>
                    <a:pt x="1369187" y="1338580"/>
                  </a:lnTo>
                  <a:lnTo>
                    <a:pt x="0" y="1338580"/>
                  </a:lnTo>
                  <a:lnTo>
                    <a:pt x="0" y="0"/>
                  </a:lnTo>
                  <a:close/>
                </a:path>
              </a:pathLst>
            </a:custGeom>
            <a:blipFill>
              <a:blip r:embed="rId32"/>
              <a:stretch>
                <a:fillRect l="-4943" t="0" r="-4946" b="4"/>
              </a:stretch>
            </a:blipFill>
          </p:spPr>
        </p:sp>
      </p:grpSp>
      <p:sp>
        <p:nvSpPr>
          <p:cNvPr name="TextBox 51" id="51"/>
          <p:cNvSpPr txBox="true"/>
          <p:nvPr/>
        </p:nvSpPr>
        <p:spPr>
          <a:xfrm rot="0">
            <a:off x="6665052" y="-3249425"/>
            <a:ext cx="2663514" cy="514350"/>
          </a:xfrm>
          <a:prstGeom prst="rect">
            <a:avLst/>
          </a:prstGeom>
        </p:spPr>
        <p:txBody>
          <a:bodyPr anchor="t" rtlCol="false" tIns="0" lIns="0" bIns="0" rIns="0">
            <a:spAutoFit/>
          </a:bodyPr>
          <a:lstStyle/>
          <a:p>
            <a:pPr algn="l">
              <a:lnSpc>
                <a:spcPts val="2039"/>
              </a:lnSpc>
            </a:pPr>
            <a:r>
              <a:rPr lang="en-US" sz="1698" b="true">
                <a:solidFill>
                  <a:srgbClr val="111827"/>
                </a:solidFill>
                <a:latin typeface="Inter Bold"/>
                <a:ea typeface="Inter Bold"/>
                <a:cs typeface="Inter Bold"/>
                <a:sym typeface="Inter Bold"/>
              </a:rPr>
              <a:t>DÉTECTION &amp; MASQUAGE PII (18 tests)</a:t>
            </a:r>
          </a:p>
        </p:txBody>
      </p:sp>
      <p:sp>
        <p:nvSpPr>
          <p:cNvPr name="TextBox 52" id="52"/>
          <p:cNvSpPr txBox="true"/>
          <p:nvPr/>
        </p:nvSpPr>
        <p:spPr>
          <a:xfrm rot="0">
            <a:off x="6665052" y="-2466813"/>
            <a:ext cx="2957274" cy="1000125"/>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Téléphone (+212), email, CIN, date de naissance.</a:t>
            </a:r>
          </a:p>
        </p:txBody>
      </p:sp>
      <p:sp>
        <p:nvSpPr>
          <p:cNvPr name="TextBox 53" id="53"/>
          <p:cNvSpPr txBox="true"/>
          <p:nvPr/>
        </p:nvSpPr>
        <p:spPr>
          <a:xfrm rot="0">
            <a:off x="6855362" y="-1022728"/>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43</a:t>
            </a:r>
          </a:p>
        </p:txBody>
      </p:sp>
      <p:sp>
        <p:nvSpPr>
          <p:cNvPr name="TextBox 54" id="54"/>
          <p:cNvSpPr txBox="true"/>
          <p:nvPr/>
        </p:nvSpPr>
        <p:spPr>
          <a:xfrm rot="0">
            <a:off x="7025640" y="-901989"/>
            <a:ext cx="2159546" cy="590550"/>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TESTS AUTOMATISÉS</a:t>
            </a:r>
          </a:p>
        </p:txBody>
      </p:sp>
      <p:sp>
        <p:nvSpPr>
          <p:cNvPr name="TextBox 55" id="55"/>
          <p:cNvSpPr txBox="true"/>
          <p:nvPr/>
        </p:nvSpPr>
        <p:spPr>
          <a:xfrm rot="0">
            <a:off x="9608991" y="-3168120"/>
            <a:ext cx="2924270" cy="257175"/>
          </a:xfrm>
          <a:prstGeom prst="rect">
            <a:avLst/>
          </a:prstGeom>
        </p:spPr>
        <p:txBody>
          <a:bodyPr anchor="t" rtlCol="false" tIns="0" lIns="0" bIns="0" rIns="0">
            <a:spAutoFit/>
          </a:bodyPr>
          <a:lstStyle/>
          <a:p>
            <a:pPr algn="l">
              <a:lnSpc>
                <a:spcPts val="2039"/>
              </a:lnSpc>
            </a:pPr>
            <a:r>
              <a:rPr lang="en-US" sz="1698" b="true">
                <a:solidFill>
                  <a:srgbClr val="111827"/>
                </a:solidFill>
                <a:latin typeface="Inter Bold"/>
                <a:ea typeface="Inter Bold"/>
                <a:cs typeface="Inter Bold"/>
                <a:sym typeface="Inter Bold"/>
              </a:rPr>
              <a:t>EXTRACTION NER (14 tests)</a:t>
            </a:r>
          </a:p>
        </p:txBody>
      </p:sp>
      <p:sp>
        <p:nvSpPr>
          <p:cNvPr name="TextBox 56" id="56"/>
          <p:cNvSpPr txBox="true"/>
          <p:nvPr/>
        </p:nvSpPr>
        <p:spPr>
          <a:xfrm rot="0">
            <a:off x="9546669" y="-2258939"/>
            <a:ext cx="2903210" cy="666750"/>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Postes, diplômes, entreprises via spaCy.</a:t>
            </a:r>
          </a:p>
        </p:txBody>
      </p:sp>
      <p:sp>
        <p:nvSpPr>
          <p:cNvPr name="TextBox 57" id="57"/>
          <p:cNvSpPr txBox="true"/>
          <p:nvPr/>
        </p:nvSpPr>
        <p:spPr>
          <a:xfrm rot="0">
            <a:off x="9841944" y="-1029586"/>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100%</a:t>
            </a:r>
          </a:p>
        </p:txBody>
      </p:sp>
      <p:sp>
        <p:nvSpPr>
          <p:cNvPr name="TextBox 58" id="58"/>
          <p:cNvSpPr txBox="true"/>
          <p:nvPr/>
        </p:nvSpPr>
        <p:spPr>
          <a:xfrm rot="0">
            <a:off x="9680677" y="-901989"/>
            <a:ext cx="2159546" cy="590550"/>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TAUX DE RÉUSSITE</a:t>
            </a:r>
          </a:p>
        </p:txBody>
      </p:sp>
      <p:sp>
        <p:nvSpPr>
          <p:cNvPr name="TextBox 59" id="59"/>
          <p:cNvSpPr txBox="true"/>
          <p:nvPr/>
        </p:nvSpPr>
        <p:spPr>
          <a:xfrm rot="0">
            <a:off x="12809487" y="-3195761"/>
            <a:ext cx="2473214" cy="5334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SECURITY GATE &amp; LLM (4 tests)</a:t>
            </a:r>
          </a:p>
        </p:txBody>
      </p:sp>
      <p:sp>
        <p:nvSpPr>
          <p:cNvPr name="TextBox 60" id="60"/>
          <p:cNvSpPr txBox="true"/>
          <p:nvPr/>
        </p:nvSpPr>
        <p:spPr>
          <a:xfrm rot="0">
            <a:off x="12668955" y="-2535050"/>
            <a:ext cx="2475262" cy="1000125"/>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Assertion assert_no_raw_pii_before_llm.</a:t>
            </a:r>
          </a:p>
        </p:txBody>
      </p:sp>
      <p:sp>
        <p:nvSpPr>
          <p:cNvPr name="TextBox 61" id="61"/>
          <p:cNvSpPr txBox="true"/>
          <p:nvPr/>
        </p:nvSpPr>
        <p:spPr>
          <a:xfrm rot="0">
            <a:off x="12828527" y="-1036434"/>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23.57s</a:t>
            </a:r>
          </a:p>
        </p:txBody>
      </p:sp>
      <p:sp>
        <p:nvSpPr>
          <p:cNvPr name="TextBox 62" id="62"/>
          <p:cNvSpPr txBox="true"/>
          <p:nvPr/>
        </p:nvSpPr>
        <p:spPr>
          <a:xfrm rot="0">
            <a:off x="12809487" y="-1043283"/>
            <a:ext cx="2159546" cy="885825"/>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TEMPS D'EXÉCUTION TOTAL</a:t>
            </a:r>
          </a:p>
        </p:txBody>
      </p:sp>
      <p:sp>
        <p:nvSpPr>
          <p:cNvPr name="TextBox 63" id="63"/>
          <p:cNvSpPr txBox="true"/>
          <p:nvPr/>
        </p:nvSpPr>
        <p:spPr>
          <a:xfrm rot="0">
            <a:off x="15587567" y="-3195761"/>
            <a:ext cx="2614622" cy="5334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PIPELINE, BATCH &amp; RECHERCHE (8 tests)</a:t>
            </a:r>
          </a:p>
        </p:txBody>
      </p:sp>
      <p:sp>
        <p:nvSpPr>
          <p:cNvPr name="TextBox 64" id="64"/>
          <p:cNvSpPr txBox="true"/>
          <p:nvPr/>
        </p:nvSpPr>
        <p:spPr>
          <a:xfrm rot="0">
            <a:off x="15463342" y="-2409663"/>
            <a:ext cx="2806570" cy="942975"/>
          </a:xfrm>
          <a:prstGeom prst="rect">
            <a:avLst/>
          </a:prstGeom>
        </p:spPr>
        <p:txBody>
          <a:bodyPr anchor="t" rtlCol="false" tIns="0" lIns="0" bIns="0" rIns="0">
            <a:spAutoFit/>
          </a:bodyPr>
          <a:lstStyle/>
          <a:p>
            <a:pPr algn="l">
              <a:lnSpc>
                <a:spcPts val="2519"/>
              </a:lnSpc>
            </a:pPr>
            <a:r>
              <a:rPr lang="en-US" sz="2099">
                <a:solidFill>
                  <a:srgbClr val="4B5563"/>
                </a:solidFill>
                <a:latin typeface="Inter"/>
                <a:ea typeface="Inter"/>
                <a:cs typeface="Inter"/>
                <a:sym typeface="Inter"/>
              </a:rPr>
              <a:t>Upload, traitement ZIP (SF-09), recherche SQL (SF-10).</a:t>
            </a:r>
          </a:p>
        </p:txBody>
      </p:sp>
      <p:sp>
        <p:nvSpPr>
          <p:cNvPr name="TextBox 65" id="65"/>
          <p:cNvSpPr txBox="true"/>
          <p:nvPr/>
        </p:nvSpPr>
        <p:spPr>
          <a:xfrm rot="0">
            <a:off x="15815110" y="-1043283"/>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0</a:t>
            </a:r>
          </a:p>
        </p:txBody>
      </p:sp>
      <p:sp>
        <p:nvSpPr>
          <p:cNvPr name="TextBox 66" id="66"/>
          <p:cNvSpPr txBox="true"/>
          <p:nvPr/>
        </p:nvSpPr>
        <p:spPr>
          <a:xfrm rot="0">
            <a:off x="15815110" y="-889216"/>
            <a:ext cx="2159546" cy="590550"/>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RÉGRESSION DÉTECTÉE</a:t>
            </a:r>
          </a:p>
        </p:txBody>
      </p:sp>
      <p:sp>
        <p:nvSpPr>
          <p:cNvPr name="TextBox 67" id="67"/>
          <p:cNvSpPr txBox="true"/>
          <p:nvPr/>
        </p:nvSpPr>
        <p:spPr>
          <a:xfrm rot="0">
            <a:off x="7183946" y="8248669"/>
            <a:ext cx="6212434" cy="885825"/>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 Ce stage m'a permis de transformer une exigence légale complexe — la Loi 09-08 — en un pipeline technique fiable, testé et mesurable. »</a:t>
            </a:r>
          </a:p>
        </p:txBody>
      </p:sp>
      <p:sp>
        <p:nvSpPr>
          <p:cNvPr name="TextBox 68" id="68"/>
          <p:cNvSpPr txBox="true"/>
          <p:nvPr/>
        </p:nvSpPr>
        <p:spPr>
          <a:xfrm rot="0">
            <a:off x="15382151" y="8305238"/>
            <a:ext cx="1815703" cy="285750"/>
          </a:xfrm>
          <a:prstGeom prst="rect">
            <a:avLst/>
          </a:prstGeom>
        </p:spPr>
        <p:txBody>
          <a:bodyPr anchor="t" rtlCol="false" tIns="0" lIns="0" bIns="0" rIns="0">
            <a:spAutoFit/>
          </a:bodyPr>
          <a:lstStyle/>
          <a:p>
            <a:pPr algn="l">
              <a:lnSpc>
                <a:spcPts val="2279"/>
              </a:lnSpc>
            </a:pPr>
            <a:r>
              <a:rPr lang="en-US" sz="1899" b="true">
                <a:solidFill>
                  <a:srgbClr val="111827"/>
                </a:solidFill>
                <a:latin typeface="Inter Bold"/>
                <a:ea typeface="Inter Bold"/>
                <a:cs typeface="Inter Bold"/>
                <a:sym typeface="Inter Bold"/>
              </a:rPr>
              <a:t>Youssef Taicha</a:t>
            </a:r>
          </a:p>
        </p:txBody>
      </p:sp>
      <p:sp>
        <p:nvSpPr>
          <p:cNvPr name="TextBox 69" id="69"/>
          <p:cNvSpPr txBox="true"/>
          <p:nvPr/>
        </p:nvSpPr>
        <p:spPr>
          <a:xfrm rot="0">
            <a:off x="15367692" y="8619563"/>
            <a:ext cx="2103587" cy="571500"/>
          </a:xfrm>
          <a:prstGeom prst="rect">
            <a:avLst/>
          </a:prstGeom>
        </p:spPr>
        <p:txBody>
          <a:bodyPr anchor="t" rtlCol="false" tIns="0" lIns="0" bIns="0" rIns="0">
            <a:spAutoFit/>
          </a:bodyPr>
          <a:lstStyle/>
          <a:p>
            <a:pPr algn="l">
              <a:lnSpc>
                <a:spcPts val="2279"/>
              </a:lnSpc>
            </a:pPr>
            <a:r>
              <a:rPr lang="en-US" sz="1899">
                <a:solidFill>
                  <a:srgbClr val="4B5563"/>
                </a:solidFill>
                <a:latin typeface="Inter"/>
                <a:ea typeface="Inter"/>
                <a:cs typeface="Inter"/>
                <a:sym typeface="Inter"/>
              </a:rPr>
              <a:t>Stagiaire Génie Informatique</a:t>
            </a:r>
          </a:p>
        </p:txBody>
      </p:sp>
      <p:sp>
        <p:nvSpPr>
          <p:cNvPr name="TextBox 70" id="70"/>
          <p:cNvSpPr txBox="true"/>
          <p:nvPr/>
        </p:nvSpPr>
        <p:spPr>
          <a:xfrm rot="0">
            <a:off x="14141101" y="9288561"/>
            <a:ext cx="3330178" cy="314325"/>
          </a:xfrm>
          <a:prstGeom prst="rect">
            <a:avLst/>
          </a:prstGeom>
        </p:spPr>
        <p:txBody>
          <a:bodyPr anchor="t" rtlCol="false" tIns="0" lIns="0" bIns="0" rIns="0">
            <a:spAutoFit/>
          </a:bodyPr>
          <a:lstStyle/>
          <a:p>
            <a:pPr algn="l">
              <a:lnSpc>
                <a:spcPts val="2519"/>
              </a:lnSpc>
            </a:pPr>
            <a:r>
              <a:rPr lang="en-US" sz="2099">
                <a:solidFill>
                  <a:srgbClr val="FF6B00"/>
                </a:solidFill>
                <a:latin typeface="Inter"/>
                <a:ea typeface="Inter"/>
                <a:cs typeface="Inter"/>
                <a:sym typeface="Inter"/>
              </a:rPr>
              <a:t>Kinova Tech | EST Meknès</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933112" y="846982"/>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5138576" y="846982"/>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5344030" y="846982"/>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AutoShape 6" id="6"/>
          <p:cNvSpPr/>
          <p:nvPr/>
        </p:nvSpPr>
        <p:spPr>
          <a:xfrm flipV="true">
            <a:off x="0" y="4444812"/>
            <a:ext cx="4829561" cy="28566"/>
          </a:xfrm>
          <a:prstGeom prst="line">
            <a:avLst/>
          </a:prstGeom>
          <a:ln cap="rnd" w="47625">
            <a:solidFill>
              <a:srgbClr val="FF5300"/>
            </a:solidFill>
            <a:prstDash val="solid"/>
            <a:headEnd type="none" len="sm" w="sm"/>
            <a:tailEnd type="none" len="sm" w="sm"/>
          </a:ln>
        </p:spPr>
      </p:sp>
      <p:sp>
        <p:nvSpPr>
          <p:cNvPr name="Freeform 7" id="7"/>
          <p:cNvSpPr/>
          <p:nvPr/>
        </p:nvSpPr>
        <p:spPr>
          <a:xfrm flipH="false" flipV="false" rot="0">
            <a:off x="-724033" y="6941849"/>
            <a:ext cx="5915463" cy="4162301"/>
          </a:xfrm>
          <a:custGeom>
            <a:avLst/>
            <a:gdLst/>
            <a:ahLst/>
            <a:cxnLst/>
            <a:rect r="r" b="b" t="t" l="l"/>
            <a:pathLst>
              <a:path h="4162301" w="5915463">
                <a:moveTo>
                  <a:pt x="0" y="0"/>
                </a:moveTo>
                <a:lnTo>
                  <a:pt x="5915463" y="0"/>
                </a:lnTo>
                <a:lnTo>
                  <a:pt x="5915463" y="4162301"/>
                </a:lnTo>
                <a:lnTo>
                  <a:pt x="0" y="4162301"/>
                </a:lnTo>
                <a:lnTo>
                  <a:pt x="0" y="0"/>
                </a:lnTo>
                <a:close/>
              </a:path>
            </a:pathLst>
          </a:custGeom>
          <a:blipFill>
            <a:blip r:embed="rId6">
              <a:extLst>
                <a:ext uri="{96DAC541-7B7A-43D3-8B79-37D633B846F1}">
                  <asvg:svgBlip xmlns:asvg="http://schemas.microsoft.com/office/drawing/2016/SVG/main" r:embed="rId7"/>
                </a:ext>
              </a:extLst>
            </a:blip>
            <a:stretch>
              <a:fillRect l="-75" t="0" r="-75" b="0"/>
            </a:stretch>
          </a:blipFill>
        </p:spPr>
      </p:sp>
      <p:sp>
        <p:nvSpPr>
          <p:cNvPr name="AutoShape 8" id="8"/>
          <p:cNvSpPr/>
          <p:nvPr/>
        </p:nvSpPr>
        <p:spPr>
          <a:xfrm rot="22500">
            <a:off x="5882488" y="764753"/>
            <a:ext cx="2911469" cy="0"/>
          </a:xfrm>
          <a:prstGeom prst="line">
            <a:avLst/>
          </a:prstGeom>
          <a:ln cap="rnd" w="19050">
            <a:solidFill>
              <a:srgbClr val="FF5300"/>
            </a:solidFill>
            <a:prstDash val="solid"/>
            <a:headEnd type="none" len="sm" w="sm"/>
            <a:tailEnd type="none" len="sm" w="sm"/>
          </a:ln>
        </p:spPr>
      </p:sp>
      <p:sp>
        <p:nvSpPr>
          <p:cNvPr name="Freeform 9" id="9"/>
          <p:cNvSpPr/>
          <p:nvPr/>
        </p:nvSpPr>
        <p:spPr>
          <a:xfrm flipH="false" flipV="false" rot="0">
            <a:off x="5883516" y="1157907"/>
            <a:ext cx="2786243" cy="6313970"/>
          </a:xfrm>
          <a:custGeom>
            <a:avLst/>
            <a:gdLst/>
            <a:ahLst/>
            <a:cxnLst/>
            <a:rect r="r" b="b" t="t" l="l"/>
            <a:pathLst>
              <a:path h="6313970" w="2786243">
                <a:moveTo>
                  <a:pt x="0" y="0"/>
                </a:moveTo>
                <a:lnTo>
                  <a:pt x="2786244" y="0"/>
                </a:lnTo>
                <a:lnTo>
                  <a:pt x="2786244" y="6313970"/>
                </a:lnTo>
                <a:lnTo>
                  <a:pt x="0" y="6313970"/>
                </a:lnTo>
                <a:lnTo>
                  <a:pt x="0" y="0"/>
                </a:lnTo>
                <a:close/>
              </a:path>
            </a:pathLst>
          </a:custGeom>
          <a:blipFill>
            <a:blip r:embed="rId8">
              <a:extLst>
                <a:ext uri="{96DAC541-7B7A-43D3-8B79-37D633B846F1}">
                  <asvg:svgBlip xmlns:asvg="http://schemas.microsoft.com/office/drawing/2016/SVG/main" r:embed="rId9"/>
                </a:ext>
              </a:extLst>
            </a:blip>
            <a:stretch>
              <a:fillRect l="-73" t="0" r="-73" b="0"/>
            </a:stretch>
          </a:blipFill>
        </p:spPr>
      </p:sp>
      <p:grpSp>
        <p:nvGrpSpPr>
          <p:cNvPr name="Group 10" id="10"/>
          <p:cNvGrpSpPr/>
          <p:nvPr/>
        </p:nvGrpSpPr>
        <p:grpSpPr>
          <a:xfrm rot="0">
            <a:off x="5901595" y="1248832"/>
            <a:ext cx="2726084" cy="2306860"/>
            <a:chOff x="0" y="0"/>
            <a:chExt cx="3634778" cy="3075813"/>
          </a:xfrm>
        </p:grpSpPr>
        <p:sp>
          <p:nvSpPr>
            <p:cNvPr name="Freeform 11" id="11"/>
            <p:cNvSpPr/>
            <p:nvPr/>
          </p:nvSpPr>
          <p:spPr>
            <a:xfrm flipH="false" flipV="false" rot="0">
              <a:off x="0" y="0"/>
              <a:ext cx="3634740" cy="3075813"/>
            </a:xfrm>
            <a:custGeom>
              <a:avLst/>
              <a:gdLst/>
              <a:ahLst/>
              <a:cxnLst/>
              <a:rect r="r" b="b" t="t" l="l"/>
              <a:pathLst>
                <a:path h="3075813" w="3634740">
                  <a:moveTo>
                    <a:pt x="0" y="0"/>
                  </a:moveTo>
                  <a:lnTo>
                    <a:pt x="3634740" y="0"/>
                  </a:lnTo>
                  <a:lnTo>
                    <a:pt x="3634740" y="3075813"/>
                  </a:lnTo>
                  <a:lnTo>
                    <a:pt x="0" y="3075813"/>
                  </a:lnTo>
                  <a:lnTo>
                    <a:pt x="0" y="0"/>
                  </a:lnTo>
                  <a:close/>
                </a:path>
              </a:pathLst>
            </a:custGeom>
            <a:blipFill>
              <a:blip r:embed="rId10"/>
              <a:stretch>
                <a:fillRect l="-13358" t="0" r="-13359" b="0"/>
              </a:stretch>
            </a:blipFill>
          </p:spPr>
        </p:sp>
      </p:grpSp>
      <p:grpSp>
        <p:nvGrpSpPr>
          <p:cNvPr name="Group 12" id="12"/>
          <p:cNvGrpSpPr/>
          <p:nvPr/>
        </p:nvGrpSpPr>
        <p:grpSpPr>
          <a:xfrm rot="0">
            <a:off x="6743481" y="2984363"/>
            <a:ext cx="1066314" cy="1063885"/>
            <a:chOff x="0" y="0"/>
            <a:chExt cx="1421752" cy="1418514"/>
          </a:xfrm>
        </p:grpSpPr>
        <p:sp>
          <p:nvSpPr>
            <p:cNvPr name="Freeform 13" id="13"/>
            <p:cNvSpPr/>
            <p:nvPr/>
          </p:nvSpPr>
          <p:spPr>
            <a:xfrm flipH="false" flipV="false" rot="0">
              <a:off x="0" y="0"/>
              <a:ext cx="1421765" cy="1418463"/>
            </a:xfrm>
            <a:custGeom>
              <a:avLst/>
              <a:gdLst/>
              <a:ahLst/>
              <a:cxnLst/>
              <a:rect r="r" b="b" t="t" l="l"/>
              <a:pathLst>
                <a:path h="1418463" w="1421765">
                  <a:moveTo>
                    <a:pt x="0" y="0"/>
                  </a:moveTo>
                  <a:lnTo>
                    <a:pt x="1421765" y="0"/>
                  </a:lnTo>
                  <a:lnTo>
                    <a:pt x="1421765" y="1418463"/>
                  </a:lnTo>
                  <a:lnTo>
                    <a:pt x="0" y="1418463"/>
                  </a:lnTo>
                  <a:close/>
                </a:path>
              </a:pathLst>
            </a:custGeom>
            <a:blipFill>
              <a:blip r:embed="rId11"/>
              <a:stretch>
                <a:fillRect l="0" t="-113" r="0" b="-118"/>
              </a:stretch>
            </a:blipFill>
          </p:spPr>
        </p:sp>
      </p:grpSp>
      <p:sp>
        <p:nvSpPr>
          <p:cNvPr name="Freeform 14" id="14"/>
          <p:cNvSpPr/>
          <p:nvPr/>
        </p:nvSpPr>
        <p:spPr>
          <a:xfrm flipH="false" flipV="false" rot="0">
            <a:off x="5901595" y="5935751"/>
            <a:ext cx="2750077" cy="1518047"/>
          </a:xfrm>
          <a:custGeom>
            <a:avLst/>
            <a:gdLst/>
            <a:ahLst/>
            <a:cxnLst/>
            <a:rect r="r" b="b" t="t" l="l"/>
            <a:pathLst>
              <a:path h="1518047" w="2750077">
                <a:moveTo>
                  <a:pt x="0" y="0"/>
                </a:moveTo>
                <a:lnTo>
                  <a:pt x="2750077" y="0"/>
                </a:lnTo>
                <a:lnTo>
                  <a:pt x="2750077" y="1518047"/>
                </a:lnTo>
                <a:lnTo>
                  <a:pt x="0" y="1518047"/>
                </a:lnTo>
                <a:lnTo>
                  <a:pt x="0" y="0"/>
                </a:lnTo>
                <a:close/>
              </a:path>
            </a:pathLst>
          </a:custGeom>
          <a:blipFill>
            <a:blip r:embed="rId12">
              <a:extLst>
                <a:ext uri="{96DAC541-7B7A-43D3-8B79-37D633B846F1}">
                  <asvg:svgBlip xmlns:asvg="http://schemas.microsoft.com/office/drawing/2016/SVG/main" r:embed="rId13"/>
                </a:ext>
              </a:extLst>
            </a:blip>
            <a:stretch>
              <a:fillRect l="0" t="-148" r="0" b="-147"/>
            </a:stretch>
          </a:blipFill>
        </p:spPr>
      </p:sp>
      <p:sp>
        <p:nvSpPr>
          <p:cNvPr name="TextBox 15" id="15"/>
          <p:cNvSpPr txBox="true"/>
          <p:nvPr/>
        </p:nvSpPr>
        <p:spPr>
          <a:xfrm rot="0">
            <a:off x="9237516" y="566023"/>
            <a:ext cx="6031792" cy="333375"/>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VALIDATION TECHNIQUE INTÉGRALE</a:t>
            </a:r>
          </a:p>
        </p:txBody>
      </p:sp>
      <p:sp>
        <p:nvSpPr>
          <p:cNvPr name="Freeform 16" id="16"/>
          <p:cNvSpPr/>
          <p:nvPr/>
        </p:nvSpPr>
        <p:spPr>
          <a:xfrm flipH="false" flipV="false" rot="0">
            <a:off x="8870099" y="1151115"/>
            <a:ext cx="2786243" cy="6313970"/>
          </a:xfrm>
          <a:custGeom>
            <a:avLst/>
            <a:gdLst/>
            <a:ahLst/>
            <a:cxnLst/>
            <a:rect r="r" b="b" t="t" l="l"/>
            <a:pathLst>
              <a:path h="6313970" w="2786243">
                <a:moveTo>
                  <a:pt x="0" y="0"/>
                </a:moveTo>
                <a:lnTo>
                  <a:pt x="2786244" y="0"/>
                </a:lnTo>
                <a:lnTo>
                  <a:pt x="2786244" y="6313970"/>
                </a:lnTo>
                <a:lnTo>
                  <a:pt x="0" y="6313970"/>
                </a:lnTo>
                <a:lnTo>
                  <a:pt x="0" y="0"/>
                </a:lnTo>
                <a:close/>
              </a:path>
            </a:pathLst>
          </a:custGeom>
          <a:blipFill>
            <a:blip r:embed="rId8">
              <a:extLst>
                <a:ext uri="{96DAC541-7B7A-43D3-8B79-37D633B846F1}">
                  <asvg:svgBlip xmlns:asvg="http://schemas.microsoft.com/office/drawing/2016/SVG/main" r:embed="rId9"/>
                </a:ext>
              </a:extLst>
            </a:blip>
            <a:stretch>
              <a:fillRect l="-73" t="0" r="-73" b="0"/>
            </a:stretch>
          </a:blipFill>
        </p:spPr>
      </p:sp>
      <p:grpSp>
        <p:nvGrpSpPr>
          <p:cNvPr name="Group 17" id="17"/>
          <p:cNvGrpSpPr/>
          <p:nvPr/>
        </p:nvGrpSpPr>
        <p:grpSpPr>
          <a:xfrm rot="0">
            <a:off x="8899627" y="1259719"/>
            <a:ext cx="2738628" cy="2296001"/>
            <a:chOff x="0" y="0"/>
            <a:chExt cx="3651504" cy="3061335"/>
          </a:xfrm>
        </p:grpSpPr>
        <p:sp>
          <p:nvSpPr>
            <p:cNvPr name="Freeform 18" id="18"/>
            <p:cNvSpPr/>
            <p:nvPr/>
          </p:nvSpPr>
          <p:spPr>
            <a:xfrm flipH="false" flipV="false" rot="0">
              <a:off x="0" y="0"/>
              <a:ext cx="3651504" cy="3061335"/>
            </a:xfrm>
            <a:custGeom>
              <a:avLst/>
              <a:gdLst/>
              <a:ahLst/>
              <a:cxnLst/>
              <a:rect r="r" b="b" t="t" l="l"/>
              <a:pathLst>
                <a:path h="3061335" w="3651504">
                  <a:moveTo>
                    <a:pt x="0" y="0"/>
                  </a:moveTo>
                  <a:lnTo>
                    <a:pt x="3651504" y="0"/>
                  </a:lnTo>
                  <a:lnTo>
                    <a:pt x="3651504" y="3061335"/>
                  </a:lnTo>
                  <a:lnTo>
                    <a:pt x="0" y="3061335"/>
                  </a:lnTo>
                  <a:close/>
                </a:path>
              </a:pathLst>
            </a:custGeom>
            <a:blipFill>
              <a:blip r:embed="rId14"/>
              <a:stretch>
                <a:fillRect l="-12935" t="0" r="-12935" b="0"/>
              </a:stretch>
            </a:blipFill>
          </p:spPr>
        </p:sp>
      </p:grpSp>
      <p:sp>
        <p:nvSpPr>
          <p:cNvPr name="Freeform 19" id="19"/>
          <p:cNvSpPr/>
          <p:nvPr/>
        </p:nvSpPr>
        <p:spPr>
          <a:xfrm flipH="false" flipV="false" rot="0">
            <a:off x="9698746" y="2991212"/>
            <a:ext cx="1128960" cy="1128960"/>
          </a:xfrm>
          <a:custGeom>
            <a:avLst/>
            <a:gdLst/>
            <a:ahLst/>
            <a:cxnLst/>
            <a:rect r="r" b="b" t="t" l="l"/>
            <a:pathLst>
              <a:path h="1128960" w="1128960">
                <a:moveTo>
                  <a:pt x="0" y="0"/>
                </a:moveTo>
                <a:lnTo>
                  <a:pt x="1128960" y="0"/>
                </a:lnTo>
                <a:lnTo>
                  <a:pt x="1128960" y="1128960"/>
                </a:lnTo>
                <a:lnTo>
                  <a:pt x="0" y="112896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0" id="20"/>
          <p:cNvSpPr/>
          <p:nvPr/>
        </p:nvSpPr>
        <p:spPr>
          <a:xfrm flipH="false" flipV="false" rot="0">
            <a:off x="8888178" y="5930103"/>
            <a:ext cx="2750077" cy="1518047"/>
          </a:xfrm>
          <a:custGeom>
            <a:avLst/>
            <a:gdLst/>
            <a:ahLst/>
            <a:cxnLst/>
            <a:rect r="r" b="b" t="t" l="l"/>
            <a:pathLst>
              <a:path h="1518047" w="2750077">
                <a:moveTo>
                  <a:pt x="0" y="0"/>
                </a:moveTo>
                <a:lnTo>
                  <a:pt x="2750077" y="0"/>
                </a:lnTo>
                <a:lnTo>
                  <a:pt x="2750077" y="1518047"/>
                </a:lnTo>
                <a:lnTo>
                  <a:pt x="0" y="1518047"/>
                </a:lnTo>
                <a:lnTo>
                  <a:pt x="0" y="0"/>
                </a:lnTo>
                <a:close/>
              </a:path>
            </a:pathLst>
          </a:custGeom>
          <a:blipFill>
            <a:blip r:embed="rId12">
              <a:extLst>
                <a:ext uri="{96DAC541-7B7A-43D3-8B79-37D633B846F1}">
                  <asvg:svgBlip xmlns:asvg="http://schemas.microsoft.com/office/drawing/2016/SVG/main" r:embed="rId13"/>
                </a:ext>
              </a:extLst>
            </a:blip>
            <a:stretch>
              <a:fillRect l="0" t="-148" r="0" b="-147"/>
            </a:stretch>
          </a:blipFill>
        </p:spPr>
      </p:sp>
      <p:sp>
        <p:nvSpPr>
          <p:cNvPr name="Freeform 21" id="21"/>
          <p:cNvSpPr/>
          <p:nvPr/>
        </p:nvSpPr>
        <p:spPr>
          <a:xfrm flipH="false" flipV="false" rot="0">
            <a:off x="11856691" y="1144314"/>
            <a:ext cx="2786243" cy="6313970"/>
          </a:xfrm>
          <a:custGeom>
            <a:avLst/>
            <a:gdLst/>
            <a:ahLst/>
            <a:cxnLst/>
            <a:rect r="r" b="b" t="t" l="l"/>
            <a:pathLst>
              <a:path h="6313970" w="2786243">
                <a:moveTo>
                  <a:pt x="0" y="0"/>
                </a:moveTo>
                <a:lnTo>
                  <a:pt x="2786244" y="0"/>
                </a:lnTo>
                <a:lnTo>
                  <a:pt x="2786244" y="6313971"/>
                </a:lnTo>
                <a:lnTo>
                  <a:pt x="0" y="6313971"/>
                </a:lnTo>
                <a:lnTo>
                  <a:pt x="0" y="0"/>
                </a:lnTo>
                <a:close/>
              </a:path>
            </a:pathLst>
          </a:custGeom>
          <a:blipFill>
            <a:blip r:embed="rId8">
              <a:extLst>
                <a:ext uri="{96DAC541-7B7A-43D3-8B79-37D633B846F1}">
                  <asvg:svgBlip xmlns:asvg="http://schemas.microsoft.com/office/drawing/2016/SVG/main" r:embed="rId9"/>
                </a:ext>
              </a:extLst>
            </a:blip>
            <a:stretch>
              <a:fillRect l="-73" t="0" r="-73" b="0"/>
            </a:stretch>
          </a:blipFill>
        </p:spPr>
      </p:sp>
      <p:grpSp>
        <p:nvGrpSpPr>
          <p:cNvPr name="Group 22" id="22"/>
          <p:cNvGrpSpPr/>
          <p:nvPr/>
        </p:nvGrpSpPr>
        <p:grpSpPr>
          <a:xfrm rot="0">
            <a:off x="11886209" y="1252871"/>
            <a:ext cx="2738628" cy="2296001"/>
            <a:chOff x="0" y="0"/>
            <a:chExt cx="3651504" cy="3061335"/>
          </a:xfrm>
        </p:grpSpPr>
        <p:sp>
          <p:nvSpPr>
            <p:cNvPr name="Freeform 23" id="23"/>
            <p:cNvSpPr/>
            <p:nvPr/>
          </p:nvSpPr>
          <p:spPr>
            <a:xfrm flipH="false" flipV="false" rot="0">
              <a:off x="0" y="0"/>
              <a:ext cx="3651504" cy="3061335"/>
            </a:xfrm>
            <a:custGeom>
              <a:avLst/>
              <a:gdLst/>
              <a:ahLst/>
              <a:cxnLst/>
              <a:rect r="r" b="b" t="t" l="l"/>
              <a:pathLst>
                <a:path h="3061335" w="3651504">
                  <a:moveTo>
                    <a:pt x="0" y="0"/>
                  </a:moveTo>
                  <a:lnTo>
                    <a:pt x="3651504" y="0"/>
                  </a:lnTo>
                  <a:lnTo>
                    <a:pt x="3651504" y="3061335"/>
                  </a:lnTo>
                  <a:lnTo>
                    <a:pt x="0" y="3061335"/>
                  </a:lnTo>
                  <a:close/>
                </a:path>
              </a:pathLst>
            </a:custGeom>
            <a:blipFill>
              <a:blip r:embed="rId17"/>
              <a:stretch>
                <a:fillRect l="-14375" t="0" r="-14375" b="0"/>
              </a:stretch>
            </a:blipFill>
          </p:spPr>
        </p:sp>
      </p:grpSp>
      <p:sp>
        <p:nvSpPr>
          <p:cNvPr name="Freeform 24" id="24"/>
          <p:cNvSpPr/>
          <p:nvPr/>
        </p:nvSpPr>
        <p:spPr>
          <a:xfrm flipH="false" flipV="false" rot="0">
            <a:off x="12685328" y="2984363"/>
            <a:ext cx="1128960" cy="1128960"/>
          </a:xfrm>
          <a:custGeom>
            <a:avLst/>
            <a:gdLst/>
            <a:ahLst/>
            <a:cxnLst/>
            <a:rect r="r" b="b" t="t" l="l"/>
            <a:pathLst>
              <a:path h="1128960" w="1128960">
                <a:moveTo>
                  <a:pt x="0" y="0"/>
                </a:moveTo>
                <a:lnTo>
                  <a:pt x="1128960" y="0"/>
                </a:lnTo>
                <a:lnTo>
                  <a:pt x="1128960" y="1128961"/>
                </a:lnTo>
                <a:lnTo>
                  <a:pt x="0" y="11289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5" id="25"/>
          <p:cNvSpPr/>
          <p:nvPr/>
        </p:nvSpPr>
        <p:spPr>
          <a:xfrm flipH="false" flipV="false" rot="0">
            <a:off x="11874770" y="5924455"/>
            <a:ext cx="2750077" cy="1518047"/>
          </a:xfrm>
          <a:custGeom>
            <a:avLst/>
            <a:gdLst/>
            <a:ahLst/>
            <a:cxnLst/>
            <a:rect r="r" b="b" t="t" l="l"/>
            <a:pathLst>
              <a:path h="1518047" w="2750077">
                <a:moveTo>
                  <a:pt x="0" y="0"/>
                </a:moveTo>
                <a:lnTo>
                  <a:pt x="2750077" y="0"/>
                </a:lnTo>
                <a:lnTo>
                  <a:pt x="2750077" y="1518047"/>
                </a:lnTo>
                <a:lnTo>
                  <a:pt x="0" y="1518047"/>
                </a:lnTo>
                <a:lnTo>
                  <a:pt x="0" y="0"/>
                </a:lnTo>
                <a:close/>
              </a:path>
            </a:pathLst>
          </a:custGeom>
          <a:blipFill>
            <a:blip r:embed="rId12">
              <a:extLst>
                <a:ext uri="{96DAC541-7B7A-43D3-8B79-37D633B846F1}">
                  <asvg:svgBlip xmlns:asvg="http://schemas.microsoft.com/office/drawing/2016/SVG/main" r:embed="rId13"/>
                </a:ext>
              </a:extLst>
            </a:blip>
            <a:stretch>
              <a:fillRect l="0" t="-148" r="0" b="-147"/>
            </a:stretch>
          </a:blipFill>
        </p:spPr>
      </p:sp>
      <p:sp>
        <p:nvSpPr>
          <p:cNvPr name="Freeform 26" id="26"/>
          <p:cNvSpPr/>
          <p:nvPr/>
        </p:nvSpPr>
        <p:spPr>
          <a:xfrm flipH="false" flipV="false" rot="0">
            <a:off x="14843265" y="1137523"/>
            <a:ext cx="2786243" cy="6313970"/>
          </a:xfrm>
          <a:custGeom>
            <a:avLst/>
            <a:gdLst/>
            <a:ahLst/>
            <a:cxnLst/>
            <a:rect r="r" b="b" t="t" l="l"/>
            <a:pathLst>
              <a:path h="6313970" w="2786243">
                <a:moveTo>
                  <a:pt x="0" y="0"/>
                </a:moveTo>
                <a:lnTo>
                  <a:pt x="2786243" y="0"/>
                </a:lnTo>
                <a:lnTo>
                  <a:pt x="2786243" y="6313970"/>
                </a:lnTo>
                <a:lnTo>
                  <a:pt x="0" y="6313970"/>
                </a:lnTo>
                <a:lnTo>
                  <a:pt x="0" y="0"/>
                </a:lnTo>
                <a:close/>
              </a:path>
            </a:pathLst>
          </a:custGeom>
          <a:blipFill>
            <a:blip r:embed="rId8">
              <a:extLst>
                <a:ext uri="{96DAC541-7B7A-43D3-8B79-37D633B846F1}">
                  <asvg:svgBlip xmlns:asvg="http://schemas.microsoft.com/office/drawing/2016/SVG/main" r:embed="rId9"/>
                </a:ext>
              </a:extLst>
            </a:blip>
            <a:stretch>
              <a:fillRect l="-73" t="0" r="-73" b="0"/>
            </a:stretch>
          </a:blipFill>
        </p:spPr>
      </p:sp>
      <p:grpSp>
        <p:nvGrpSpPr>
          <p:cNvPr name="Group 27" id="27"/>
          <p:cNvGrpSpPr/>
          <p:nvPr/>
        </p:nvGrpSpPr>
        <p:grpSpPr>
          <a:xfrm rot="0">
            <a:off x="14872792" y="1246022"/>
            <a:ext cx="2738628" cy="2296001"/>
            <a:chOff x="0" y="0"/>
            <a:chExt cx="3651504" cy="3061335"/>
          </a:xfrm>
        </p:grpSpPr>
        <p:sp>
          <p:nvSpPr>
            <p:cNvPr name="Freeform 28" id="28"/>
            <p:cNvSpPr/>
            <p:nvPr/>
          </p:nvSpPr>
          <p:spPr>
            <a:xfrm flipH="false" flipV="false" rot="0">
              <a:off x="0" y="0"/>
              <a:ext cx="3651504" cy="3061335"/>
            </a:xfrm>
            <a:custGeom>
              <a:avLst/>
              <a:gdLst/>
              <a:ahLst/>
              <a:cxnLst/>
              <a:rect r="r" b="b" t="t" l="l"/>
              <a:pathLst>
                <a:path h="3061335" w="3651504">
                  <a:moveTo>
                    <a:pt x="0" y="0"/>
                  </a:moveTo>
                  <a:lnTo>
                    <a:pt x="3651504" y="0"/>
                  </a:lnTo>
                  <a:lnTo>
                    <a:pt x="3651504" y="3061335"/>
                  </a:lnTo>
                  <a:lnTo>
                    <a:pt x="0" y="3061335"/>
                  </a:lnTo>
                  <a:close/>
                </a:path>
              </a:pathLst>
            </a:custGeom>
            <a:blipFill>
              <a:blip r:embed="rId18"/>
              <a:stretch>
                <a:fillRect l="-12878" t="0" r="-12878" b="0"/>
              </a:stretch>
            </a:blipFill>
          </p:spPr>
        </p:sp>
      </p:grpSp>
      <p:sp>
        <p:nvSpPr>
          <p:cNvPr name="Freeform 29" id="29"/>
          <p:cNvSpPr/>
          <p:nvPr/>
        </p:nvSpPr>
        <p:spPr>
          <a:xfrm flipH="false" flipV="false" rot="0">
            <a:off x="15709725" y="3037418"/>
            <a:ext cx="1128960" cy="1128960"/>
          </a:xfrm>
          <a:custGeom>
            <a:avLst/>
            <a:gdLst/>
            <a:ahLst/>
            <a:cxnLst/>
            <a:rect r="r" b="b" t="t" l="l"/>
            <a:pathLst>
              <a:path h="1128960" w="1128960">
                <a:moveTo>
                  <a:pt x="0" y="0"/>
                </a:moveTo>
                <a:lnTo>
                  <a:pt x="1128961" y="0"/>
                </a:lnTo>
                <a:lnTo>
                  <a:pt x="1128961" y="1128960"/>
                </a:lnTo>
                <a:lnTo>
                  <a:pt x="0" y="112896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0" id="30"/>
          <p:cNvSpPr/>
          <p:nvPr/>
        </p:nvSpPr>
        <p:spPr>
          <a:xfrm flipH="false" flipV="false" rot="0">
            <a:off x="14861353" y="5918816"/>
            <a:ext cx="2750077" cy="1518047"/>
          </a:xfrm>
          <a:custGeom>
            <a:avLst/>
            <a:gdLst/>
            <a:ahLst/>
            <a:cxnLst/>
            <a:rect r="r" b="b" t="t" l="l"/>
            <a:pathLst>
              <a:path h="1518047" w="2750077">
                <a:moveTo>
                  <a:pt x="0" y="0"/>
                </a:moveTo>
                <a:lnTo>
                  <a:pt x="2750077" y="0"/>
                </a:lnTo>
                <a:lnTo>
                  <a:pt x="2750077" y="1518047"/>
                </a:lnTo>
                <a:lnTo>
                  <a:pt x="0" y="1518047"/>
                </a:lnTo>
                <a:lnTo>
                  <a:pt x="0" y="0"/>
                </a:lnTo>
                <a:close/>
              </a:path>
            </a:pathLst>
          </a:custGeom>
          <a:blipFill>
            <a:blip r:embed="rId12">
              <a:extLst>
                <a:ext uri="{96DAC541-7B7A-43D3-8B79-37D633B846F1}">
                  <asvg:svgBlip xmlns:asvg="http://schemas.microsoft.com/office/drawing/2016/SVG/main" r:embed="rId13"/>
                </a:ext>
              </a:extLst>
            </a:blip>
            <a:stretch>
              <a:fillRect l="0" t="-148" r="0" b="-147"/>
            </a:stretch>
          </a:blipFill>
        </p:spPr>
      </p:sp>
      <p:sp>
        <p:nvSpPr>
          <p:cNvPr name="AutoShape 31" id="31"/>
          <p:cNvSpPr/>
          <p:nvPr/>
        </p:nvSpPr>
        <p:spPr>
          <a:xfrm rot="22500">
            <a:off x="14719087" y="764753"/>
            <a:ext cx="2911469" cy="0"/>
          </a:xfrm>
          <a:prstGeom prst="line">
            <a:avLst/>
          </a:prstGeom>
          <a:ln cap="rnd" w="19050">
            <a:solidFill>
              <a:srgbClr val="FF5300"/>
            </a:solidFill>
            <a:prstDash val="solid"/>
            <a:headEnd type="none" len="sm" w="sm"/>
            <a:tailEnd type="none" len="sm" w="sm"/>
          </a:ln>
        </p:spPr>
      </p:sp>
      <p:sp>
        <p:nvSpPr>
          <p:cNvPr name="Freeform 32" id="32"/>
          <p:cNvSpPr/>
          <p:nvPr/>
        </p:nvSpPr>
        <p:spPr>
          <a:xfrm flipH="false" flipV="false" rot="0">
            <a:off x="9991277" y="3351724"/>
            <a:ext cx="555336" cy="407918"/>
          </a:xfrm>
          <a:custGeom>
            <a:avLst/>
            <a:gdLst/>
            <a:ahLst/>
            <a:cxnLst/>
            <a:rect r="r" b="b" t="t" l="l"/>
            <a:pathLst>
              <a:path h="407918" w="555336">
                <a:moveTo>
                  <a:pt x="0" y="0"/>
                </a:moveTo>
                <a:lnTo>
                  <a:pt x="555336" y="0"/>
                </a:lnTo>
                <a:lnTo>
                  <a:pt x="555336" y="407917"/>
                </a:lnTo>
                <a:lnTo>
                  <a:pt x="0" y="407917"/>
                </a:lnTo>
                <a:lnTo>
                  <a:pt x="0" y="0"/>
                </a:lnTo>
                <a:close/>
              </a:path>
            </a:pathLst>
          </a:custGeom>
          <a:blipFill>
            <a:blip r:embed="rId19">
              <a:extLst>
                <a:ext uri="{96DAC541-7B7A-43D3-8B79-37D633B846F1}">
                  <asvg:svgBlip xmlns:asvg="http://schemas.microsoft.com/office/drawing/2016/SVG/main" r:embed="rId20"/>
                </a:ext>
              </a:extLst>
            </a:blip>
            <a:stretch>
              <a:fillRect l="-392" t="0" r="-392" b="0"/>
            </a:stretch>
          </a:blipFill>
        </p:spPr>
      </p:sp>
      <p:grpSp>
        <p:nvGrpSpPr>
          <p:cNvPr name="Group 33" id="33"/>
          <p:cNvGrpSpPr/>
          <p:nvPr/>
        </p:nvGrpSpPr>
        <p:grpSpPr>
          <a:xfrm rot="0">
            <a:off x="13002711" y="3298631"/>
            <a:ext cx="505625" cy="505625"/>
            <a:chOff x="0" y="0"/>
            <a:chExt cx="674167" cy="674167"/>
          </a:xfrm>
        </p:grpSpPr>
        <p:sp>
          <p:nvSpPr>
            <p:cNvPr name="Freeform 34" id="34"/>
            <p:cNvSpPr/>
            <p:nvPr/>
          </p:nvSpPr>
          <p:spPr>
            <a:xfrm flipH="false" flipV="false" rot="0">
              <a:off x="0" y="0"/>
              <a:ext cx="674116" cy="674116"/>
            </a:xfrm>
            <a:custGeom>
              <a:avLst/>
              <a:gdLst/>
              <a:ahLst/>
              <a:cxnLst/>
              <a:rect r="r" b="b" t="t" l="l"/>
              <a:pathLst>
                <a:path h="674116" w="674116">
                  <a:moveTo>
                    <a:pt x="0" y="0"/>
                  </a:moveTo>
                  <a:lnTo>
                    <a:pt x="674116" y="0"/>
                  </a:lnTo>
                  <a:lnTo>
                    <a:pt x="674116" y="674116"/>
                  </a:lnTo>
                  <a:lnTo>
                    <a:pt x="0" y="674116"/>
                  </a:lnTo>
                  <a:lnTo>
                    <a:pt x="0" y="0"/>
                  </a:lnTo>
                  <a:close/>
                </a:path>
              </a:pathLst>
            </a:custGeom>
            <a:blipFill>
              <a:blip r:embed="rId21"/>
              <a:stretch>
                <a:fillRect l="-410" t="0" r="-416" b="-7"/>
              </a:stretch>
            </a:blipFill>
          </p:spPr>
        </p:sp>
      </p:grpSp>
      <p:grpSp>
        <p:nvGrpSpPr>
          <p:cNvPr name="Group 35" id="35"/>
          <p:cNvGrpSpPr/>
          <p:nvPr/>
        </p:nvGrpSpPr>
        <p:grpSpPr>
          <a:xfrm rot="0">
            <a:off x="15954823" y="3298631"/>
            <a:ext cx="574577" cy="505625"/>
            <a:chOff x="0" y="0"/>
            <a:chExt cx="766102" cy="674167"/>
          </a:xfrm>
        </p:grpSpPr>
        <p:sp>
          <p:nvSpPr>
            <p:cNvPr name="Freeform 36" id="36"/>
            <p:cNvSpPr/>
            <p:nvPr/>
          </p:nvSpPr>
          <p:spPr>
            <a:xfrm flipH="false" flipV="false" rot="0">
              <a:off x="0" y="0"/>
              <a:ext cx="766064" cy="674116"/>
            </a:xfrm>
            <a:custGeom>
              <a:avLst/>
              <a:gdLst/>
              <a:ahLst/>
              <a:cxnLst/>
              <a:rect r="r" b="b" t="t" l="l"/>
              <a:pathLst>
                <a:path h="674116" w="766064">
                  <a:moveTo>
                    <a:pt x="0" y="0"/>
                  </a:moveTo>
                  <a:lnTo>
                    <a:pt x="766064" y="0"/>
                  </a:lnTo>
                  <a:lnTo>
                    <a:pt x="766064" y="674116"/>
                  </a:lnTo>
                  <a:lnTo>
                    <a:pt x="0" y="674116"/>
                  </a:lnTo>
                  <a:lnTo>
                    <a:pt x="0" y="0"/>
                  </a:lnTo>
                  <a:close/>
                </a:path>
              </a:pathLst>
            </a:custGeom>
            <a:blipFill>
              <a:blip r:embed="rId22"/>
              <a:stretch>
                <a:fillRect l="0" t="-900" r="-4" b="-906"/>
              </a:stretch>
            </a:blipFill>
          </p:spPr>
        </p:sp>
      </p:grpSp>
      <p:sp>
        <p:nvSpPr>
          <p:cNvPr name="Freeform 37" id="37"/>
          <p:cNvSpPr/>
          <p:nvPr/>
        </p:nvSpPr>
        <p:spPr>
          <a:xfrm flipH="false" flipV="false" rot="0">
            <a:off x="5894956" y="7754884"/>
            <a:ext cx="11734562" cy="1885474"/>
          </a:xfrm>
          <a:custGeom>
            <a:avLst/>
            <a:gdLst/>
            <a:ahLst/>
            <a:cxnLst/>
            <a:rect r="r" b="b" t="t" l="l"/>
            <a:pathLst>
              <a:path h="1885474" w="11734562">
                <a:moveTo>
                  <a:pt x="0" y="0"/>
                </a:moveTo>
                <a:lnTo>
                  <a:pt x="11734562" y="0"/>
                </a:lnTo>
                <a:lnTo>
                  <a:pt x="11734562" y="1885473"/>
                </a:lnTo>
                <a:lnTo>
                  <a:pt x="0" y="1885473"/>
                </a:lnTo>
                <a:lnTo>
                  <a:pt x="0" y="0"/>
                </a:lnTo>
                <a:close/>
              </a:path>
            </a:pathLst>
          </a:custGeom>
          <a:blipFill>
            <a:blip r:embed="rId23">
              <a:extLst>
                <a:ext uri="{96DAC541-7B7A-43D3-8B79-37D633B846F1}">
                  <asvg:svgBlip xmlns:asvg="http://schemas.microsoft.com/office/drawing/2016/SVG/main" r:embed="rId24"/>
                </a:ext>
              </a:extLst>
            </a:blip>
            <a:stretch>
              <a:fillRect l="0" t="-11" r="0" b="-11"/>
            </a:stretch>
          </a:blipFill>
        </p:spPr>
      </p:sp>
      <p:sp>
        <p:nvSpPr>
          <p:cNvPr name="Freeform 38" id="38"/>
          <p:cNvSpPr/>
          <p:nvPr/>
        </p:nvSpPr>
        <p:spPr>
          <a:xfrm flipH="false" flipV="false" rot="0">
            <a:off x="828542" y="7519397"/>
            <a:ext cx="896979" cy="896979"/>
          </a:xfrm>
          <a:custGeom>
            <a:avLst/>
            <a:gdLst/>
            <a:ahLst/>
            <a:cxnLst/>
            <a:rect r="r" b="b" t="t" l="l"/>
            <a:pathLst>
              <a:path h="896979" w="896979">
                <a:moveTo>
                  <a:pt x="0" y="0"/>
                </a:moveTo>
                <a:lnTo>
                  <a:pt x="896978" y="0"/>
                </a:lnTo>
                <a:lnTo>
                  <a:pt x="896978" y="896979"/>
                </a:lnTo>
                <a:lnTo>
                  <a:pt x="0" y="89697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39" id="39"/>
          <p:cNvSpPr/>
          <p:nvPr/>
        </p:nvSpPr>
        <p:spPr>
          <a:xfrm flipH="false" flipV="false" rot="0">
            <a:off x="1054427" y="7788697"/>
            <a:ext cx="445208" cy="358397"/>
          </a:xfrm>
          <a:custGeom>
            <a:avLst/>
            <a:gdLst/>
            <a:ahLst/>
            <a:cxnLst/>
            <a:rect r="r" b="b" t="t" l="l"/>
            <a:pathLst>
              <a:path h="358397" w="445208">
                <a:moveTo>
                  <a:pt x="0" y="0"/>
                </a:moveTo>
                <a:lnTo>
                  <a:pt x="445208" y="0"/>
                </a:lnTo>
                <a:lnTo>
                  <a:pt x="445208" y="358397"/>
                </a:lnTo>
                <a:lnTo>
                  <a:pt x="0" y="358397"/>
                </a:lnTo>
                <a:lnTo>
                  <a:pt x="0" y="0"/>
                </a:lnTo>
                <a:close/>
              </a:path>
            </a:pathLst>
          </a:custGeom>
          <a:blipFill>
            <a:blip r:embed="rId27">
              <a:extLst>
                <a:ext uri="{96DAC541-7B7A-43D3-8B79-37D633B846F1}">
                  <asvg:svgBlip xmlns:asvg="http://schemas.microsoft.com/office/drawing/2016/SVG/main" r:embed="rId28"/>
                </a:ext>
              </a:extLst>
            </a:blip>
            <a:stretch>
              <a:fillRect l="0" t="-217" r="0" b="-217"/>
            </a:stretch>
          </a:blipFill>
        </p:spPr>
      </p:sp>
      <p:sp>
        <p:nvSpPr>
          <p:cNvPr name="Freeform 40" id="40"/>
          <p:cNvSpPr/>
          <p:nvPr/>
        </p:nvSpPr>
        <p:spPr>
          <a:xfrm flipH="false" flipV="false" rot="0">
            <a:off x="6367148" y="8291998"/>
            <a:ext cx="542468" cy="416347"/>
          </a:xfrm>
          <a:custGeom>
            <a:avLst/>
            <a:gdLst/>
            <a:ahLst/>
            <a:cxnLst/>
            <a:rect r="r" b="b" t="t" l="l"/>
            <a:pathLst>
              <a:path h="416347" w="542468">
                <a:moveTo>
                  <a:pt x="0" y="0"/>
                </a:moveTo>
                <a:lnTo>
                  <a:pt x="542468" y="0"/>
                </a:lnTo>
                <a:lnTo>
                  <a:pt x="542468" y="416348"/>
                </a:lnTo>
                <a:lnTo>
                  <a:pt x="0" y="416348"/>
                </a:lnTo>
                <a:lnTo>
                  <a:pt x="0" y="0"/>
                </a:lnTo>
                <a:close/>
              </a:path>
            </a:pathLst>
          </a:custGeom>
          <a:blipFill>
            <a:blip r:embed="rId29">
              <a:extLst>
                <a:ext uri="{96DAC541-7B7A-43D3-8B79-37D633B846F1}">
                  <asvg:svgBlip xmlns:asvg="http://schemas.microsoft.com/office/drawing/2016/SVG/main" r:embed="rId30"/>
                </a:ext>
              </a:extLst>
            </a:blip>
            <a:stretch>
              <a:fillRect l="0" t="-288" r="0" b="-288"/>
            </a:stretch>
          </a:blipFill>
        </p:spPr>
      </p:sp>
      <p:sp>
        <p:nvSpPr>
          <p:cNvPr name="AutoShape 41" id="41"/>
          <p:cNvSpPr/>
          <p:nvPr/>
        </p:nvSpPr>
        <p:spPr>
          <a:xfrm rot="54660">
            <a:off x="13053212" y="8723776"/>
            <a:ext cx="1197635" cy="0"/>
          </a:xfrm>
          <a:prstGeom prst="line">
            <a:avLst/>
          </a:prstGeom>
          <a:ln cap="rnd" w="19050">
            <a:solidFill>
              <a:srgbClr val="DFDFDF"/>
            </a:solidFill>
            <a:prstDash val="solid"/>
            <a:headEnd type="none" len="sm" w="sm"/>
            <a:tailEnd type="none" len="sm" w="sm"/>
          </a:ln>
        </p:spPr>
      </p:sp>
      <p:grpSp>
        <p:nvGrpSpPr>
          <p:cNvPr name="Group 42" id="42"/>
          <p:cNvGrpSpPr/>
          <p:nvPr/>
        </p:nvGrpSpPr>
        <p:grpSpPr>
          <a:xfrm rot="0">
            <a:off x="14038097" y="8197091"/>
            <a:ext cx="1091565" cy="1091565"/>
            <a:chOff x="0" y="0"/>
            <a:chExt cx="1455420" cy="1455420"/>
          </a:xfrm>
        </p:grpSpPr>
        <p:sp>
          <p:nvSpPr>
            <p:cNvPr name="Freeform 43" id="43"/>
            <p:cNvSpPr/>
            <p:nvPr/>
          </p:nvSpPr>
          <p:spPr>
            <a:xfrm flipH="false" flipV="false" rot="0">
              <a:off x="0" y="0"/>
              <a:ext cx="1455420" cy="1455420"/>
            </a:xfrm>
            <a:custGeom>
              <a:avLst/>
              <a:gdLst/>
              <a:ahLst/>
              <a:cxnLst/>
              <a:rect r="r" b="b" t="t" l="l"/>
              <a:pathLst>
                <a:path h="1455420" w="1455420">
                  <a:moveTo>
                    <a:pt x="727710" y="0"/>
                  </a:moveTo>
                  <a:cubicBezTo>
                    <a:pt x="325755" y="0"/>
                    <a:pt x="0" y="325755"/>
                    <a:pt x="0" y="727710"/>
                  </a:cubicBezTo>
                  <a:cubicBezTo>
                    <a:pt x="0" y="1129665"/>
                    <a:pt x="325755" y="1455420"/>
                    <a:pt x="727710" y="1455420"/>
                  </a:cubicBezTo>
                  <a:cubicBezTo>
                    <a:pt x="1129665" y="1455420"/>
                    <a:pt x="1455420" y="1129665"/>
                    <a:pt x="1455420" y="727710"/>
                  </a:cubicBezTo>
                  <a:cubicBezTo>
                    <a:pt x="1455420" y="325755"/>
                    <a:pt x="1129538" y="0"/>
                    <a:pt x="727710" y="0"/>
                  </a:cubicBezTo>
                  <a:close/>
                </a:path>
              </a:pathLst>
            </a:custGeom>
            <a:blipFill>
              <a:blip r:embed="rId31"/>
              <a:stretch>
                <a:fillRect l="0" t="0" r="0" b="0"/>
              </a:stretch>
            </a:blipFill>
          </p:spPr>
        </p:sp>
      </p:grpSp>
      <p:grpSp>
        <p:nvGrpSpPr>
          <p:cNvPr name="Group 44" id="44"/>
          <p:cNvGrpSpPr/>
          <p:nvPr/>
        </p:nvGrpSpPr>
        <p:grpSpPr>
          <a:xfrm rot="0">
            <a:off x="15709725" y="3116285"/>
            <a:ext cx="1026928" cy="1003887"/>
            <a:chOff x="0" y="0"/>
            <a:chExt cx="1369238" cy="1338516"/>
          </a:xfrm>
        </p:grpSpPr>
        <p:sp>
          <p:nvSpPr>
            <p:cNvPr name="Freeform 45" id="45"/>
            <p:cNvSpPr/>
            <p:nvPr/>
          </p:nvSpPr>
          <p:spPr>
            <a:xfrm flipH="false" flipV="false" rot="0">
              <a:off x="0" y="0"/>
              <a:ext cx="1369187" cy="1338580"/>
            </a:xfrm>
            <a:custGeom>
              <a:avLst/>
              <a:gdLst/>
              <a:ahLst/>
              <a:cxnLst/>
              <a:rect r="r" b="b" t="t" l="l"/>
              <a:pathLst>
                <a:path h="1338580" w="1369187">
                  <a:moveTo>
                    <a:pt x="0" y="0"/>
                  </a:moveTo>
                  <a:lnTo>
                    <a:pt x="1369187" y="0"/>
                  </a:lnTo>
                  <a:lnTo>
                    <a:pt x="1369187" y="1338580"/>
                  </a:lnTo>
                  <a:lnTo>
                    <a:pt x="0" y="1338580"/>
                  </a:lnTo>
                  <a:lnTo>
                    <a:pt x="0" y="0"/>
                  </a:lnTo>
                  <a:close/>
                </a:path>
              </a:pathLst>
            </a:custGeom>
            <a:blipFill>
              <a:blip r:embed="rId32"/>
              <a:stretch>
                <a:fillRect l="-4943" t="0" r="-4946" b="4"/>
              </a:stretch>
            </a:blipFill>
          </p:spPr>
        </p:sp>
      </p:grpSp>
      <p:sp>
        <p:nvSpPr>
          <p:cNvPr name="TextBox 46" id="46"/>
          <p:cNvSpPr txBox="true"/>
          <p:nvPr/>
        </p:nvSpPr>
        <p:spPr>
          <a:xfrm rot="0">
            <a:off x="817493" y="2225164"/>
            <a:ext cx="4299261" cy="2108825"/>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DES RÉSULTATS MESURABLES</a:t>
            </a:r>
          </a:p>
          <a:p>
            <a:pPr algn="l">
              <a:lnSpc>
                <a:spcPts val="3600"/>
              </a:lnSpc>
            </a:pPr>
            <a:r>
              <a:rPr lang="en-US" sz="3000" b="true">
                <a:solidFill>
                  <a:srgbClr val="FF6B00"/>
                </a:solidFill>
                <a:latin typeface="Inter Bold"/>
                <a:ea typeface="Inter Bold"/>
                <a:cs typeface="Inter Bold"/>
                <a:sym typeface="Inter Bold"/>
              </a:rPr>
              <a:t>ET VALIDÉS</a:t>
            </a:r>
          </a:p>
        </p:txBody>
      </p:sp>
      <p:sp>
        <p:nvSpPr>
          <p:cNvPr name="TextBox 47" id="47"/>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07</a:t>
            </a:r>
          </a:p>
        </p:txBody>
      </p:sp>
      <p:sp>
        <p:nvSpPr>
          <p:cNvPr name="TextBox 48" id="48"/>
          <p:cNvSpPr txBox="true"/>
          <p:nvPr/>
        </p:nvSpPr>
        <p:spPr>
          <a:xfrm rot="0">
            <a:off x="828542" y="69437"/>
            <a:ext cx="7121347" cy="361950"/>
          </a:xfrm>
          <a:prstGeom prst="rect">
            <a:avLst/>
          </a:prstGeom>
        </p:spPr>
        <p:txBody>
          <a:bodyPr anchor="t" rtlCol="false" tIns="0" lIns="0" bIns="0" rIns="0">
            <a:spAutoFit/>
          </a:bodyPr>
          <a:lstStyle/>
          <a:p>
            <a:pPr algn="l">
              <a:lnSpc>
                <a:spcPts val="2878"/>
              </a:lnSpc>
            </a:pPr>
            <a:r>
              <a:rPr lang="en-US" sz="2399" b="true">
                <a:solidFill>
                  <a:srgbClr val="FF6B00"/>
                </a:solidFill>
                <a:latin typeface="Inter Bold"/>
                <a:ea typeface="Inter Bold"/>
                <a:cs typeface="Inter Bold"/>
                <a:sym typeface="Inter Bold"/>
              </a:rPr>
              <a:t>07 — RÉSULTATS &amp; VALIDATION</a:t>
            </a:r>
          </a:p>
        </p:txBody>
      </p:sp>
      <p:sp>
        <p:nvSpPr>
          <p:cNvPr name="TextBox 49" id="49"/>
          <p:cNvSpPr txBox="true"/>
          <p:nvPr/>
        </p:nvSpPr>
        <p:spPr>
          <a:xfrm rot="0">
            <a:off x="594970" y="4874924"/>
            <a:ext cx="5245903" cy="1638300"/>
          </a:xfrm>
          <a:prstGeom prst="rect">
            <a:avLst/>
          </a:prstGeom>
        </p:spPr>
        <p:txBody>
          <a:bodyPr anchor="t" rtlCol="false" tIns="0" lIns="0" bIns="0" rIns="0">
            <a:spAutoFit/>
          </a:bodyPr>
          <a:lstStyle/>
          <a:p>
            <a:pPr algn="l">
              <a:lnSpc>
                <a:spcPts val="3238"/>
              </a:lnSpc>
            </a:pPr>
            <a:r>
              <a:rPr lang="en-US" sz="2699">
                <a:solidFill>
                  <a:srgbClr val="4B5563"/>
                </a:solidFill>
                <a:latin typeface="Inter"/>
                <a:ea typeface="Inter"/>
                <a:cs typeface="Inter"/>
                <a:sym typeface="Inter"/>
              </a:rPr>
              <a:t>Le moteur a été validé par une suite de tests automatisés couvrant chaque couche du pipeline.</a:t>
            </a:r>
          </a:p>
        </p:txBody>
      </p:sp>
      <p:sp>
        <p:nvSpPr>
          <p:cNvPr name="TextBox 50" id="50"/>
          <p:cNvSpPr txBox="true"/>
          <p:nvPr/>
        </p:nvSpPr>
        <p:spPr>
          <a:xfrm rot="0">
            <a:off x="865118" y="8576177"/>
            <a:ext cx="3935863" cy="1035558"/>
          </a:xfrm>
          <a:prstGeom prst="rect">
            <a:avLst/>
          </a:prstGeom>
        </p:spPr>
        <p:txBody>
          <a:bodyPr anchor="t" rtlCol="false" tIns="0" lIns="0" bIns="0" rIns="0">
            <a:spAutoFit/>
          </a:bodyPr>
          <a:lstStyle/>
          <a:p>
            <a:pPr algn="l">
              <a:lnSpc>
                <a:spcPts val="1558"/>
              </a:lnSpc>
            </a:pPr>
            <a:r>
              <a:rPr lang="en-US" sz="1299" b="true">
                <a:solidFill>
                  <a:srgbClr val="111827"/>
                </a:solidFill>
                <a:latin typeface="Inter Bold"/>
                <a:ea typeface="Inter Bold"/>
                <a:cs typeface="Inter Bold"/>
                <a:sym typeface="Inter Bold"/>
              </a:rPr>
              <a:t>Pipeline validé · 100% Succès · Zéro Régression</a:t>
            </a:r>
          </a:p>
        </p:txBody>
      </p:sp>
      <p:sp>
        <p:nvSpPr>
          <p:cNvPr name="TextBox 51" id="51"/>
          <p:cNvSpPr txBox="true"/>
          <p:nvPr/>
        </p:nvSpPr>
        <p:spPr>
          <a:xfrm rot="0">
            <a:off x="6006560" y="4153014"/>
            <a:ext cx="2663514" cy="514350"/>
          </a:xfrm>
          <a:prstGeom prst="rect">
            <a:avLst/>
          </a:prstGeom>
        </p:spPr>
        <p:txBody>
          <a:bodyPr anchor="t" rtlCol="false" tIns="0" lIns="0" bIns="0" rIns="0">
            <a:spAutoFit/>
          </a:bodyPr>
          <a:lstStyle/>
          <a:p>
            <a:pPr algn="l">
              <a:lnSpc>
                <a:spcPts val="2039"/>
              </a:lnSpc>
            </a:pPr>
            <a:r>
              <a:rPr lang="en-US" sz="1698" b="true">
                <a:solidFill>
                  <a:srgbClr val="111827"/>
                </a:solidFill>
                <a:latin typeface="Inter Bold"/>
                <a:ea typeface="Inter Bold"/>
                <a:cs typeface="Inter Bold"/>
                <a:sym typeface="Inter Bold"/>
              </a:rPr>
              <a:t>DÉTECTION &amp; MASQUAGE PII (18 tests)</a:t>
            </a:r>
          </a:p>
        </p:txBody>
      </p:sp>
      <p:sp>
        <p:nvSpPr>
          <p:cNvPr name="TextBox 52" id="52"/>
          <p:cNvSpPr txBox="true"/>
          <p:nvPr/>
        </p:nvSpPr>
        <p:spPr>
          <a:xfrm rot="0">
            <a:off x="6006560" y="4935626"/>
            <a:ext cx="2957274" cy="1000125"/>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Téléphone (+212), email, CIN, date de naissance.</a:t>
            </a:r>
          </a:p>
        </p:txBody>
      </p:sp>
      <p:sp>
        <p:nvSpPr>
          <p:cNvPr name="TextBox 53" id="53"/>
          <p:cNvSpPr txBox="true"/>
          <p:nvPr/>
        </p:nvSpPr>
        <p:spPr>
          <a:xfrm rot="0">
            <a:off x="6196870" y="6379712"/>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43</a:t>
            </a:r>
          </a:p>
        </p:txBody>
      </p:sp>
      <p:sp>
        <p:nvSpPr>
          <p:cNvPr name="TextBox 54" id="54"/>
          <p:cNvSpPr txBox="true"/>
          <p:nvPr/>
        </p:nvSpPr>
        <p:spPr>
          <a:xfrm rot="0">
            <a:off x="6367148" y="6500451"/>
            <a:ext cx="2159546" cy="590550"/>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TESTS AUTOMATISÉS</a:t>
            </a:r>
          </a:p>
        </p:txBody>
      </p:sp>
      <p:sp>
        <p:nvSpPr>
          <p:cNvPr name="TextBox 55" id="55"/>
          <p:cNvSpPr txBox="true"/>
          <p:nvPr/>
        </p:nvSpPr>
        <p:spPr>
          <a:xfrm rot="0">
            <a:off x="8950500" y="4234320"/>
            <a:ext cx="1906324" cy="514398"/>
          </a:xfrm>
          <a:prstGeom prst="rect">
            <a:avLst/>
          </a:prstGeom>
        </p:spPr>
        <p:txBody>
          <a:bodyPr anchor="t" rtlCol="false" tIns="0" lIns="0" bIns="0" rIns="0">
            <a:spAutoFit/>
          </a:bodyPr>
          <a:lstStyle/>
          <a:p>
            <a:pPr algn="l">
              <a:lnSpc>
                <a:spcPts val="2039"/>
              </a:lnSpc>
            </a:pPr>
            <a:r>
              <a:rPr lang="en-US" sz="1698" b="true">
                <a:solidFill>
                  <a:srgbClr val="111827"/>
                </a:solidFill>
                <a:latin typeface="Inter Bold"/>
                <a:ea typeface="Inter Bold"/>
                <a:cs typeface="Inter Bold"/>
                <a:sym typeface="Inter Bold"/>
              </a:rPr>
              <a:t>EXTRACTION NER</a:t>
            </a:r>
          </a:p>
          <a:p>
            <a:pPr algn="l">
              <a:lnSpc>
                <a:spcPts val="2039"/>
              </a:lnSpc>
            </a:pPr>
            <a:r>
              <a:rPr lang="en-US" sz="1698" b="true">
                <a:solidFill>
                  <a:srgbClr val="111827"/>
                </a:solidFill>
                <a:latin typeface="Inter Bold"/>
                <a:ea typeface="Inter Bold"/>
                <a:cs typeface="Inter Bold"/>
                <a:sym typeface="Inter Bold"/>
              </a:rPr>
              <a:t> (14 tests)</a:t>
            </a:r>
          </a:p>
        </p:txBody>
      </p:sp>
      <p:sp>
        <p:nvSpPr>
          <p:cNvPr name="TextBox 56" id="56"/>
          <p:cNvSpPr txBox="true"/>
          <p:nvPr/>
        </p:nvSpPr>
        <p:spPr>
          <a:xfrm rot="0">
            <a:off x="8888178" y="5143500"/>
            <a:ext cx="2903210" cy="666750"/>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Postes, diplômes, entreprises via spaCy.</a:t>
            </a:r>
          </a:p>
        </p:txBody>
      </p:sp>
      <p:sp>
        <p:nvSpPr>
          <p:cNvPr name="TextBox 57" id="57"/>
          <p:cNvSpPr txBox="true"/>
          <p:nvPr/>
        </p:nvSpPr>
        <p:spPr>
          <a:xfrm rot="0">
            <a:off x="9183453" y="6372854"/>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100%</a:t>
            </a:r>
          </a:p>
        </p:txBody>
      </p:sp>
      <p:sp>
        <p:nvSpPr>
          <p:cNvPr name="TextBox 58" id="58"/>
          <p:cNvSpPr txBox="true"/>
          <p:nvPr/>
        </p:nvSpPr>
        <p:spPr>
          <a:xfrm rot="0">
            <a:off x="9022185" y="6500451"/>
            <a:ext cx="2159546" cy="590464"/>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TAUX DE RÉUSSITE élevé</a:t>
            </a:r>
          </a:p>
        </p:txBody>
      </p:sp>
      <p:sp>
        <p:nvSpPr>
          <p:cNvPr name="TextBox 59" id="59"/>
          <p:cNvSpPr txBox="true"/>
          <p:nvPr/>
        </p:nvSpPr>
        <p:spPr>
          <a:xfrm rot="0">
            <a:off x="12150995" y="4206678"/>
            <a:ext cx="2473214" cy="5334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SECURITY GATE &amp; LLM (4 tests)</a:t>
            </a:r>
          </a:p>
        </p:txBody>
      </p:sp>
      <p:sp>
        <p:nvSpPr>
          <p:cNvPr name="TextBox 60" id="60"/>
          <p:cNvSpPr txBox="true"/>
          <p:nvPr/>
        </p:nvSpPr>
        <p:spPr>
          <a:xfrm rot="0">
            <a:off x="12010463" y="4867389"/>
            <a:ext cx="2475262" cy="1000125"/>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Assertion assert_no_raw_pii_before_llm.</a:t>
            </a:r>
          </a:p>
        </p:txBody>
      </p:sp>
      <p:sp>
        <p:nvSpPr>
          <p:cNvPr name="TextBox 61" id="61"/>
          <p:cNvSpPr txBox="true"/>
          <p:nvPr/>
        </p:nvSpPr>
        <p:spPr>
          <a:xfrm rot="0">
            <a:off x="12170035" y="6366005"/>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23.57s</a:t>
            </a:r>
          </a:p>
        </p:txBody>
      </p:sp>
      <p:sp>
        <p:nvSpPr>
          <p:cNvPr name="TextBox 62" id="62"/>
          <p:cNvSpPr txBox="true"/>
          <p:nvPr/>
        </p:nvSpPr>
        <p:spPr>
          <a:xfrm rot="0">
            <a:off x="12150995" y="6359157"/>
            <a:ext cx="2159546" cy="885825"/>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TEMPS D'EXÉCUTION TOTAL</a:t>
            </a:r>
          </a:p>
        </p:txBody>
      </p:sp>
      <p:sp>
        <p:nvSpPr>
          <p:cNvPr name="TextBox 63" id="63"/>
          <p:cNvSpPr txBox="true"/>
          <p:nvPr/>
        </p:nvSpPr>
        <p:spPr>
          <a:xfrm rot="0">
            <a:off x="14929075" y="4206678"/>
            <a:ext cx="2614622" cy="5334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PIPELINE, BATCH &amp; RECHERCHE (8 tests)</a:t>
            </a:r>
          </a:p>
        </p:txBody>
      </p:sp>
      <p:sp>
        <p:nvSpPr>
          <p:cNvPr name="TextBox 64" id="64"/>
          <p:cNvSpPr txBox="true"/>
          <p:nvPr/>
        </p:nvSpPr>
        <p:spPr>
          <a:xfrm rot="0">
            <a:off x="14804850" y="4992776"/>
            <a:ext cx="2806579" cy="942975"/>
          </a:xfrm>
          <a:prstGeom prst="rect">
            <a:avLst/>
          </a:prstGeom>
        </p:spPr>
        <p:txBody>
          <a:bodyPr anchor="t" rtlCol="false" tIns="0" lIns="0" bIns="0" rIns="0">
            <a:spAutoFit/>
          </a:bodyPr>
          <a:lstStyle/>
          <a:p>
            <a:pPr algn="l">
              <a:lnSpc>
                <a:spcPts val="2519"/>
              </a:lnSpc>
            </a:pPr>
            <a:r>
              <a:rPr lang="en-US" sz="2099">
                <a:solidFill>
                  <a:srgbClr val="4B5563"/>
                </a:solidFill>
                <a:latin typeface="Inter"/>
                <a:ea typeface="Inter"/>
                <a:cs typeface="Inter"/>
                <a:sym typeface="Inter"/>
              </a:rPr>
              <a:t>Upload, traitement ZIP (SF-09), recherche SQL (SF-10).</a:t>
            </a:r>
          </a:p>
        </p:txBody>
      </p:sp>
      <p:sp>
        <p:nvSpPr>
          <p:cNvPr name="TextBox 65" id="65"/>
          <p:cNvSpPr txBox="true"/>
          <p:nvPr/>
        </p:nvSpPr>
        <p:spPr>
          <a:xfrm rot="0">
            <a:off x="15156618" y="6359157"/>
            <a:ext cx="2159546" cy="336423"/>
          </a:xfrm>
          <a:prstGeom prst="rect">
            <a:avLst/>
          </a:prstGeom>
        </p:spPr>
        <p:txBody>
          <a:bodyPr anchor="t" rtlCol="false" tIns="0" lIns="0" bIns="0" rIns="0">
            <a:spAutoFit/>
          </a:bodyPr>
          <a:lstStyle/>
          <a:p>
            <a:pPr algn="l">
              <a:lnSpc>
                <a:spcPts val="2638"/>
              </a:lnSpc>
            </a:pPr>
            <a:r>
              <a:rPr lang="en-US" sz="2199" b="true">
                <a:solidFill>
                  <a:srgbClr val="FF6B00"/>
                </a:solidFill>
                <a:latin typeface="Inter Bold"/>
                <a:ea typeface="Inter Bold"/>
                <a:cs typeface="Inter Bold"/>
                <a:sym typeface="Inter Bold"/>
              </a:rPr>
              <a:t>0</a:t>
            </a:r>
          </a:p>
        </p:txBody>
      </p:sp>
      <p:sp>
        <p:nvSpPr>
          <p:cNvPr name="TextBox 66" id="66"/>
          <p:cNvSpPr txBox="true"/>
          <p:nvPr/>
        </p:nvSpPr>
        <p:spPr>
          <a:xfrm rot="0">
            <a:off x="15156618" y="6513224"/>
            <a:ext cx="2159546" cy="590550"/>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RÉGRESSION DÉTECTÉE</a:t>
            </a:r>
          </a:p>
        </p:txBody>
      </p:sp>
      <p:sp>
        <p:nvSpPr>
          <p:cNvPr name="TextBox 67" id="67"/>
          <p:cNvSpPr txBox="true"/>
          <p:nvPr/>
        </p:nvSpPr>
        <p:spPr>
          <a:xfrm rot="0">
            <a:off x="7183946" y="8248669"/>
            <a:ext cx="6212434" cy="885692"/>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 Ce stage m'a permis de transformer une exigence légale complexe — la Loi 09-08 — en un pipeline technique fiable, testé et mesurable. »</a:t>
            </a:r>
          </a:p>
        </p:txBody>
      </p:sp>
      <p:sp>
        <p:nvSpPr>
          <p:cNvPr name="TextBox 68" id="68"/>
          <p:cNvSpPr txBox="true"/>
          <p:nvPr/>
        </p:nvSpPr>
        <p:spPr>
          <a:xfrm rot="0">
            <a:off x="15382151" y="8305238"/>
            <a:ext cx="1815703" cy="285750"/>
          </a:xfrm>
          <a:prstGeom prst="rect">
            <a:avLst/>
          </a:prstGeom>
        </p:spPr>
        <p:txBody>
          <a:bodyPr anchor="t" rtlCol="false" tIns="0" lIns="0" bIns="0" rIns="0">
            <a:spAutoFit/>
          </a:bodyPr>
          <a:lstStyle/>
          <a:p>
            <a:pPr algn="l">
              <a:lnSpc>
                <a:spcPts val="2279"/>
              </a:lnSpc>
            </a:pPr>
            <a:r>
              <a:rPr lang="en-US" sz="1899" b="true">
                <a:solidFill>
                  <a:srgbClr val="111827"/>
                </a:solidFill>
                <a:latin typeface="Inter Bold"/>
                <a:ea typeface="Inter Bold"/>
                <a:cs typeface="Inter Bold"/>
                <a:sym typeface="Inter Bold"/>
              </a:rPr>
              <a:t>Youssef Taicha</a:t>
            </a:r>
          </a:p>
        </p:txBody>
      </p:sp>
      <p:sp>
        <p:nvSpPr>
          <p:cNvPr name="TextBox 69" id="69"/>
          <p:cNvSpPr txBox="true"/>
          <p:nvPr/>
        </p:nvSpPr>
        <p:spPr>
          <a:xfrm rot="0">
            <a:off x="15367692" y="8619563"/>
            <a:ext cx="2103587" cy="571500"/>
          </a:xfrm>
          <a:prstGeom prst="rect">
            <a:avLst/>
          </a:prstGeom>
        </p:spPr>
        <p:txBody>
          <a:bodyPr anchor="t" rtlCol="false" tIns="0" lIns="0" bIns="0" rIns="0">
            <a:spAutoFit/>
          </a:bodyPr>
          <a:lstStyle/>
          <a:p>
            <a:pPr algn="l">
              <a:lnSpc>
                <a:spcPts val="2279"/>
              </a:lnSpc>
            </a:pPr>
            <a:r>
              <a:rPr lang="en-US" sz="1899">
                <a:solidFill>
                  <a:srgbClr val="4B5563"/>
                </a:solidFill>
                <a:latin typeface="Inter"/>
                <a:ea typeface="Inter"/>
                <a:cs typeface="Inter"/>
                <a:sym typeface="Inter"/>
              </a:rPr>
              <a:t>Stagiaire Génie Informatique</a:t>
            </a:r>
          </a:p>
        </p:txBody>
      </p:sp>
      <p:sp>
        <p:nvSpPr>
          <p:cNvPr name="TextBox 70" id="70"/>
          <p:cNvSpPr txBox="true"/>
          <p:nvPr/>
        </p:nvSpPr>
        <p:spPr>
          <a:xfrm rot="0">
            <a:off x="14141101" y="9288561"/>
            <a:ext cx="3330178" cy="314325"/>
          </a:xfrm>
          <a:prstGeom prst="rect">
            <a:avLst/>
          </a:prstGeom>
        </p:spPr>
        <p:txBody>
          <a:bodyPr anchor="t" rtlCol="false" tIns="0" lIns="0" bIns="0" rIns="0">
            <a:spAutoFit/>
          </a:bodyPr>
          <a:lstStyle/>
          <a:p>
            <a:pPr algn="l">
              <a:lnSpc>
                <a:spcPts val="2519"/>
              </a:lnSpc>
            </a:pPr>
            <a:r>
              <a:rPr lang="en-US" sz="2099">
                <a:solidFill>
                  <a:srgbClr val="FF6B00"/>
                </a:solidFill>
                <a:latin typeface="Inter"/>
                <a:ea typeface="Inter"/>
                <a:cs typeface="Inter"/>
                <a:sym typeface="Inter"/>
              </a:rPr>
              <a:t>Kinova Tech | EST Meknès</a:t>
            </a:r>
          </a:p>
        </p:txBody>
      </p:sp>
    </p:spTree>
  </p:cSld>
  <p:clrMapOvr>
    <a:masterClrMapping/>
  </p:clrMapOvr>
  <p:transition spd="slow">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909947"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5115401"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5320856"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TextBox 6" id="6"/>
          <p:cNvSpPr txBox="true"/>
          <p:nvPr/>
        </p:nvSpPr>
        <p:spPr>
          <a:xfrm rot="0">
            <a:off x="913047" y="2017871"/>
            <a:ext cx="5548379" cy="2435095"/>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PROTÉGER LES DONNÉES.</a:t>
            </a:r>
          </a:p>
          <a:p>
            <a:pPr algn="l">
              <a:lnSpc>
                <a:spcPts val="3600"/>
              </a:lnSpc>
            </a:pPr>
            <a:r>
              <a:rPr lang="en-US" sz="3000" b="true">
                <a:solidFill>
                  <a:srgbClr val="FF6B00"/>
                </a:solidFill>
                <a:latin typeface="Inter Bold"/>
                <a:ea typeface="Inter Bold"/>
                <a:cs typeface="Inter Bold"/>
                <a:sym typeface="Inter Bold"/>
              </a:rPr>
              <a:t>RESPECTER LA LOI.</a:t>
            </a:r>
          </a:p>
        </p:txBody>
      </p:sp>
      <p:sp>
        <p:nvSpPr>
          <p:cNvPr name="AutoShape 7" id="7"/>
          <p:cNvSpPr/>
          <p:nvPr/>
        </p:nvSpPr>
        <p:spPr>
          <a:xfrm>
            <a:off x="0" y="3655219"/>
            <a:ext cx="6061205" cy="0"/>
          </a:xfrm>
          <a:prstGeom prst="line">
            <a:avLst/>
          </a:prstGeom>
          <a:ln cap="rnd" w="47625">
            <a:solidFill>
              <a:srgbClr val="FF5300"/>
            </a:solidFill>
            <a:prstDash val="solid"/>
            <a:headEnd type="none" len="sm" w="sm"/>
            <a:tailEnd type="none" len="sm" w="sm"/>
          </a:ln>
        </p:spPr>
      </p:sp>
      <p:sp>
        <p:nvSpPr>
          <p:cNvPr name="Freeform 8" id="8"/>
          <p:cNvSpPr/>
          <p:nvPr/>
        </p:nvSpPr>
        <p:spPr>
          <a:xfrm flipH="false" flipV="false" rot="0">
            <a:off x="-723090" y="4944932"/>
            <a:ext cx="9571815" cy="5554847"/>
          </a:xfrm>
          <a:custGeom>
            <a:avLst/>
            <a:gdLst/>
            <a:ahLst/>
            <a:cxnLst/>
            <a:rect r="r" b="b" t="t" l="l"/>
            <a:pathLst>
              <a:path h="5554847" w="9571815">
                <a:moveTo>
                  <a:pt x="0" y="0"/>
                </a:moveTo>
                <a:lnTo>
                  <a:pt x="9571815" y="0"/>
                </a:lnTo>
                <a:lnTo>
                  <a:pt x="9571815" y="5554847"/>
                </a:lnTo>
                <a:lnTo>
                  <a:pt x="0" y="5554847"/>
                </a:lnTo>
                <a:lnTo>
                  <a:pt x="0" y="0"/>
                </a:lnTo>
                <a:close/>
              </a:path>
            </a:pathLst>
          </a:custGeom>
          <a:blipFill>
            <a:blip r:embed="rId6">
              <a:extLst>
                <a:ext uri="{96DAC541-7B7A-43D3-8B79-37D633B846F1}">
                  <asvg:svgBlip xmlns:asvg="http://schemas.microsoft.com/office/drawing/2016/SVG/main" r:embed="rId7"/>
                </a:ext>
              </a:extLst>
            </a:blip>
            <a:stretch>
              <a:fillRect l="0" t="-65" r="0" b="-65"/>
            </a:stretch>
          </a:blipFill>
        </p:spPr>
      </p:sp>
      <p:sp>
        <p:nvSpPr>
          <p:cNvPr name="AutoShape 9" id="9"/>
          <p:cNvSpPr/>
          <p:nvPr/>
        </p:nvSpPr>
        <p:spPr>
          <a:xfrm rot="4980">
            <a:off x="1312488" y="7505462"/>
            <a:ext cx="6588757" cy="0"/>
          </a:xfrm>
          <a:prstGeom prst="line">
            <a:avLst/>
          </a:prstGeom>
          <a:ln cap="rnd" w="9525">
            <a:solidFill>
              <a:srgbClr val="4C5A6D"/>
            </a:solidFill>
            <a:prstDash val="solid"/>
            <a:headEnd type="none" len="sm" w="sm"/>
            <a:tailEnd type="none" len="sm" w="sm"/>
          </a:ln>
        </p:spPr>
      </p:sp>
      <p:sp>
        <p:nvSpPr>
          <p:cNvPr name="AutoShape 10" id="10"/>
          <p:cNvSpPr/>
          <p:nvPr/>
        </p:nvSpPr>
        <p:spPr>
          <a:xfrm rot="9120">
            <a:off x="2730017" y="7505462"/>
            <a:ext cx="3602193" cy="0"/>
          </a:xfrm>
          <a:prstGeom prst="line">
            <a:avLst/>
          </a:prstGeom>
          <a:ln cap="rnd" w="9525">
            <a:solidFill>
              <a:srgbClr val="4C5A6D"/>
            </a:solidFill>
            <a:prstDash val="solid"/>
            <a:headEnd type="none" len="sm" w="sm"/>
            <a:tailEnd type="none" len="sm" w="sm"/>
          </a:ln>
        </p:spPr>
      </p:sp>
      <p:sp>
        <p:nvSpPr>
          <p:cNvPr name="Freeform 11" id="11"/>
          <p:cNvSpPr/>
          <p:nvPr/>
        </p:nvSpPr>
        <p:spPr>
          <a:xfrm flipH="false" flipV="false" rot="0">
            <a:off x="9172575" y="556517"/>
            <a:ext cx="8219904" cy="1070143"/>
          </a:xfrm>
          <a:custGeom>
            <a:avLst/>
            <a:gdLst/>
            <a:ahLst/>
            <a:cxnLst/>
            <a:rect r="r" b="b" t="t" l="l"/>
            <a:pathLst>
              <a:path h="1070143" w="8219904">
                <a:moveTo>
                  <a:pt x="0" y="0"/>
                </a:moveTo>
                <a:lnTo>
                  <a:pt x="8219904" y="0"/>
                </a:lnTo>
                <a:lnTo>
                  <a:pt x="8219904" y="1070143"/>
                </a:lnTo>
                <a:lnTo>
                  <a:pt x="0" y="1070143"/>
                </a:lnTo>
                <a:lnTo>
                  <a:pt x="0" y="0"/>
                </a:lnTo>
                <a:close/>
              </a:path>
            </a:pathLst>
          </a:custGeom>
          <a:blipFill>
            <a:blip r:embed="rId8">
              <a:extLst>
                <a:ext uri="{96DAC541-7B7A-43D3-8B79-37D633B846F1}">
                  <asvg:svgBlip xmlns:asvg="http://schemas.microsoft.com/office/drawing/2016/SVG/main" r:embed="rId9"/>
                </a:ext>
              </a:extLst>
            </a:blip>
            <a:stretch>
              <a:fillRect l="0" t="-287" r="0" b="-288"/>
            </a:stretch>
          </a:blipFill>
        </p:spPr>
      </p:sp>
      <p:sp>
        <p:nvSpPr>
          <p:cNvPr name="Freeform 12" id="12"/>
          <p:cNvSpPr/>
          <p:nvPr/>
        </p:nvSpPr>
        <p:spPr>
          <a:xfrm flipH="false" flipV="false" rot="0">
            <a:off x="9559157" y="977941"/>
            <a:ext cx="436969" cy="341633"/>
          </a:xfrm>
          <a:custGeom>
            <a:avLst/>
            <a:gdLst/>
            <a:ahLst/>
            <a:cxnLst/>
            <a:rect r="r" b="b" t="t" l="l"/>
            <a:pathLst>
              <a:path h="341633" w="436969">
                <a:moveTo>
                  <a:pt x="0" y="0"/>
                </a:moveTo>
                <a:lnTo>
                  <a:pt x="436969" y="0"/>
                </a:lnTo>
                <a:lnTo>
                  <a:pt x="436969" y="341633"/>
                </a:lnTo>
                <a:lnTo>
                  <a:pt x="0" y="341633"/>
                </a:lnTo>
                <a:lnTo>
                  <a:pt x="0" y="0"/>
                </a:lnTo>
                <a:close/>
              </a:path>
            </a:pathLst>
          </a:custGeom>
          <a:blipFill>
            <a:blip r:embed="rId10">
              <a:extLst>
                <a:ext uri="{96DAC541-7B7A-43D3-8B79-37D633B846F1}">
                  <asvg:svgBlip xmlns:asvg="http://schemas.microsoft.com/office/drawing/2016/SVG/main" r:embed="rId11"/>
                </a:ext>
              </a:extLst>
            </a:blip>
            <a:stretch>
              <a:fillRect l="0" t="-50" r="0" b="-50"/>
            </a:stretch>
          </a:blipFill>
        </p:spPr>
      </p:sp>
      <p:sp>
        <p:nvSpPr>
          <p:cNvPr name="Freeform 13" id="13"/>
          <p:cNvSpPr/>
          <p:nvPr/>
        </p:nvSpPr>
        <p:spPr>
          <a:xfrm flipH="false" flipV="false" rot="0">
            <a:off x="9172575" y="1922736"/>
            <a:ext cx="8219904" cy="2398166"/>
          </a:xfrm>
          <a:custGeom>
            <a:avLst/>
            <a:gdLst/>
            <a:ahLst/>
            <a:cxnLst/>
            <a:rect r="r" b="b" t="t" l="l"/>
            <a:pathLst>
              <a:path h="2398166" w="8219904">
                <a:moveTo>
                  <a:pt x="0" y="0"/>
                </a:moveTo>
                <a:lnTo>
                  <a:pt x="8219904" y="0"/>
                </a:lnTo>
                <a:lnTo>
                  <a:pt x="8219904" y="2398166"/>
                </a:lnTo>
                <a:lnTo>
                  <a:pt x="0" y="2398166"/>
                </a:lnTo>
                <a:lnTo>
                  <a:pt x="0" y="0"/>
                </a:lnTo>
                <a:close/>
              </a:path>
            </a:pathLst>
          </a:custGeom>
          <a:blipFill>
            <a:blip r:embed="rId12">
              <a:extLst>
                <a:ext uri="{96DAC541-7B7A-43D3-8B79-37D633B846F1}">
                  <asvg:svgBlip xmlns:asvg="http://schemas.microsoft.com/office/drawing/2016/SVG/main" r:embed="rId13"/>
                </a:ext>
              </a:extLst>
            </a:blip>
            <a:stretch>
              <a:fillRect l="0" t="-43" r="0" b="-43"/>
            </a:stretch>
          </a:blipFill>
        </p:spPr>
      </p:sp>
      <p:sp>
        <p:nvSpPr>
          <p:cNvPr name="Freeform 14" id="14"/>
          <p:cNvSpPr/>
          <p:nvPr/>
        </p:nvSpPr>
        <p:spPr>
          <a:xfrm flipH="false" flipV="false" rot="0">
            <a:off x="9633680" y="2406948"/>
            <a:ext cx="494205" cy="379305"/>
          </a:xfrm>
          <a:custGeom>
            <a:avLst/>
            <a:gdLst/>
            <a:ahLst/>
            <a:cxnLst/>
            <a:rect r="r" b="b" t="t" l="l"/>
            <a:pathLst>
              <a:path h="379305" w="494205">
                <a:moveTo>
                  <a:pt x="0" y="0"/>
                </a:moveTo>
                <a:lnTo>
                  <a:pt x="494205" y="0"/>
                </a:lnTo>
                <a:lnTo>
                  <a:pt x="494205" y="379305"/>
                </a:lnTo>
                <a:lnTo>
                  <a:pt x="0" y="379305"/>
                </a:lnTo>
                <a:lnTo>
                  <a:pt x="0" y="0"/>
                </a:lnTo>
                <a:close/>
              </a:path>
            </a:pathLst>
          </a:custGeom>
          <a:blipFill>
            <a:blip r:embed="rId14">
              <a:extLst>
                <a:ext uri="{96DAC541-7B7A-43D3-8B79-37D633B846F1}">
                  <asvg:svgBlip xmlns:asvg="http://schemas.microsoft.com/office/drawing/2016/SVG/main" r:embed="rId15"/>
                </a:ext>
              </a:extLst>
            </a:blip>
            <a:stretch>
              <a:fillRect l="0" t="-113" r="0" b="-113"/>
            </a:stretch>
          </a:blipFill>
        </p:spPr>
      </p:sp>
      <p:sp>
        <p:nvSpPr>
          <p:cNvPr name="AutoShape 15" id="15"/>
          <p:cNvSpPr/>
          <p:nvPr/>
        </p:nvSpPr>
        <p:spPr>
          <a:xfrm rot="20340">
            <a:off x="13415553" y="3166539"/>
            <a:ext cx="1609630" cy="0"/>
          </a:xfrm>
          <a:prstGeom prst="line">
            <a:avLst/>
          </a:prstGeom>
          <a:ln cap="rnd" w="9525">
            <a:solidFill>
              <a:srgbClr val="DFDFDF"/>
            </a:solidFill>
            <a:prstDash val="solid"/>
            <a:headEnd type="none" len="sm" w="sm"/>
            <a:tailEnd type="none" len="sm" w="sm"/>
          </a:ln>
        </p:spPr>
      </p:sp>
      <p:sp>
        <p:nvSpPr>
          <p:cNvPr name="Freeform 16" id="16"/>
          <p:cNvSpPr/>
          <p:nvPr/>
        </p:nvSpPr>
        <p:spPr>
          <a:xfrm flipH="false" flipV="false" rot="0">
            <a:off x="9172575" y="4553788"/>
            <a:ext cx="8219904" cy="2398166"/>
          </a:xfrm>
          <a:custGeom>
            <a:avLst/>
            <a:gdLst/>
            <a:ahLst/>
            <a:cxnLst/>
            <a:rect r="r" b="b" t="t" l="l"/>
            <a:pathLst>
              <a:path h="2398166" w="8219904">
                <a:moveTo>
                  <a:pt x="0" y="0"/>
                </a:moveTo>
                <a:lnTo>
                  <a:pt x="8219904" y="0"/>
                </a:lnTo>
                <a:lnTo>
                  <a:pt x="8219904" y="2398167"/>
                </a:lnTo>
                <a:lnTo>
                  <a:pt x="0" y="2398167"/>
                </a:lnTo>
                <a:lnTo>
                  <a:pt x="0" y="0"/>
                </a:lnTo>
                <a:close/>
              </a:path>
            </a:pathLst>
          </a:custGeom>
          <a:blipFill>
            <a:blip r:embed="rId12">
              <a:extLst>
                <a:ext uri="{96DAC541-7B7A-43D3-8B79-37D633B846F1}">
                  <asvg:svgBlip xmlns:asvg="http://schemas.microsoft.com/office/drawing/2016/SVG/main" r:embed="rId13"/>
                </a:ext>
              </a:extLst>
            </a:blip>
            <a:stretch>
              <a:fillRect l="0" t="-43" r="0" b="-43"/>
            </a:stretch>
          </a:blipFill>
        </p:spPr>
      </p:sp>
      <p:sp>
        <p:nvSpPr>
          <p:cNvPr name="Freeform 17" id="17"/>
          <p:cNvSpPr/>
          <p:nvPr/>
        </p:nvSpPr>
        <p:spPr>
          <a:xfrm flipH="false" flipV="false" rot="0">
            <a:off x="9633680" y="5038001"/>
            <a:ext cx="494205" cy="379305"/>
          </a:xfrm>
          <a:custGeom>
            <a:avLst/>
            <a:gdLst/>
            <a:ahLst/>
            <a:cxnLst/>
            <a:rect r="r" b="b" t="t" l="l"/>
            <a:pathLst>
              <a:path h="379305" w="494205">
                <a:moveTo>
                  <a:pt x="0" y="0"/>
                </a:moveTo>
                <a:lnTo>
                  <a:pt x="494205" y="0"/>
                </a:lnTo>
                <a:lnTo>
                  <a:pt x="494205" y="379305"/>
                </a:lnTo>
                <a:lnTo>
                  <a:pt x="0" y="379305"/>
                </a:lnTo>
                <a:lnTo>
                  <a:pt x="0" y="0"/>
                </a:lnTo>
                <a:close/>
              </a:path>
            </a:pathLst>
          </a:custGeom>
          <a:blipFill>
            <a:blip r:embed="rId14">
              <a:extLst>
                <a:ext uri="{96DAC541-7B7A-43D3-8B79-37D633B846F1}">
                  <asvg:svgBlip xmlns:asvg="http://schemas.microsoft.com/office/drawing/2016/SVG/main" r:embed="rId15"/>
                </a:ext>
              </a:extLst>
            </a:blip>
            <a:stretch>
              <a:fillRect l="0" t="-113" r="0" b="-113"/>
            </a:stretch>
          </a:blipFill>
        </p:spPr>
      </p:sp>
      <p:sp>
        <p:nvSpPr>
          <p:cNvPr name="Freeform 18" id="18"/>
          <p:cNvSpPr/>
          <p:nvPr/>
        </p:nvSpPr>
        <p:spPr>
          <a:xfrm flipH="false" flipV="false" rot="0">
            <a:off x="9172575" y="7184841"/>
            <a:ext cx="8219904" cy="2398166"/>
          </a:xfrm>
          <a:custGeom>
            <a:avLst/>
            <a:gdLst/>
            <a:ahLst/>
            <a:cxnLst/>
            <a:rect r="r" b="b" t="t" l="l"/>
            <a:pathLst>
              <a:path h="2398166" w="8219904">
                <a:moveTo>
                  <a:pt x="0" y="0"/>
                </a:moveTo>
                <a:lnTo>
                  <a:pt x="8219904" y="0"/>
                </a:lnTo>
                <a:lnTo>
                  <a:pt x="8219904" y="2398166"/>
                </a:lnTo>
                <a:lnTo>
                  <a:pt x="0" y="2398166"/>
                </a:lnTo>
                <a:lnTo>
                  <a:pt x="0" y="0"/>
                </a:lnTo>
                <a:close/>
              </a:path>
            </a:pathLst>
          </a:custGeom>
          <a:blipFill>
            <a:blip r:embed="rId12">
              <a:extLst>
                <a:ext uri="{96DAC541-7B7A-43D3-8B79-37D633B846F1}">
                  <asvg:svgBlip xmlns:asvg="http://schemas.microsoft.com/office/drawing/2016/SVG/main" r:embed="rId13"/>
                </a:ext>
              </a:extLst>
            </a:blip>
            <a:stretch>
              <a:fillRect l="0" t="-43" r="0" b="-43"/>
            </a:stretch>
          </a:blipFill>
        </p:spPr>
      </p:sp>
      <p:sp>
        <p:nvSpPr>
          <p:cNvPr name="Freeform 19" id="19"/>
          <p:cNvSpPr/>
          <p:nvPr/>
        </p:nvSpPr>
        <p:spPr>
          <a:xfrm flipH="false" flipV="false" rot="0">
            <a:off x="9633680" y="7669063"/>
            <a:ext cx="494205" cy="379305"/>
          </a:xfrm>
          <a:custGeom>
            <a:avLst/>
            <a:gdLst/>
            <a:ahLst/>
            <a:cxnLst/>
            <a:rect r="r" b="b" t="t" l="l"/>
            <a:pathLst>
              <a:path h="379305" w="494205">
                <a:moveTo>
                  <a:pt x="0" y="0"/>
                </a:moveTo>
                <a:lnTo>
                  <a:pt x="494205" y="0"/>
                </a:lnTo>
                <a:lnTo>
                  <a:pt x="494205" y="379305"/>
                </a:lnTo>
                <a:lnTo>
                  <a:pt x="0" y="379305"/>
                </a:lnTo>
                <a:lnTo>
                  <a:pt x="0" y="0"/>
                </a:lnTo>
                <a:close/>
              </a:path>
            </a:pathLst>
          </a:custGeom>
          <a:blipFill>
            <a:blip r:embed="rId14">
              <a:extLst>
                <a:ext uri="{96DAC541-7B7A-43D3-8B79-37D633B846F1}">
                  <asvg:svgBlip xmlns:asvg="http://schemas.microsoft.com/office/drawing/2016/SVG/main" r:embed="rId15"/>
                </a:ext>
              </a:extLst>
            </a:blip>
            <a:stretch>
              <a:fillRect l="0" t="-113" r="0" b="-113"/>
            </a:stretch>
          </a:blipFill>
        </p:spPr>
      </p:sp>
      <p:sp>
        <p:nvSpPr>
          <p:cNvPr name="TextBox 20" id="20"/>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08</a:t>
            </a:r>
          </a:p>
        </p:txBody>
      </p:sp>
      <p:sp>
        <p:nvSpPr>
          <p:cNvPr name="TextBox 21" id="21"/>
          <p:cNvSpPr txBox="true"/>
          <p:nvPr/>
        </p:nvSpPr>
        <p:spPr>
          <a:xfrm rot="0">
            <a:off x="1062009" y="120577"/>
            <a:ext cx="4258847" cy="314325"/>
          </a:xfrm>
          <a:prstGeom prst="rect">
            <a:avLst/>
          </a:prstGeom>
        </p:spPr>
        <p:txBody>
          <a:bodyPr anchor="t" rtlCol="false" tIns="0" lIns="0" bIns="0" rIns="0">
            <a:spAutoFit/>
          </a:bodyPr>
          <a:lstStyle/>
          <a:p>
            <a:pPr algn="l">
              <a:lnSpc>
                <a:spcPts val="2519"/>
              </a:lnSpc>
            </a:pPr>
            <a:r>
              <a:rPr lang="en-US" sz="2099" b="true">
                <a:solidFill>
                  <a:srgbClr val="FF6B00"/>
                </a:solidFill>
                <a:latin typeface="Inter Bold"/>
                <a:ea typeface="Inter Bold"/>
                <a:cs typeface="Inter Bold"/>
                <a:sym typeface="Inter Bold"/>
              </a:rPr>
              <a:t>08 — CONFORMITÉ LÉGALE</a:t>
            </a:r>
          </a:p>
        </p:txBody>
      </p:sp>
      <p:sp>
        <p:nvSpPr>
          <p:cNvPr name="TextBox 22" id="22"/>
          <p:cNvSpPr txBox="true"/>
          <p:nvPr/>
        </p:nvSpPr>
        <p:spPr>
          <a:xfrm rot="0">
            <a:off x="960672" y="4251008"/>
            <a:ext cx="7311419" cy="590550"/>
          </a:xfrm>
          <a:prstGeom prst="rect">
            <a:avLst/>
          </a:prstGeom>
        </p:spPr>
        <p:txBody>
          <a:bodyPr anchor="t" rtlCol="false" tIns="0" lIns="0" bIns="0" rIns="0">
            <a:spAutoFit/>
          </a:bodyPr>
          <a:lstStyle/>
          <a:p>
            <a:pPr algn="l">
              <a:lnSpc>
                <a:spcPts val="2398"/>
              </a:lnSpc>
            </a:pPr>
            <a:r>
              <a:rPr lang="en-US" sz="1998">
                <a:solidFill>
                  <a:srgbClr val="4B5563"/>
                </a:solidFill>
                <a:latin typeface="Inter"/>
                <a:ea typeface="Inter"/>
                <a:cs typeface="Inter"/>
                <a:sym typeface="Inter"/>
              </a:rPr>
              <a:t>Le projet applique concrètement la Loi n°09-08 (CNDP) à chaque étape du traitement.</a:t>
            </a:r>
          </a:p>
        </p:txBody>
      </p:sp>
      <p:sp>
        <p:nvSpPr>
          <p:cNvPr name="Freeform 23" id="23"/>
          <p:cNvSpPr/>
          <p:nvPr/>
        </p:nvSpPr>
        <p:spPr>
          <a:xfrm flipH="false" flipV="false" rot="0">
            <a:off x="84277" y="5651182"/>
            <a:ext cx="807168" cy="807168"/>
          </a:xfrm>
          <a:custGeom>
            <a:avLst/>
            <a:gdLst/>
            <a:ahLst/>
            <a:cxnLst/>
            <a:rect r="r" b="b" t="t" l="l"/>
            <a:pathLst>
              <a:path h="807168" w="807168">
                <a:moveTo>
                  <a:pt x="0" y="0"/>
                </a:moveTo>
                <a:lnTo>
                  <a:pt x="807168" y="0"/>
                </a:lnTo>
                <a:lnTo>
                  <a:pt x="807168" y="807168"/>
                </a:lnTo>
                <a:lnTo>
                  <a:pt x="0" y="80716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4" id="24"/>
          <p:cNvSpPr txBox="true"/>
          <p:nvPr/>
        </p:nvSpPr>
        <p:spPr>
          <a:xfrm rot="0">
            <a:off x="1279884" y="5685625"/>
            <a:ext cx="2889275" cy="564680"/>
          </a:xfrm>
          <a:prstGeom prst="rect">
            <a:avLst/>
          </a:prstGeom>
        </p:spPr>
        <p:txBody>
          <a:bodyPr anchor="t" rtlCol="false" tIns="0" lIns="0" bIns="0" rIns="0">
            <a:spAutoFit/>
          </a:bodyPr>
          <a:lstStyle/>
          <a:p>
            <a:pPr algn="l">
              <a:lnSpc>
                <a:spcPts val="3532"/>
              </a:lnSpc>
            </a:pPr>
            <a:r>
              <a:rPr lang="en-US" sz="2943" b="true">
                <a:solidFill>
                  <a:srgbClr val="FF6B00"/>
                </a:solidFill>
                <a:latin typeface="Inter Bold"/>
                <a:ea typeface="Inter Bold"/>
                <a:cs typeface="Inter Bold"/>
                <a:sym typeface="Inter Bold"/>
              </a:rPr>
              <a:t>Couche 1</a:t>
            </a:r>
          </a:p>
        </p:txBody>
      </p:sp>
      <p:sp>
        <p:nvSpPr>
          <p:cNvPr name="TextBox 25" id="25"/>
          <p:cNvSpPr txBox="true"/>
          <p:nvPr/>
        </p:nvSpPr>
        <p:spPr>
          <a:xfrm rot="0">
            <a:off x="1279884" y="6855619"/>
            <a:ext cx="2889275" cy="312687"/>
          </a:xfrm>
          <a:prstGeom prst="rect">
            <a:avLst/>
          </a:prstGeom>
        </p:spPr>
        <p:txBody>
          <a:bodyPr anchor="t" rtlCol="false" tIns="0" lIns="0" bIns="0" rIns="0">
            <a:spAutoFit/>
          </a:bodyPr>
          <a:lstStyle/>
          <a:p>
            <a:pPr algn="l">
              <a:lnSpc>
                <a:spcPts val="1765"/>
              </a:lnSpc>
            </a:pPr>
            <a:r>
              <a:rPr lang="en-US" sz="1470">
                <a:solidFill>
                  <a:srgbClr val="D7DEE8"/>
                </a:solidFill>
                <a:latin typeface="Inter"/>
                <a:ea typeface="Inter"/>
                <a:cs typeface="Inter"/>
                <a:sym typeface="Inter"/>
              </a:rPr>
              <a:t>Anonymisation immédiate</a:t>
            </a:r>
          </a:p>
        </p:txBody>
      </p:sp>
      <p:sp>
        <p:nvSpPr>
          <p:cNvPr name="TextBox 26" id="26"/>
          <p:cNvSpPr txBox="true"/>
          <p:nvPr/>
        </p:nvSpPr>
        <p:spPr>
          <a:xfrm rot="0">
            <a:off x="1279884" y="6379845"/>
            <a:ext cx="2889275" cy="281892"/>
          </a:xfrm>
          <a:prstGeom prst="rect">
            <a:avLst/>
          </a:prstGeom>
        </p:spPr>
        <p:txBody>
          <a:bodyPr anchor="t" rtlCol="false" tIns="0" lIns="0" bIns="0" rIns="0">
            <a:spAutoFit/>
          </a:bodyPr>
          <a:lstStyle/>
          <a:p>
            <a:pPr algn="l">
              <a:lnSpc>
                <a:spcPts val="1765"/>
              </a:lnSpc>
            </a:pPr>
            <a:r>
              <a:rPr lang="en-US" sz="1470" b="true">
                <a:solidFill>
                  <a:srgbClr val="FFFFFF"/>
                </a:solidFill>
                <a:latin typeface="Inter Bold"/>
                <a:ea typeface="Inter Bold"/>
                <a:cs typeface="Inter Bold"/>
                <a:sym typeface="Inter Bold"/>
              </a:rPr>
              <a:t>MINIMISATION</a:t>
            </a:r>
          </a:p>
        </p:txBody>
      </p:sp>
      <p:sp>
        <p:nvSpPr>
          <p:cNvPr name="Freeform 27" id="27"/>
          <p:cNvSpPr/>
          <p:nvPr/>
        </p:nvSpPr>
        <p:spPr>
          <a:xfrm flipH="false" flipV="false" rot="0">
            <a:off x="4889087" y="5559228"/>
            <a:ext cx="874681" cy="874681"/>
          </a:xfrm>
          <a:custGeom>
            <a:avLst/>
            <a:gdLst/>
            <a:ahLst/>
            <a:cxnLst/>
            <a:rect r="r" b="b" t="t" l="l"/>
            <a:pathLst>
              <a:path h="874681" w="874681">
                <a:moveTo>
                  <a:pt x="0" y="0"/>
                </a:moveTo>
                <a:lnTo>
                  <a:pt x="874681" y="0"/>
                </a:lnTo>
                <a:lnTo>
                  <a:pt x="874681" y="874681"/>
                </a:lnTo>
                <a:lnTo>
                  <a:pt x="0" y="87468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8" id="28"/>
          <p:cNvSpPr txBox="true"/>
          <p:nvPr/>
        </p:nvSpPr>
        <p:spPr>
          <a:xfrm rot="0">
            <a:off x="6061205" y="5609130"/>
            <a:ext cx="2797045" cy="563328"/>
          </a:xfrm>
          <a:prstGeom prst="rect">
            <a:avLst/>
          </a:prstGeom>
        </p:spPr>
        <p:txBody>
          <a:bodyPr anchor="t" rtlCol="false" tIns="0" lIns="0" bIns="0" rIns="0">
            <a:spAutoFit/>
          </a:bodyPr>
          <a:lstStyle/>
          <a:p>
            <a:pPr algn="l">
              <a:lnSpc>
                <a:spcPts val="3419"/>
              </a:lnSpc>
            </a:pPr>
            <a:r>
              <a:rPr lang="en-US" sz="2849" b="true">
                <a:solidFill>
                  <a:srgbClr val="FF6B00"/>
                </a:solidFill>
                <a:latin typeface="Inter Bold"/>
                <a:ea typeface="Inter Bold"/>
                <a:cs typeface="Inter Bold"/>
                <a:sym typeface="Inter Bold"/>
              </a:rPr>
              <a:t>100%</a:t>
            </a:r>
          </a:p>
        </p:txBody>
      </p:sp>
      <p:sp>
        <p:nvSpPr>
          <p:cNvPr name="TextBox 29" id="29"/>
          <p:cNvSpPr txBox="true"/>
          <p:nvPr/>
        </p:nvSpPr>
        <p:spPr>
          <a:xfrm rot="0">
            <a:off x="6061205" y="6741776"/>
            <a:ext cx="2797045" cy="319373"/>
          </a:xfrm>
          <a:prstGeom prst="rect">
            <a:avLst/>
          </a:prstGeom>
        </p:spPr>
        <p:txBody>
          <a:bodyPr anchor="t" rtlCol="false" tIns="0" lIns="0" bIns="0" rIns="0">
            <a:spAutoFit/>
          </a:bodyPr>
          <a:lstStyle/>
          <a:p>
            <a:pPr algn="l">
              <a:lnSpc>
                <a:spcPts val="1709"/>
              </a:lnSpc>
            </a:pPr>
            <a:r>
              <a:rPr lang="en-US" sz="1424">
                <a:solidFill>
                  <a:srgbClr val="D7DEE8"/>
                </a:solidFill>
                <a:latin typeface="Inter"/>
                <a:ea typeface="Inter"/>
                <a:cs typeface="Inter"/>
                <a:sym typeface="Inter"/>
              </a:rPr>
              <a:t>Gate de sécurité validé</a:t>
            </a:r>
          </a:p>
        </p:txBody>
      </p:sp>
      <p:sp>
        <p:nvSpPr>
          <p:cNvPr name="TextBox 30" id="30"/>
          <p:cNvSpPr txBox="true"/>
          <p:nvPr/>
        </p:nvSpPr>
        <p:spPr>
          <a:xfrm rot="0">
            <a:off x="6061205" y="6281195"/>
            <a:ext cx="2797045" cy="289560"/>
          </a:xfrm>
          <a:prstGeom prst="rect">
            <a:avLst/>
          </a:prstGeom>
        </p:spPr>
        <p:txBody>
          <a:bodyPr anchor="t" rtlCol="false" tIns="0" lIns="0" bIns="0" rIns="0">
            <a:spAutoFit/>
          </a:bodyPr>
          <a:lstStyle/>
          <a:p>
            <a:pPr algn="l">
              <a:lnSpc>
                <a:spcPts val="1709"/>
              </a:lnSpc>
            </a:pPr>
            <a:r>
              <a:rPr lang="en-US" sz="1424" b="true">
                <a:solidFill>
                  <a:srgbClr val="FFFFFF"/>
                </a:solidFill>
                <a:latin typeface="Inter Bold"/>
                <a:ea typeface="Inter Bold"/>
                <a:cs typeface="Inter Bold"/>
                <a:sym typeface="Inter Bold"/>
              </a:rPr>
              <a:t>SECURITY GATE</a:t>
            </a:r>
          </a:p>
        </p:txBody>
      </p:sp>
      <p:sp>
        <p:nvSpPr>
          <p:cNvPr name="Freeform 31" id="31"/>
          <p:cNvSpPr/>
          <p:nvPr/>
        </p:nvSpPr>
        <p:spPr>
          <a:xfrm flipH="false" flipV="false" rot="0">
            <a:off x="0" y="7920761"/>
            <a:ext cx="878700" cy="878700"/>
          </a:xfrm>
          <a:custGeom>
            <a:avLst/>
            <a:gdLst/>
            <a:ahLst/>
            <a:cxnLst/>
            <a:rect r="r" b="b" t="t" l="l"/>
            <a:pathLst>
              <a:path h="878700" w="878700">
                <a:moveTo>
                  <a:pt x="0" y="0"/>
                </a:moveTo>
                <a:lnTo>
                  <a:pt x="878700" y="0"/>
                </a:lnTo>
                <a:lnTo>
                  <a:pt x="878700" y="878701"/>
                </a:lnTo>
                <a:lnTo>
                  <a:pt x="0" y="87870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32" id="32"/>
          <p:cNvSpPr txBox="true"/>
          <p:nvPr/>
        </p:nvSpPr>
        <p:spPr>
          <a:xfrm rot="0">
            <a:off x="1301572" y="7944888"/>
            <a:ext cx="3145346" cy="614724"/>
          </a:xfrm>
          <a:prstGeom prst="rect">
            <a:avLst/>
          </a:prstGeom>
        </p:spPr>
        <p:txBody>
          <a:bodyPr anchor="t" rtlCol="false" tIns="0" lIns="0" bIns="0" rIns="0">
            <a:spAutoFit/>
          </a:bodyPr>
          <a:lstStyle/>
          <a:p>
            <a:pPr algn="l">
              <a:lnSpc>
                <a:spcPts val="3844"/>
              </a:lnSpc>
            </a:pPr>
            <a:r>
              <a:rPr lang="en-US" sz="3204" b="true">
                <a:solidFill>
                  <a:srgbClr val="FF6B00"/>
                </a:solidFill>
                <a:latin typeface="Inter Bold"/>
                <a:ea typeface="Inter Bold"/>
                <a:cs typeface="Inter Bold"/>
                <a:sym typeface="Inter Bold"/>
              </a:rPr>
              <a:t>Art. 7</a:t>
            </a:r>
          </a:p>
        </p:txBody>
      </p:sp>
      <p:sp>
        <p:nvSpPr>
          <p:cNvPr name="TextBox 33" id="33"/>
          <p:cNvSpPr txBox="true"/>
          <p:nvPr/>
        </p:nvSpPr>
        <p:spPr>
          <a:xfrm rot="0">
            <a:off x="1301572" y="9201902"/>
            <a:ext cx="3145346" cy="357073"/>
          </a:xfrm>
          <a:prstGeom prst="rect">
            <a:avLst/>
          </a:prstGeom>
        </p:spPr>
        <p:txBody>
          <a:bodyPr anchor="t" rtlCol="false" tIns="0" lIns="0" bIns="0" rIns="0">
            <a:spAutoFit/>
          </a:bodyPr>
          <a:lstStyle/>
          <a:p>
            <a:pPr algn="l">
              <a:lnSpc>
                <a:spcPts val="1921"/>
              </a:lnSpc>
            </a:pPr>
            <a:r>
              <a:rPr lang="en-US" sz="1602">
                <a:solidFill>
                  <a:srgbClr val="D7DEE8"/>
                </a:solidFill>
                <a:latin typeface="Inter"/>
                <a:ea typeface="Inter"/>
                <a:cs typeface="Inter"/>
                <a:sym typeface="Inter"/>
              </a:rPr>
              <a:t>Droit à l'oubli &amp; Purge</a:t>
            </a:r>
          </a:p>
        </p:txBody>
      </p:sp>
      <p:sp>
        <p:nvSpPr>
          <p:cNvPr name="TextBox 34" id="34"/>
          <p:cNvSpPr txBox="true"/>
          <p:nvPr/>
        </p:nvSpPr>
        <p:spPr>
          <a:xfrm rot="0">
            <a:off x="1301572" y="8683981"/>
            <a:ext cx="3145346" cy="323536"/>
          </a:xfrm>
          <a:prstGeom prst="rect">
            <a:avLst/>
          </a:prstGeom>
        </p:spPr>
        <p:txBody>
          <a:bodyPr anchor="t" rtlCol="false" tIns="0" lIns="0" bIns="0" rIns="0">
            <a:spAutoFit/>
          </a:bodyPr>
          <a:lstStyle/>
          <a:p>
            <a:pPr algn="l">
              <a:lnSpc>
                <a:spcPts val="1921"/>
              </a:lnSpc>
            </a:pPr>
            <a:r>
              <a:rPr lang="en-US" sz="1602" b="true">
                <a:solidFill>
                  <a:srgbClr val="FFFFFF"/>
                </a:solidFill>
                <a:latin typeface="Inter Bold"/>
                <a:ea typeface="Inter Bold"/>
                <a:cs typeface="Inter Bold"/>
                <a:sym typeface="Inter Bold"/>
              </a:rPr>
              <a:t>CONFORMITÉ CNDP</a:t>
            </a:r>
          </a:p>
        </p:txBody>
      </p:sp>
      <p:sp>
        <p:nvSpPr>
          <p:cNvPr name="Freeform 35" id="35"/>
          <p:cNvSpPr/>
          <p:nvPr/>
        </p:nvSpPr>
        <p:spPr>
          <a:xfrm flipH="false" flipV="false" rot="0">
            <a:off x="4616386" y="8093964"/>
            <a:ext cx="793690" cy="836247"/>
          </a:xfrm>
          <a:custGeom>
            <a:avLst/>
            <a:gdLst/>
            <a:ahLst/>
            <a:cxnLst/>
            <a:rect r="r" b="b" t="t" l="l"/>
            <a:pathLst>
              <a:path h="836247" w="793690">
                <a:moveTo>
                  <a:pt x="0" y="0"/>
                </a:moveTo>
                <a:lnTo>
                  <a:pt x="793690" y="0"/>
                </a:lnTo>
                <a:lnTo>
                  <a:pt x="793690" y="836247"/>
                </a:lnTo>
                <a:lnTo>
                  <a:pt x="0" y="836247"/>
                </a:lnTo>
                <a:lnTo>
                  <a:pt x="0" y="0"/>
                </a:lnTo>
                <a:close/>
              </a:path>
            </a:pathLst>
          </a:custGeom>
          <a:blipFill>
            <a:blip r:embed="rId22">
              <a:extLst>
                <a:ext uri="{96DAC541-7B7A-43D3-8B79-37D633B846F1}">
                  <asvg:svgBlip xmlns:asvg="http://schemas.microsoft.com/office/drawing/2016/SVG/main" r:embed="rId23"/>
                </a:ext>
              </a:extLst>
            </a:blip>
            <a:stretch>
              <a:fillRect l="-286" t="0" r="-286" b="0"/>
            </a:stretch>
          </a:blipFill>
        </p:spPr>
      </p:sp>
      <p:sp>
        <p:nvSpPr>
          <p:cNvPr name="TextBox 36" id="36"/>
          <p:cNvSpPr txBox="true"/>
          <p:nvPr/>
        </p:nvSpPr>
        <p:spPr>
          <a:xfrm rot="0">
            <a:off x="5894318" y="8089849"/>
            <a:ext cx="3142221" cy="614115"/>
          </a:xfrm>
          <a:prstGeom prst="rect">
            <a:avLst/>
          </a:prstGeom>
        </p:spPr>
        <p:txBody>
          <a:bodyPr anchor="t" rtlCol="false" tIns="0" lIns="0" bIns="0" rIns="0">
            <a:spAutoFit/>
          </a:bodyPr>
          <a:lstStyle/>
          <a:p>
            <a:pPr algn="l">
              <a:lnSpc>
                <a:spcPts val="3841"/>
              </a:lnSpc>
            </a:pPr>
            <a:r>
              <a:rPr lang="en-US" sz="3201" b="true">
                <a:solidFill>
                  <a:srgbClr val="FF6B00"/>
                </a:solidFill>
                <a:latin typeface="Inter Bold"/>
                <a:ea typeface="Inter Bold"/>
                <a:cs typeface="Inter Bold"/>
                <a:sym typeface="Inter Bold"/>
              </a:rPr>
              <a:t>0 PII</a:t>
            </a:r>
          </a:p>
        </p:txBody>
      </p:sp>
      <p:sp>
        <p:nvSpPr>
          <p:cNvPr name="TextBox 37" id="37"/>
          <p:cNvSpPr txBox="true"/>
          <p:nvPr/>
        </p:nvSpPr>
        <p:spPr>
          <a:xfrm rot="0">
            <a:off x="5894318" y="9345587"/>
            <a:ext cx="3142221" cy="356730"/>
          </a:xfrm>
          <a:prstGeom prst="rect">
            <a:avLst/>
          </a:prstGeom>
        </p:spPr>
        <p:txBody>
          <a:bodyPr anchor="t" rtlCol="false" tIns="0" lIns="0" bIns="0" rIns="0">
            <a:spAutoFit/>
          </a:bodyPr>
          <a:lstStyle/>
          <a:p>
            <a:pPr algn="l">
              <a:lnSpc>
                <a:spcPts val="1919"/>
              </a:lnSpc>
            </a:pPr>
            <a:r>
              <a:rPr lang="en-US" sz="1599">
                <a:solidFill>
                  <a:srgbClr val="D7DEE8"/>
                </a:solidFill>
                <a:latin typeface="Inter"/>
                <a:ea typeface="Inter"/>
                <a:cs typeface="Inter"/>
                <a:sym typeface="Inter"/>
              </a:rPr>
              <a:t>Aucune fuite dans les logs</a:t>
            </a:r>
          </a:p>
        </p:txBody>
      </p:sp>
      <p:sp>
        <p:nvSpPr>
          <p:cNvPr name="TextBox 38" id="38"/>
          <p:cNvSpPr txBox="true"/>
          <p:nvPr/>
        </p:nvSpPr>
        <p:spPr>
          <a:xfrm rot="0">
            <a:off x="5894318" y="8828180"/>
            <a:ext cx="3142221" cy="323231"/>
          </a:xfrm>
          <a:prstGeom prst="rect">
            <a:avLst/>
          </a:prstGeom>
        </p:spPr>
        <p:txBody>
          <a:bodyPr anchor="t" rtlCol="false" tIns="0" lIns="0" bIns="0" rIns="0">
            <a:spAutoFit/>
          </a:bodyPr>
          <a:lstStyle/>
          <a:p>
            <a:pPr algn="l">
              <a:lnSpc>
                <a:spcPts val="1919"/>
              </a:lnSpc>
            </a:pPr>
            <a:r>
              <a:rPr lang="en-US" sz="1599" b="true">
                <a:solidFill>
                  <a:srgbClr val="FFFFFF"/>
                </a:solidFill>
                <a:latin typeface="Inter Bold"/>
                <a:ea typeface="Inter Bold"/>
                <a:cs typeface="Inter Bold"/>
                <a:sym typeface="Inter Bold"/>
              </a:rPr>
              <a:t>TRAÇABILITÉ</a:t>
            </a:r>
          </a:p>
        </p:txBody>
      </p:sp>
      <p:sp>
        <p:nvSpPr>
          <p:cNvPr name="TextBox 39" id="39"/>
          <p:cNvSpPr txBox="true"/>
          <p:nvPr/>
        </p:nvSpPr>
        <p:spPr>
          <a:xfrm rot="0">
            <a:off x="10308422" y="957367"/>
            <a:ext cx="7047481" cy="571500"/>
          </a:xfrm>
          <a:prstGeom prst="rect">
            <a:avLst/>
          </a:prstGeom>
        </p:spPr>
        <p:txBody>
          <a:bodyPr anchor="t" rtlCol="false" tIns="0" lIns="0" bIns="0" rIns="0">
            <a:spAutoFit/>
          </a:bodyPr>
          <a:lstStyle/>
          <a:p>
            <a:pPr algn="l">
              <a:lnSpc>
                <a:spcPts val="2279"/>
              </a:lnSpc>
            </a:pPr>
            <a:r>
              <a:rPr lang="en-US" sz="1899" b="true">
                <a:solidFill>
                  <a:srgbClr val="FFFFFF"/>
                </a:solidFill>
                <a:latin typeface="Inter Bold"/>
                <a:ea typeface="Inter Bold"/>
                <a:cs typeface="Inter Bold"/>
                <a:sym typeface="Inter Bold"/>
              </a:rPr>
              <a:t>Une conformité intégrée nativement, pas ajoutée après coup.</a:t>
            </a:r>
          </a:p>
        </p:txBody>
      </p:sp>
      <p:sp>
        <p:nvSpPr>
          <p:cNvPr name="TextBox 40" id="40"/>
          <p:cNvSpPr txBox="true"/>
          <p:nvPr/>
        </p:nvSpPr>
        <p:spPr>
          <a:xfrm rot="0">
            <a:off x="9488243" y="2917365"/>
            <a:ext cx="4217775" cy="1143000"/>
          </a:xfrm>
          <a:prstGeom prst="rect">
            <a:avLst/>
          </a:prstGeom>
        </p:spPr>
        <p:txBody>
          <a:bodyPr anchor="t" rtlCol="false" tIns="0" lIns="0" bIns="0" rIns="0">
            <a:spAutoFit/>
          </a:bodyPr>
          <a:lstStyle/>
          <a:p>
            <a:pPr algn="l">
              <a:lnSpc>
                <a:spcPts val="2279"/>
              </a:lnSpc>
            </a:pPr>
            <a:r>
              <a:rPr lang="en-US" sz="1899">
                <a:solidFill>
                  <a:srgbClr val="4B5563"/>
                </a:solidFill>
                <a:latin typeface="Inter"/>
                <a:ea typeface="Inter"/>
                <a:cs typeface="Inter"/>
                <a:sym typeface="Inter"/>
              </a:rPr>
              <a:t>Anonymisation déterministe dès la Couche 1 par regex, garantissant qu'aucune PII brute ne transite vers les modules ultérieurs.</a:t>
            </a:r>
          </a:p>
        </p:txBody>
      </p:sp>
      <p:sp>
        <p:nvSpPr>
          <p:cNvPr name="TextBox 41" id="41"/>
          <p:cNvSpPr txBox="true"/>
          <p:nvPr/>
        </p:nvSpPr>
        <p:spPr>
          <a:xfrm rot="0">
            <a:off x="12031561" y="2017871"/>
            <a:ext cx="5227739" cy="285750"/>
          </a:xfrm>
          <a:prstGeom prst="rect">
            <a:avLst/>
          </a:prstGeom>
        </p:spPr>
        <p:txBody>
          <a:bodyPr anchor="t" rtlCol="false" tIns="0" lIns="0" bIns="0" rIns="0">
            <a:spAutoFit/>
          </a:bodyPr>
          <a:lstStyle/>
          <a:p>
            <a:pPr algn="l">
              <a:lnSpc>
                <a:spcPts val="2279"/>
              </a:lnSpc>
            </a:pPr>
            <a:r>
              <a:rPr lang="en-US" sz="1899" b="true">
                <a:solidFill>
                  <a:srgbClr val="111827"/>
                </a:solidFill>
                <a:latin typeface="Inter Bold"/>
                <a:ea typeface="Inter Bold"/>
                <a:cs typeface="Inter Bold"/>
                <a:sym typeface="Inter Bold"/>
              </a:rPr>
              <a:t> MINIMISATION DES DONNÉES</a:t>
            </a:r>
          </a:p>
        </p:txBody>
      </p:sp>
      <p:sp>
        <p:nvSpPr>
          <p:cNvPr name="TextBox 42" id="42"/>
          <p:cNvSpPr txBox="true"/>
          <p:nvPr/>
        </p:nvSpPr>
        <p:spPr>
          <a:xfrm rot="0">
            <a:off x="14396961" y="2376040"/>
            <a:ext cx="2958941" cy="514350"/>
          </a:xfrm>
          <a:prstGeom prst="rect">
            <a:avLst/>
          </a:prstGeom>
        </p:spPr>
        <p:txBody>
          <a:bodyPr anchor="t" rtlCol="false" tIns="0" lIns="0" bIns="0" rIns="0">
            <a:spAutoFit/>
          </a:bodyPr>
          <a:lstStyle/>
          <a:p>
            <a:pPr algn="l">
              <a:lnSpc>
                <a:spcPts val="2039"/>
              </a:lnSpc>
            </a:pPr>
            <a:r>
              <a:rPr lang="en-US" sz="1698" b="true">
                <a:solidFill>
                  <a:srgbClr val="FF6B00"/>
                </a:solidFill>
                <a:latin typeface="Inter Bold"/>
                <a:ea typeface="Inter Bold"/>
                <a:cs typeface="Inter Bold"/>
                <a:sym typeface="Inter Bold"/>
              </a:rPr>
              <a:t>Statut: Anonymisation immédiate dès la Couche 1</a:t>
            </a:r>
          </a:p>
        </p:txBody>
      </p:sp>
      <p:sp>
        <p:nvSpPr>
          <p:cNvPr name="TextBox 43" id="43"/>
          <p:cNvSpPr txBox="true"/>
          <p:nvPr/>
        </p:nvSpPr>
        <p:spPr>
          <a:xfrm rot="0">
            <a:off x="14396961" y="3121819"/>
            <a:ext cx="2940548" cy="1066800"/>
          </a:xfrm>
          <a:prstGeom prst="rect">
            <a:avLst/>
          </a:prstGeom>
        </p:spPr>
        <p:txBody>
          <a:bodyPr anchor="t" rtlCol="false" tIns="0" lIns="0" bIns="0" rIns="0">
            <a:spAutoFit/>
          </a:bodyPr>
          <a:lstStyle/>
          <a:p>
            <a:pPr algn="l">
              <a:lnSpc>
                <a:spcPts val="2159"/>
              </a:lnSpc>
            </a:pPr>
            <a:r>
              <a:rPr lang="en-US" sz="1799">
                <a:solidFill>
                  <a:srgbClr val="4B5563"/>
                </a:solidFill>
                <a:latin typeface="Inter"/>
                <a:ea typeface="Inter"/>
                <a:cs typeface="Inter"/>
                <a:sym typeface="Inter"/>
              </a:rPr>
              <a:t>Détection &amp; substitution déterministe (email, tel, CIN, nom) avant tout NLP/LLM.</a:t>
            </a:r>
          </a:p>
        </p:txBody>
      </p:sp>
      <p:sp>
        <p:nvSpPr>
          <p:cNvPr name="TextBox 44" id="44"/>
          <p:cNvSpPr txBox="true"/>
          <p:nvPr/>
        </p:nvSpPr>
        <p:spPr>
          <a:xfrm rot="0">
            <a:off x="9670256" y="5693531"/>
            <a:ext cx="4410923" cy="1143000"/>
          </a:xfrm>
          <a:prstGeom prst="rect">
            <a:avLst/>
          </a:prstGeom>
        </p:spPr>
        <p:txBody>
          <a:bodyPr anchor="t" rtlCol="false" tIns="0" lIns="0" bIns="0" rIns="0">
            <a:spAutoFit/>
          </a:bodyPr>
          <a:lstStyle/>
          <a:p>
            <a:pPr algn="l">
              <a:lnSpc>
                <a:spcPts val="2279"/>
              </a:lnSpc>
            </a:pPr>
            <a:r>
              <a:rPr lang="en-US" sz="1899">
                <a:solidFill>
                  <a:srgbClr val="4B5563"/>
                </a:solidFill>
                <a:latin typeface="Inter"/>
                <a:ea typeface="Inter"/>
                <a:cs typeface="Inter"/>
                <a:sym typeface="Inter"/>
              </a:rPr>
              <a:t>L'assertion assert_no_raw_pii_before_llm valide de manière stricte et bloquante qu'aucune PII ne sorte du périmètre sécurisé.</a:t>
            </a:r>
          </a:p>
        </p:txBody>
      </p:sp>
      <p:sp>
        <p:nvSpPr>
          <p:cNvPr name="TextBox 45" id="45"/>
          <p:cNvSpPr txBox="true"/>
          <p:nvPr/>
        </p:nvSpPr>
        <p:spPr>
          <a:xfrm rot="0">
            <a:off x="12155700" y="4691948"/>
            <a:ext cx="4292822" cy="285750"/>
          </a:xfrm>
          <a:prstGeom prst="rect">
            <a:avLst/>
          </a:prstGeom>
        </p:spPr>
        <p:txBody>
          <a:bodyPr anchor="t" rtlCol="false" tIns="0" lIns="0" bIns="0" rIns="0">
            <a:spAutoFit/>
          </a:bodyPr>
          <a:lstStyle/>
          <a:p>
            <a:pPr algn="l">
              <a:lnSpc>
                <a:spcPts val="2279"/>
              </a:lnSpc>
            </a:pPr>
            <a:r>
              <a:rPr lang="en-US" sz="1899" b="true">
                <a:solidFill>
                  <a:srgbClr val="111827"/>
                </a:solidFill>
                <a:latin typeface="Inter Bold"/>
                <a:ea typeface="Inter Bold"/>
                <a:cs typeface="Inter Bold"/>
                <a:sym typeface="Inter Bold"/>
              </a:rPr>
              <a:t> SECURITY GATE &amp; API</a:t>
            </a:r>
          </a:p>
        </p:txBody>
      </p:sp>
      <p:sp>
        <p:nvSpPr>
          <p:cNvPr name="TextBox 46" id="46"/>
          <p:cNvSpPr txBox="true"/>
          <p:nvPr/>
        </p:nvSpPr>
        <p:spPr>
          <a:xfrm rot="0">
            <a:off x="14396961" y="5071767"/>
            <a:ext cx="2103587" cy="514350"/>
          </a:xfrm>
          <a:prstGeom prst="rect">
            <a:avLst/>
          </a:prstGeom>
        </p:spPr>
        <p:txBody>
          <a:bodyPr anchor="t" rtlCol="false" tIns="0" lIns="0" bIns="0" rIns="0">
            <a:spAutoFit/>
          </a:bodyPr>
          <a:lstStyle/>
          <a:p>
            <a:pPr algn="l">
              <a:lnSpc>
                <a:spcPts val="2039"/>
              </a:lnSpc>
            </a:pPr>
            <a:r>
              <a:rPr lang="en-US" sz="1698" b="true">
                <a:solidFill>
                  <a:srgbClr val="FF6B00"/>
                </a:solidFill>
                <a:latin typeface="Inter Bold"/>
                <a:ea typeface="Inter Bold"/>
                <a:cs typeface="Inter Bold"/>
                <a:sym typeface="Inter Bold"/>
              </a:rPr>
              <a:t>Statut: Assertion 100% validée</a:t>
            </a:r>
          </a:p>
        </p:txBody>
      </p:sp>
      <p:sp>
        <p:nvSpPr>
          <p:cNvPr name="TextBox 47" id="47"/>
          <p:cNvSpPr txBox="true"/>
          <p:nvPr/>
        </p:nvSpPr>
        <p:spPr>
          <a:xfrm rot="0">
            <a:off x="14396961" y="5686273"/>
            <a:ext cx="3087710" cy="1066800"/>
          </a:xfrm>
          <a:prstGeom prst="rect">
            <a:avLst/>
          </a:prstGeom>
        </p:spPr>
        <p:txBody>
          <a:bodyPr anchor="t" rtlCol="false" tIns="0" lIns="0" bIns="0" rIns="0">
            <a:spAutoFit/>
          </a:bodyPr>
          <a:lstStyle/>
          <a:p>
            <a:pPr algn="l">
              <a:lnSpc>
                <a:spcPts val="2159"/>
              </a:lnSpc>
            </a:pPr>
            <a:r>
              <a:rPr lang="en-US" sz="1799">
                <a:solidFill>
                  <a:srgbClr val="4B5563"/>
                </a:solidFill>
                <a:latin typeface="Inter"/>
                <a:ea typeface="Inter"/>
                <a:cs typeface="Inter"/>
                <a:sym typeface="Inter"/>
              </a:rPr>
              <a:t>L'assertion assert_no_raw_pii_before_llm bloque tout envoi vers les services tiers.</a:t>
            </a:r>
          </a:p>
        </p:txBody>
      </p:sp>
      <p:sp>
        <p:nvSpPr>
          <p:cNvPr name="TextBox 48" id="48"/>
          <p:cNvSpPr txBox="true"/>
          <p:nvPr/>
        </p:nvSpPr>
        <p:spPr>
          <a:xfrm rot="0">
            <a:off x="9670256" y="8324583"/>
            <a:ext cx="4217775" cy="1143000"/>
          </a:xfrm>
          <a:prstGeom prst="rect">
            <a:avLst/>
          </a:prstGeom>
        </p:spPr>
        <p:txBody>
          <a:bodyPr anchor="t" rtlCol="false" tIns="0" lIns="0" bIns="0" rIns="0">
            <a:spAutoFit/>
          </a:bodyPr>
          <a:lstStyle/>
          <a:p>
            <a:pPr algn="l">
              <a:lnSpc>
                <a:spcPts val="2279"/>
              </a:lnSpc>
            </a:pPr>
            <a:r>
              <a:rPr lang="en-US" sz="1899">
                <a:solidFill>
                  <a:srgbClr val="4B5563"/>
                </a:solidFill>
                <a:latin typeface="Inter"/>
                <a:ea typeface="Inter"/>
                <a:cs typeface="Inter"/>
                <a:sym typeface="Inter"/>
              </a:rPr>
              <a:t>Mécanismes d'effacement définitif des données candidat et suppression intégrale des fichiers stockés sur demande.</a:t>
            </a:r>
          </a:p>
        </p:txBody>
      </p:sp>
      <p:sp>
        <p:nvSpPr>
          <p:cNvPr name="TextBox 49" id="49"/>
          <p:cNvSpPr txBox="true"/>
          <p:nvPr/>
        </p:nvSpPr>
        <p:spPr>
          <a:xfrm rot="0">
            <a:off x="12225766" y="7323430"/>
            <a:ext cx="3054648" cy="285750"/>
          </a:xfrm>
          <a:prstGeom prst="rect">
            <a:avLst/>
          </a:prstGeom>
        </p:spPr>
        <p:txBody>
          <a:bodyPr anchor="t" rtlCol="false" tIns="0" lIns="0" bIns="0" rIns="0">
            <a:spAutoFit/>
          </a:bodyPr>
          <a:lstStyle/>
          <a:p>
            <a:pPr algn="l">
              <a:lnSpc>
                <a:spcPts val="2279"/>
              </a:lnSpc>
            </a:pPr>
            <a:r>
              <a:rPr lang="en-US" sz="1899" b="true">
                <a:solidFill>
                  <a:srgbClr val="111827"/>
                </a:solidFill>
                <a:latin typeface="Inter Bold"/>
                <a:ea typeface="Inter Bold"/>
                <a:cs typeface="Inter Bold"/>
                <a:sym typeface="Inter Bold"/>
              </a:rPr>
              <a:t>DROIT À L'OUBLI &amp; PURGE</a:t>
            </a:r>
          </a:p>
        </p:txBody>
      </p:sp>
      <p:sp>
        <p:nvSpPr>
          <p:cNvPr name="TextBox 50" id="50"/>
          <p:cNvSpPr txBox="true"/>
          <p:nvPr/>
        </p:nvSpPr>
        <p:spPr>
          <a:xfrm rot="0">
            <a:off x="14396961" y="7722356"/>
            <a:ext cx="3280858" cy="514350"/>
          </a:xfrm>
          <a:prstGeom prst="rect">
            <a:avLst/>
          </a:prstGeom>
        </p:spPr>
        <p:txBody>
          <a:bodyPr anchor="t" rtlCol="false" tIns="0" lIns="0" bIns="0" rIns="0">
            <a:spAutoFit/>
          </a:bodyPr>
          <a:lstStyle/>
          <a:p>
            <a:pPr algn="l">
              <a:lnSpc>
                <a:spcPts val="2039"/>
              </a:lnSpc>
            </a:pPr>
            <a:r>
              <a:rPr lang="en-US" sz="1698" b="true">
                <a:solidFill>
                  <a:srgbClr val="FF6B00"/>
                </a:solidFill>
                <a:latin typeface="Inter Bold"/>
                <a:ea typeface="Inter Bold"/>
                <a:cs typeface="Inter Bold"/>
                <a:sym typeface="Inter Bold"/>
              </a:rPr>
              <a:t>Statut: Registre des traitements documenté</a:t>
            </a:r>
          </a:p>
        </p:txBody>
      </p:sp>
      <p:sp>
        <p:nvSpPr>
          <p:cNvPr name="TextBox 51" id="51"/>
          <p:cNvSpPr txBox="true"/>
          <p:nvPr/>
        </p:nvSpPr>
        <p:spPr>
          <a:xfrm rot="0">
            <a:off x="14396961" y="8383924"/>
            <a:ext cx="2659647" cy="800100"/>
          </a:xfrm>
          <a:prstGeom prst="rect">
            <a:avLst/>
          </a:prstGeom>
        </p:spPr>
        <p:txBody>
          <a:bodyPr anchor="t" rtlCol="false" tIns="0" lIns="0" bIns="0" rIns="0">
            <a:spAutoFit/>
          </a:bodyPr>
          <a:lstStyle/>
          <a:p>
            <a:pPr algn="l">
              <a:lnSpc>
                <a:spcPts val="2159"/>
              </a:lnSpc>
            </a:pPr>
            <a:r>
              <a:rPr lang="en-US" sz="1799">
                <a:solidFill>
                  <a:srgbClr val="4B5563"/>
                </a:solidFill>
                <a:latin typeface="Inter"/>
                <a:ea typeface="Inter"/>
                <a:cs typeface="Inter"/>
                <a:sym typeface="Inter"/>
              </a:rPr>
              <a:t>Suppression définitive des profils et des fichiers stockés.</a:t>
            </a:r>
          </a:p>
        </p:txBody>
      </p:sp>
      <p:sp>
        <p:nvSpPr>
          <p:cNvPr name="AutoShape 52" id="52"/>
          <p:cNvSpPr/>
          <p:nvPr/>
        </p:nvSpPr>
        <p:spPr>
          <a:xfrm rot="20340">
            <a:off x="13410781" y="5797601"/>
            <a:ext cx="1609630" cy="0"/>
          </a:xfrm>
          <a:prstGeom prst="line">
            <a:avLst/>
          </a:prstGeom>
          <a:ln cap="rnd" w="9525">
            <a:solidFill>
              <a:srgbClr val="DFDFDF"/>
            </a:solidFill>
            <a:prstDash val="solid"/>
            <a:headEnd type="none" len="sm" w="sm"/>
            <a:tailEnd type="none" len="sm" w="sm"/>
          </a:ln>
        </p:spPr>
      </p:sp>
      <p:sp>
        <p:nvSpPr>
          <p:cNvPr name="AutoShape 53" id="53"/>
          <p:cNvSpPr/>
          <p:nvPr/>
        </p:nvSpPr>
        <p:spPr>
          <a:xfrm rot="20340">
            <a:off x="13420306" y="8428653"/>
            <a:ext cx="1609630" cy="0"/>
          </a:xfrm>
          <a:prstGeom prst="line">
            <a:avLst/>
          </a:prstGeom>
          <a:ln cap="rnd" w="9525">
            <a:solidFill>
              <a:srgbClr val="DFDFDF"/>
            </a:solidFill>
            <a:prstDash val="solid"/>
            <a:headEnd type="none" len="sm" w="sm"/>
            <a:tailEnd type="none" len="sm" w="sm"/>
          </a:ln>
        </p:spPr>
      </p:sp>
    </p:spTree>
  </p:cSld>
  <p:clrMapOvr>
    <a:masterClrMapping/>
  </p:clrMapOvr>
  <p:transition spd="slow">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4383395"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4588859"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4794314"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AutoShape 6" id="6"/>
          <p:cNvSpPr/>
          <p:nvPr/>
        </p:nvSpPr>
        <p:spPr>
          <a:xfrm>
            <a:off x="-481697" y="5314943"/>
            <a:ext cx="4550624" cy="0"/>
          </a:xfrm>
          <a:prstGeom prst="line">
            <a:avLst/>
          </a:prstGeom>
          <a:ln cap="rnd" w="47625">
            <a:solidFill>
              <a:srgbClr val="FF5300"/>
            </a:solidFill>
            <a:prstDash val="solid"/>
            <a:headEnd type="none" len="sm" w="sm"/>
            <a:tailEnd type="none" len="sm" w="sm"/>
          </a:ln>
        </p:spPr>
      </p:sp>
      <p:sp>
        <p:nvSpPr>
          <p:cNvPr name="Freeform 7" id="7"/>
          <p:cNvSpPr/>
          <p:nvPr/>
        </p:nvSpPr>
        <p:spPr>
          <a:xfrm flipH="false" flipV="false" rot="0">
            <a:off x="-822512" y="7548972"/>
            <a:ext cx="6084484" cy="3194599"/>
          </a:xfrm>
          <a:custGeom>
            <a:avLst/>
            <a:gdLst/>
            <a:ahLst/>
            <a:cxnLst/>
            <a:rect r="r" b="b" t="t" l="l"/>
            <a:pathLst>
              <a:path h="3194599" w="6084484">
                <a:moveTo>
                  <a:pt x="0" y="0"/>
                </a:moveTo>
                <a:lnTo>
                  <a:pt x="6084484" y="0"/>
                </a:lnTo>
                <a:lnTo>
                  <a:pt x="6084484" y="3194599"/>
                </a:lnTo>
                <a:lnTo>
                  <a:pt x="0" y="3194599"/>
                </a:lnTo>
                <a:lnTo>
                  <a:pt x="0" y="0"/>
                </a:lnTo>
                <a:close/>
              </a:path>
            </a:pathLst>
          </a:custGeom>
          <a:blipFill>
            <a:blip r:embed="rId6">
              <a:extLst>
                <a:ext uri="{96DAC541-7B7A-43D3-8B79-37D633B846F1}">
                  <asvg:svgBlip xmlns:asvg="http://schemas.microsoft.com/office/drawing/2016/SVG/main" r:embed="rId7"/>
                </a:ext>
              </a:extLst>
            </a:blip>
            <a:stretch>
              <a:fillRect l="0" t="-74" r="0" b="-74"/>
            </a:stretch>
          </a:blipFill>
        </p:spPr>
      </p:sp>
      <p:sp>
        <p:nvSpPr>
          <p:cNvPr name="Freeform 8" id="8"/>
          <p:cNvSpPr/>
          <p:nvPr/>
        </p:nvSpPr>
        <p:spPr>
          <a:xfrm flipH="false" flipV="false" rot="0">
            <a:off x="914571" y="8134283"/>
            <a:ext cx="983875" cy="983875"/>
          </a:xfrm>
          <a:custGeom>
            <a:avLst/>
            <a:gdLst/>
            <a:ahLst/>
            <a:cxnLst/>
            <a:rect r="r" b="b" t="t" l="l"/>
            <a:pathLst>
              <a:path h="983875" w="983875">
                <a:moveTo>
                  <a:pt x="0" y="0"/>
                </a:moveTo>
                <a:lnTo>
                  <a:pt x="983876" y="0"/>
                </a:lnTo>
                <a:lnTo>
                  <a:pt x="983876" y="983876"/>
                </a:lnTo>
                <a:lnTo>
                  <a:pt x="0" y="9838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61783" y="8400326"/>
            <a:ext cx="527561" cy="470849"/>
          </a:xfrm>
          <a:custGeom>
            <a:avLst/>
            <a:gdLst/>
            <a:ahLst/>
            <a:cxnLst/>
            <a:rect r="r" b="b" t="t" l="l"/>
            <a:pathLst>
              <a:path h="470849" w="527561">
                <a:moveTo>
                  <a:pt x="0" y="0"/>
                </a:moveTo>
                <a:lnTo>
                  <a:pt x="527561" y="0"/>
                </a:lnTo>
                <a:lnTo>
                  <a:pt x="527561" y="470849"/>
                </a:lnTo>
                <a:lnTo>
                  <a:pt x="0" y="470849"/>
                </a:lnTo>
                <a:lnTo>
                  <a:pt x="0" y="0"/>
                </a:lnTo>
                <a:close/>
              </a:path>
            </a:pathLst>
          </a:custGeom>
          <a:blipFill>
            <a:blip r:embed="rId10">
              <a:extLst>
                <a:ext uri="{96DAC541-7B7A-43D3-8B79-37D633B846F1}">
                  <asvg:svgBlip xmlns:asvg="http://schemas.microsoft.com/office/drawing/2016/SVG/main" r:embed="rId11"/>
                </a:ext>
              </a:extLst>
            </a:blip>
            <a:stretch>
              <a:fillRect l="-872" t="0" r="-873" b="0"/>
            </a:stretch>
          </a:blipFill>
        </p:spPr>
      </p:sp>
      <p:sp>
        <p:nvSpPr>
          <p:cNvPr name="Freeform 10" id="10"/>
          <p:cNvSpPr/>
          <p:nvPr/>
        </p:nvSpPr>
        <p:spPr>
          <a:xfrm flipH="false" flipV="false" rot="0">
            <a:off x="6699376" y="500253"/>
            <a:ext cx="3382032" cy="4414733"/>
          </a:xfrm>
          <a:custGeom>
            <a:avLst/>
            <a:gdLst/>
            <a:ahLst/>
            <a:cxnLst/>
            <a:rect r="r" b="b" t="t" l="l"/>
            <a:pathLst>
              <a:path h="4414733" w="3382032">
                <a:moveTo>
                  <a:pt x="0" y="0"/>
                </a:moveTo>
                <a:lnTo>
                  <a:pt x="3382032" y="0"/>
                </a:lnTo>
                <a:lnTo>
                  <a:pt x="3382032" y="4414733"/>
                </a:lnTo>
                <a:lnTo>
                  <a:pt x="0" y="4414733"/>
                </a:lnTo>
                <a:lnTo>
                  <a:pt x="0" y="0"/>
                </a:lnTo>
                <a:close/>
              </a:path>
            </a:pathLst>
          </a:custGeom>
          <a:blipFill>
            <a:blip r:embed="rId12">
              <a:extLst>
                <a:ext uri="{96DAC541-7B7A-43D3-8B79-37D633B846F1}">
                  <asvg:svgBlip xmlns:asvg="http://schemas.microsoft.com/office/drawing/2016/SVG/main" r:embed="rId13"/>
                </a:ext>
              </a:extLst>
            </a:blip>
            <a:stretch>
              <a:fillRect l="-75" t="0" r="-76" b="0"/>
            </a:stretch>
          </a:blipFill>
        </p:spPr>
      </p:sp>
      <p:sp>
        <p:nvSpPr>
          <p:cNvPr name="Freeform 11" id="11"/>
          <p:cNvSpPr/>
          <p:nvPr/>
        </p:nvSpPr>
        <p:spPr>
          <a:xfrm flipH="false" flipV="false" rot="0">
            <a:off x="11880771" y="366817"/>
            <a:ext cx="3484254" cy="4548168"/>
          </a:xfrm>
          <a:custGeom>
            <a:avLst/>
            <a:gdLst/>
            <a:ahLst/>
            <a:cxnLst/>
            <a:rect r="r" b="b" t="t" l="l"/>
            <a:pathLst>
              <a:path h="4548168" w="3484254">
                <a:moveTo>
                  <a:pt x="0" y="0"/>
                </a:moveTo>
                <a:lnTo>
                  <a:pt x="3484254" y="0"/>
                </a:lnTo>
                <a:lnTo>
                  <a:pt x="3484254" y="4548169"/>
                </a:lnTo>
                <a:lnTo>
                  <a:pt x="0" y="4548169"/>
                </a:lnTo>
                <a:lnTo>
                  <a:pt x="0" y="0"/>
                </a:lnTo>
                <a:close/>
              </a:path>
            </a:pathLst>
          </a:custGeom>
          <a:blipFill>
            <a:blip r:embed="rId12">
              <a:extLst>
                <a:ext uri="{96DAC541-7B7A-43D3-8B79-37D633B846F1}">
                  <asvg:svgBlip xmlns:asvg="http://schemas.microsoft.com/office/drawing/2016/SVG/main" r:embed="rId13"/>
                </a:ext>
              </a:extLst>
            </a:blip>
            <a:stretch>
              <a:fillRect l="-75" t="0" r="-76" b="0"/>
            </a:stretch>
          </a:blipFill>
        </p:spPr>
      </p:sp>
      <p:sp>
        <p:nvSpPr>
          <p:cNvPr name="AutoShape 12" id="12"/>
          <p:cNvSpPr/>
          <p:nvPr/>
        </p:nvSpPr>
        <p:spPr>
          <a:xfrm rot="64080">
            <a:off x="1684010" y="8597656"/>
            <a:ext cx="1022337" cy="0"/>
          </a:xfrm>
          <a:prstGeom prst="line">
            <a:avLst/>
          </a:prstGeom>
          <a:ln cap="rnd" w="19050">
            <a:solidFill>
              <a:srgbClr val="FFBA97"/>
            </a:solidFill>
            <a:prstDash val="solid"/>
            <a:headEnd type="none" len="sm" w="sm"/>
            <a:tailEnd type="none" len="sm" w="sm"/>
          </a:ln>
        </p:spPr>
      </p:sp>
      <p:grpSp>
        <p:nvGrpSpPr>
          <p:cNvPr name="Group 13" id="13"/>
          <p:cNvGrpSpPr/>
          <p:nvPr/>
        </p:nvGrpSpPr>
        <p:grpSpPr>
          <a:xfrm rot="0">
            <a:off x="6699376" y="613067"/>
            <a:ext cx="3382042" cy="2666619"/>
            <a:chOff x="0" y="0"/>
            <a:chExt cx="4509389" cy="3555492"/>
          </a:xfrm>
        </p:grpSpPr>
        <p:sp>
          <p:nvSpPr>
            <p:cNvPr name="Freeform 14" id="14"/>
            <p:cNvSpPr/>
            <p:nvPr/>
          </p:nvSpPr>
          <p:spPr>
            <a:xfrm flipH="false" flipV="false" rot="0">
              <a:off x="0" y="0"/>
              <a:ext cx="4509389" cy="3555492"/>
            </a:xfrm>
            <a:custGeom>
              <a:avLst/>
              <a:gdLst/>
              <a:ahLst/>
              <a:cxnLst/>
              <a:rect r="r" b="b" t="t" l="l"/>
              <a:pathLst>
                <a:path h="3555492" w="4509389">
                  <a:moveTo>
                    <a:pt x="253746" y="0"/>
                  </a:moveTo>
                  <a:lnTo>
                    <a:pt x="4255643" y="0"/>
                  </a:lnTo>
                  <a:cubicBezTo>
                    <a:pt x="4322953" y="0"/>
                    <a:pt x="4387469" y="26797"/>
                    <a:pt x="4435094" y="74295"/>
                  </a:cubicBezTo>
                  <a:cubicBezTo>
                    <a:pt x="4482719" y="121793"/>
                    <a:pt x="4509389" y="186436"/>
                    <a:pt x="4509389" y="253746"/>
                  </a:cubicBezTo>
                  <a:lnTo>
                    <a:pt x="4509389" y="3301746"/>
                  </a:lnTo>
                  <a:cubicBezTo>
                    <a:pt x="4509389" y="3369056"/>
                    <a:pt x="4482592" y="3433572"/>
                    <a:pt x="4435094" y="3481197"/>
                  </a:cubicBezTo>
                  <a:cubicBezTo>
                    <a:pt x="4387596" y="3528822"/>
                    <a:pt x="4322953" y="3555492"/>
                    <a:pt x="4255643" y="3555492"/>
                  </a:cubicBezTo>
                  <a:lnTo>
                    <a:pt x="253746" y="3555492"/>
                  </a:lnTo>
                  <a:cubicBezTo>
                    <a:pt x="186436" y="3555492"/>
                    <a:pt x="121920" y="3528695"/>
                    <a:pt x="74295" y="3481197"/>
                  </a:cubicBezTo>
                  <a:cubicBezTo>
                    <a:pt x="26670" y="3433699"/>
                    <a:pt x="0" y="3369056"/>
                    <a:pt x="0" y="3301873"/>
                  </a:cubicBezTo>
                  <a:lnTo>
                    <a:pt x="0" y="253873"/>
                  </a:lnTo>
                  <a:cubicBezTo>
                    <a:pt x="0" y="186436"/>
                    <a:pt x="26797" y="121920"/>
                    <a:pt x="74295" y="74295"/>
                  </a:cubicBezTo>
                  <a:cubicBezTo>
                    <a:pt x="121793" y="26670"/>
                    <a:pt x="186436" y="0"/>
                    <a:pt x="253746" y="0"/>
                  </a:cubicBezTo>
                  <a:close/>
                </a:path>
              </a:pathLst>
            </a:custGeom>
            <a:blipFill>
              <a:blip r:embed="rId14"/>
              <a:stretch>
                <a:fillRect l="0" t="-13414" r="0" b="-13414"/>
              </a:stretch>
            </a:blipFill>
          </p:spPr>
        </p:sp>
      </p:grpSp>
      <p:sp>
        <p:nvSpPr>
          <p:cNvPr name="AutoShape 15" id="15"/>
          <p:cNvSpPr/>
          <p:nvPr/>
        </p:nvSpPr>
        <p:spPr>
          <a:xfrm>
            <a:off x="6804525" y="3902151"/>
            <a:ext cx="3276883" cy="0"/>
          </a:xfrm>
          <a:prstGeom prst="line">
            <a:avLst/>
          </a:prstGeom>
          <a:ln cap="rnd" w="19050">
            <a:solidFill>
              <a:srgbClr val="FF5300"/>
            </a:solidFill>
            <a:prstDash val="solid"/>
            <a:headEnd type="none" len="sm" w="sm"/>
            <a:tailEnd type="none" len="sm" w="sm"/>
          </a:ln>
        </p:spPr>
      </p:sp>
      <p:grpSp>
        <p:nvGrpSpPr>
          <p:cNvPr name="Group 16" id="16"/>
          <p:cNvGrpSpPr/>
          <p:nvPr/>
        </p:nvGrpSpPr>
        <p:grpSpPr>
          <a:xfrm rot="0">
            <a:off x="11882304" y="479631"/>
            <a:ext cx="3382042" cy="2666619"/>
            <a:chOff x="0" y="0"/>
            <a:chExt cx="4509389" cy="3555492"/>
          </a:xfrm>
        </p:grpSpPr>
        <p:sp>
          <p:nvSpPr>
            <p:cNvPr name="Freeform 17" id="17"/>
            <p:cNvSpPr/>
            <p:nvPr/>
          </p:nvSpPr>
          <p:spPr>
            <a:xfrm flipH="false" flipV="false" rot="0">
              <a:off x="0" y="0"/>
              <a:ext cx="4509389" cy="3555492"/>
            </a:xfrm>
            <a:custGeom>
              <a:avLst/>
              <a:gdLst/>
              <a:ahLst/>
              <a:cxnLst/>
              <a:rect r="r" b="b" t="t" l="l"/>
              <a:pathLst>
                <a:path h="3555492" w="4509389">
                  <a:moveTo>
                    <a:pt x="253746" y="0"/>
                  </a:moveTo>
                  <a:lnTo>
                    <a:pt x="4255643" y="0"/>
                  </a:lnTo>
                  <a:cubicBezTo>
                    <a:pt x="4322953" y="0"/>
                    <a:pt x="4387469" y="26797"/>
                    <a:pt x="4435094" y="74295"/>
                  </a:cubicBezTo>
                  <a:cubicBezTo>
                    <a:pt x="4482719" y="121793"/>
                    <a:pt x="4509389" y="186436"/>
                    <a:pt x="4509389" y="253746"/>
                  </a:cubicBezTo>
                  <a:lnTo>
                    <a:pt x="4509389" y="3301746"/>
                  </a:lnTo>
                  <a:cubicBezTo>
                    <a:pt x="4509389" y="3369056"/>
                    <a:pt x="4482592" y="3433572"/>
                    <a:pt x="4435094" y="3481197"/>
                  </a:cubicBezTo>
                  <a:cubicBezTo>
                    <a:pt x="4387596" y="3528822"/>
                    <a:pt x="4322953" y="3555492"/>
                    <a:pt x="4255643" y="3555492"/>
                  </a:cubicBezTo>
                  <a:lnTo>
                    <a:pt x="253746" y="3555492"/>
                  </a:lnTo>
                  <a:cubicBezTo>
                    <a:pt x="186436" y="3555492"/>
                    <a:pt x="121920" y="3528695"/>
                    <a:pt x="74295" y="3481197"/>
                  </a:cubicBezTo>
                  <a:cubicBezTo>
                    <a:pt x="26670" y="3433699"/>
                    <a:pt x="0" y="3369056"/>
                    <a:pt x="0" y="3301873"/>
                  </a:cubicBezTo>
                  <a:lnTo>
                    <a:pt x="0" y="253873"/>
                  </a:lnTo>
                  <a:cubicBezTo>
                    <a:pt x="0" y="186436"/>
                    <a:pt x="26797" y="121920"/>
                    <a:pt x="74295" y="74295"/>
                  </a:cubicBezTo>
                  <a:cubicBezTo>
                    <a:pt x="121793" y="26670"/>
                    <a:pt x="186436" y="0"/>
                    <a:pt x="253746" y="0"/>
                  </a:cubicBezTo>
                  <a:close/>
                </a:path>
              </a:pathLst>
            </a:custGeom>
            <a:blipFill>
              <a:blip r:embed="rId15"/>
              <a:stretch>
                <a:fillRect l="0" t="-14968" r="0" b="-14968"/>
              </a:stretch>
            </a:blipFill>
          </p:spPr>
        </p:sp>
      </p:grpSp>
      <p:sp>
        <p:nvSpPr>
          <p:cNvPr name="AutoShape 18" id="18"/>
          <p:cNvSpPr/>
          <p:nvPr/>
        </p:nvSpPr>
        <p:spPr>
          <a:xfrm flipV="true">
            <a:off x="11855053" y="3744982"/>
            <a:ext cx="3509972" cy="0"/>
          </a:xfrm>
          <a:prstGeom prst="line">
            <a:avLst/>
          </a:prstGeom>
          <a:ln cap="rnd" w="19050">
            <a:solidFill>
              <a:srgbClr val="FF5300"/>
            </a:solidFill>
            <a:prstDash val="solid"/>
            <a:headEnd type="none" len="sm" w="sm"/>
            <a:tailEnd type="none" len="sm" w="sm"/>
          </a:ln>
        </p:spPr>
      </p:sp>
      <p:sp>
        <p:nvSpPr>
          <p:cNvPr name="Freeform 19" id="19"/>
          <p:cNvSpPr/>
          <p:nvPr/>
        </p:nvSpPr>
        <p:spPr>
          <a:xfrm flipH="false" flipV="false" rot="0">
            <a:off x="6699376" y="5410286"/>
            <a:ext cx="3382032" cy="4414733"/>
          </a:xfrm>
          <a:custGeom>
            <a:avLst/>
            <a:gdLst/>
            <a:ahLst/>
            <a:cxnLst/>
            <a:rect r="r" b="b" t="t" l="l"/>
            <a:pathLst>
              <a:path h="4414733" w="3382032">
                <a:moveTo>
                  <a:pt x="0" y="0"/>
                </a:moveTo>
                <a:lnTo>
                  <a:pt x="3382032" y="0"/>
                </a:lnTo>
                <a:lnTo>
                  <a:pt x="3382032" y="4414732"/>
                </a:lnTo>
                <a:lnTo>
                  <a:pt x="0" y="4414732"/>
                </a:lnTo>
                <a:lnTo>
                  <a:pt x="0" y="0"/>
                </a:lnTo>
                <a:close/>
              </a:path>
            </a:pathLst>
          </a:custGeom>
          <a:blipFill>
            <a:blip r:embed="rId12">
              <a:extLst>
                <a:ext uri="{96DAC541-7B7A-43D3-8B79-37D633B846F1}">
                  <asvg:svgBlip xmlns:asvg="http://schemas.microsoft.com/office/drawing/2016/SVG/main" r:embed="rId13"/>
                </a:ext>
              </a:extLst>
            </a:blip>
            <a:stretch>
              <a:fillRect l="-75" t="0" r="-76" b="0"/>
            </a:stretch>
          </a:blipFill>
        </p:spPr>
      </p:sp>
      <p:sp>
        <p:nvSpPr>
          <p:cNvPr name="Freeform 20" id="20"/>
          <p:cNvSpPr/>
          <p:nvPr/>
        </p:nvSpPr>
        <p:spPr>
          <a:xfrm flipH="false" flipV="false" rot="0">
            <a:off x="11880771" y="5282147"/>
            <a:ext cx="3382032" cy="4414733"/>
          </a:xfrm>
          <a:custGeom>
            <a:avLst/>
            <a:gdLst/>
            <a:ahLst/>
            <a:cxnLst/>
            <a:rect r="r" b="b" t="t" l="l"/>
            <a:pathLst>
              <a:path h="4414733" w="3382032">
                <a:moveTo>
                  <a:pt x="0" y="0"/>
                </a:moveTo>
                <a:lnTo>
                  <a:pt x="3382032" y="0"/>
                </a:lnTo>
                <a:lnTo>
                  <a:pt x="3382032" y="4414732"/>
                </a:lnTo>
                <a:lnTo>
                  <a:pt x="0" y="4414732"/>
                </a:lnTo>
                <a:lnTo>
                  <a:pt x="0" y="0"/>
                </a:lnTo>
                <a:close/>
              </a:path>
            </a:pathLst>
          </a:custGeom>
          <a:blipFill>
            <a:blip r:embed="rId12">
              <a:extLst>
                <a:ext uri="{96DAC541-7B7A-43D3-8B79-37D633B846F1}">
                  <asvg:svgBlip xmlns:asvg="http://schemas.microsoft.com/office/drawing/2016/SVG/main" r:embed="rId13"/>
                </a:ext>
              </a:extLst>
            </a:blip>
            <a:stretch>
              <a:fillRect l="-75" t="0" r="-76" b="0"/>
            </a:stretch>
          </a:blipFill>
        </p:spPr>
      </p:sp>
      <p:grpSp>
        <p:nvGrpSpPr>
          <p:cNvPr name="Group 21" id="21"/>
          <p:cNvGrpSpPr/>
          <p:nvPr/>
        </p:nvGrpSpPr>
        <p:grpSpPr>
          <a:xfrm rot="0">
            <a:off x="6699376" y="5523100"/>
            <a:ext cx="3382042" cy="2666619"/>
            <a:chOff x="0" y="0"/>
            <a:chExt cx="4509389" cy="3555492"/>
          </a:xfrm>
        </p:grpSpPr>
        <p:sp>
          <p:nvSpPr>
            <p:cNvPr name="Freeform 22" id="22"/>
            <p:cNvSpPr/>
            <p:nvPr/>
          </p:nvSpPr>
          <p:spPr>
            <a:xfrm flipH="false" flipV="false" rot="0">
              <a:off x="0" y="0"/>
              <a:ext cx="4509389" cy="3555492"/>
            </a:xfrm>
            <a:custGeom>
              <a:avLst/>
              <a:gdLst/>
              <a:ahLst/>
              <a:cxnLst/>
              <a:rect r="r" b="b" t="t" l="l"/>
              <a:pathLst>
                <a:path h="3555492" w="4509389">
                  <a:moveTo>
                    <a:pt x="253746" y="0"/>
                  </a:moveTo>
                  <a:lnTo>
                    <a:pt x="4255643" y="0"/>
                  </a:lnTo>
                  <a:cubicBezTo>
                    <a:pt x="4322953" y="0"/>
                    <a:pt x="4387469" y="26797"/>
                    <a:pt x="4435094" y="74295"/>
                  </a:cubicBezTo>
                  <a:cubicBezTo>
                    <a:pt x="4482719" y="121793"/>
                    <a:pt x="4509389" y="186436"/>
                    <a:pt x="4509389" y="253746"/>
                  </a:cubicBezTo>
                  <a:lnTo>
                    <a:pt x="4509389" y="3301746"/>
                  </a:lnTo>
                  <a:cubicBezTo>
                    <a:pt x="4509389" y="3369056"/>
                    <a:pt x="4482592" y="3433572"/>
                    <a:pt x="4435094" y="3481197"/>
                  </a:cubicBezTo>
                  <a:cubicBezTo>
                    <a:pt x="4387596" y="3528822"/>
                    <a:pt x="4322953" y="3555492"/>
                    <a:pt x="4255643" y="3555492"/>
                  </a:cubicBezTo>
                  <a:lnTo>
                    <a:pt x="253746" y="3555492"/>
                  </a:lnTo>
                  <a:cubicBezTo>
                    <a:pt x="186436" y="3555492"/>
                    <a:pt x="121920" y="3528695"/>
                    <a:pt x="74295" y="3481197"/>
                  </a:cubicBezTo>
                  <a:cubicBezTo>
                    <a:pt x="26670" y="3433699"/>
                    <a:pt x="0" y="3369056"/>
                    <a:pt x="0" y="3301873"/>
                  </a:cubicBezTo>
                  <a:lnTo>
                    <a:pt x="0" y="253873"/>
                  </a:lnTo>
                  <a:cubicBezTo>
                    <a:pt x="0" y="186436"/>
                    <a:pt x="26797" y="121920"/>
                    <a:pt x="74295" y="74295"/>
                  </a:cubicBezTo>
                  <a:cubicBezTo>
                    <a:pt x="121793" y="26670"/>
                    <a:pt x="186436" y="0"/>
                    <a:pt x="253746" y="0"/>
                  </a:cubicBezTo>
                  <a:close/>
                </a:path>
              </a:pathLst>
            </a:custGeom>
            <a:blipFill>
              <a:blip r:embed="rId16"/>
              <a:stretch>
                <a:fillRect l="0" t="-13414" r="0" b="-13414"/>
              </a:stretch>
            </a:blipFill>
          </p:spPr>
        </p:sp>
      </p:grpSp>
      <p:sp>
        <p:nvSpPr>
          <p:cNvPr name="AutoShape 23" id="23"/>
          <p:cNvSpPr/>
          <p:nvPr/>
        </p:nvSpPr>
        <p:spPr>
          <a:xfrm>
            <a:off x="6699376" y="8732839"/>
            <a:ext cx="3382032" cy="28175"/>
          </a:xfrm>
          <a:prstGeom prst="line">
            <a:avLst/>
          </a:prstGeom>
          <a:ln cap="rnd" w="19050">
            <a:solidFill>
              <a:srgbClr val="FF5300"/>
            </a:solidFill>
            <a:prstDash val="solid"/>
            <a:headEnd type="none" len="sm" w="sm"/>
            <a:tailEnd type="none" len="sm" w="sm"/>
          </a:ln>
        </p:spPr>
      </p:sp>
      <p:grpSp>
        <p:nvGrpSpPr>
          <p:cNvPr name="Group 24" id="24"/>
          <p:cNvGrpSpPr/>
          <p:nvPr/>
        </p:nvGrpSpPr>
        <p:grpSpPr>
          <a:xfrm rot="0">
            <a:off x="11882304" y="5394961"/>
            <a:ext cx="3382042" cy="2666619"/>
            <a:chOff x="0" y="0"/>
            <a:chExt cx="4509389" cy="3555492"/>
          </a:xfrm>
        </p:grpSpPr>
        <p:sp>
          <p:nvSpPr>
            <p:cNvPr name="Freeform 25" id="25"/>
            <p:cNvSpPr/>
            <p:nvPr/>
          </p:nvSpPr>
          <p:spPr>
            <a:xfrm flipH="false" flipV="false" rot="0">
              <a:off x="0" y="0"/>
              <a:ext cx="4509389" cy="3555492"/>
            </a:xfrm>
            <a:custGeom>
              <a:avLst/>
              <a:gdLst/>
              <a:ahLst/>
              <a:cxnLst/>
              <a:rect r="r" b="b" t="t" l="l"/>
              <a:pathLst>
                <a:path h="3555492" w="4509389">
                  <a:moveTo>
                    <a:pt x="253746" y="0"/>
                  </a:moveTo>
                  <a:lnTo>
                    <a:pt x="4255643" y="0"/>
                  </a:lnTo>
                  <a:cubicBezTo>
                    <a:pt x="4322953" y="0"/>
                    <a:pt x="4387469" y="26797"/>
                    <a:pt x="4435094" y="74295"/>
                  </a:cubicBezTo>
                  <a:cubicBezTo>
                    <a:pt x="4482719" y="121793"/>
                    <a:pt x="4509389" y="186436"/>
                    <a:pt x="4509389" y="253746"/>
                  </a:cubicBezTo>
                  <a:lnTo>
                    <a:pt x="4509389" y="3301746"/>
                  </a:lnTo>
                  <a:cubicBezTo>
                    <a:pt x="4509389" y="3369056"/>
                    <a:pt x="4482592" y="3433572"/>
                    <a:pt x="4435094" y="3481197"/>
                  </a:cubicBezTo>
                  <a:cubicBezTo>
                    <a:pt x="4387596" y="3528822"/>
                    <a:pt x="4322953" y="3555492"/>
                    <a:pt x="4255643" y="3555492"/>
                  </a:cubicBezTo>
                  <a:lnTo>
                    <a:pt x="253746" y="3555492"/>
                  </a:lnTo>
                  <a:cubicBezTo>
                    <a:pt x="186436" y="3555492"/>
                    <a:pt x="121920" y="3528695"/>
                    <a:pt x="74295" y="3481197"/>
                  </a:cubicBezTo>
                  <a:cubicBezTo>
                    <a:pt x="26670" y="3433699"/>
                    <a:pt x="0" y="3369056"/>
                    <a:pt x="0" y="3301873"/>
                  </a:cubicBezTo>
                  <a:lnTo>
                    <a:pt x="0" y="253873"/>
                  </a:lnTo>
                  <a:cubicBezTo>
                    <a:pt x="0" y="186436"/>
                    <a:pt x="26797" y="121920"/>
                    <a:pt x="74295" y="74295"/>
                  </a:cubicBezTo>
                  <a:cubicBezTo>
                    <a:pt x="121793" y="26670"/>
                    <a:pt x="186436" y="0"/>
                    <a:pt x="253746" y="0"/>
                  </a:cubicBezTo>
                  <a:close/>
                </a:path>
              </a:pathLst>
            </a:custGeom>
            <a:blipFill>
              <a:blip r:embed="rId17"/>
              <a:stretch>
                <a:fillRect l="0" t="-13414" r="0" b="-13414"/>
              </a:stretch>
            </a:blipFill>
          </p:spPr>
        </p:sp>
      </p:grpSp>
      <p:sp>
        <p:nvSpPr>
          <p:cNvPr name="AutoShape 26" id="26"/>
          <p:cNvSpPr/>
          <p:nvPr/>
        </p:nvSpPr>
        <p:spPr>
          <a:xfrm>
            <a:off x="11880771" y="8732839"/>
            <a:ext cx="3304885" cy="0"/>
          </a:xfrm>
          <a:prstGeom prst="line">
            <a:avLst/>
          </a:prstGeom>
          <a:ln cap="rnd" w="19050">
            <a:solidFill>
              <a:srgbClr val="FF5300"/>
            </a:solidFill>
            <a:prstDash val="solid"/>
            <a:headEnd type="none" len="sm" w="sm"/>
            <a:tailEnd type="none" len="sm" w="sm"/>
          </a:ln>
        </p:spPr>
      </p:sp>
      <p:sp>
        <p:nvSpPr>
          <p:cNvPr name="TextBox 27" id="27"/>
          <p:cNvSpPr txBox="true"/>
          <p:nvPr/>
        </p:nvSpPr>
        <p:spPr>
          <a:xfrm rot="0">
            <a:off x="913047" y="1755162"/>
            <a:ext cx="4377328" cy="3254245"/>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UN STAGE ENCADRÉ.</a:t>
            </a:r>
          </a:p>
          <a:p>
            <a:pPr algn="l">
              <a:lnSpc>
                <a:spcPts val="3600"/>
              </a:lnSpc>
            </a:pPr>
            <a:r>
              <a:rPr lang="en-US" sz="3000" b="true">
                <a:solidFill>
                  <a:srgbClr val="FF6B00"/>
                </a:solidFill>
                <a:latin typeface="Inter Bold"/>
                <a:ea typeface="Inter Bold"/>
                <a:cs typeface="Inter Bold"/>
                <a:sym typeface="Inter Bold"/>
              </a:rPr>
              <a:t>UN PROJET PORTÉ.</a:t>
            </a:r>
          </a:p>
        </p:txBody>
      </p:sp>
      <p:sp>
        <p:nvSpPr>
          <p:cNvPr name="TextBox 28" id="28"/>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09</a:t>
            </a:r>
          </a:p>
        </p:txBody>
      </p:sp>
      <p:sp>
        <p:nvSpPr>
          <p:cNvPr name="TextBox 29" id="29"/>
          <p:cNvSpPr txBox="true"/>
          <p:nvPr/>
        </p:nvSpPr>
        <p:spPr>
          <a:xfrm rot="0">
            <a:off x="905199" y="71542"/>
            <a:ext cx="7062102" cy="295275"/>
          </a:xfrm>
          <a:prstGeom prst="rect">
            <a:avLst/>
          </a:prstGeom>
        </p:spPr>
        <p:txBody>
          <a:bodyPr anchor="t" rtlCol="false" tIns="0" lIns="0" bIns="0" rIns="0">
            <a:spAutoFit/>
          </a:bodyPr>
          <a:lstStyle/>
          <a:p>
            <a:pPr algn="l">
              <a:lnSpc>
                <a:spcPts val="2398"/>
              </a:lnSpc>
            </a:pPr>
            <a:r>
              <a:rPr lang="en-US" sz="1998" b="true">
                <a:solidFill>
                  <a:srgbClr val="FF6B00"/>
                </a:solidFill>
                <a:latin typeface="Inter Bold"/>
                <a:ea typeface="Inter Bold"/>
                <a:cs typeface="Inter Bold"/>
                <a:sym typeface="Inter Bold"/>
              </a:rPr>
              <a:t>09 — ENCADREMENT &amp; PARTIES PRENANTES</a:t>
            </a:r>
          </a:p>
        </p:txBody>
      </p:sp>
      <p:sp>
        <p:nvSpPr>
          <p:cNvPr name="TextBox 30" id="30"/>
          <p:cNvSpPr txBox="true"/>
          <p:nvPr/>
        </p:nvSpPr>
        <p:spPr>
          <a:xfrm rot="0">
            <a:off x="960672" y="5632837"/>
            <a:ext cx="4419410" cy="1371600"/>
          </a:xfrm>
          <a:prstGeom prst="rect">
            <a:avLst/>
          </a:prstGeom>
        </p:spPr>
        <p:txBody>
          <a:bodyPr anchor="t" rtlCol="false" tIns="0" lIns="0" bIns="0" rIns="0">
            <a:spAutoFit/>
          </a:bodyPr>
          <a:lstStyle/>
          <a:p>
            <a:pPr algn="l">
              <a:lnSpc>
                <a:spcPts val="2759"/>
              </a:lnSpc>
            </a:pPr>
            <a:r>
              <a:rPr lang="en-US" sz="2298">
                <a:solidFill>
                  <a:srgbClr val="4B5563"/>
                </a:solidFill>
                <a:latin typeface="Inter"/>
                <a:ea typeface="Inter"/>
                <a:cs typeface="Inter"/>
                <a:sym typeface="Inter"/>
              </a:rPr>
              <a:t>Ce projet a été mené en autonomie, avec un encadrement resserré côté académique et entreprise.</a:t>
            </a:r>
          </a:p>
        </p:txBody>
      </p:sp>
      <p:sp>
        <p:nvSpPr>
          <p:cNvPr name="TextBox 31" id="31"/>
          <p:cNvSpPr txBox="true"/>
          <p:nvPr/>
        </p:nvSpPr>
        <p:spPr>
          <a:xfrm rot="0">
            <a:off x="2571064" y="8199253"/>
            <a:ext cx="2292382" cy="1257300"/>
          </a:xfrm>
          <a:prstGeom prst="rect">
            <a:avLst/>
          </a:prstGeom>
        </p:spPr>
        <p:txBody>
          <a:bodyPr anchor="t" rtlCol="false" tIns="0" lIns="0" bIns="0" rIns="0">
            <a:spAutoFit/>
          </a:bodyPr>
          <a:lstStyle/>
          <a:p>
            <a:pPr algn="l">
              <a:lnSpc>
                <a:spcPts val="2519"/>
              </a:lnSpc>
            </a:pPr>
            <a:r>
              <a:rPr lang="en-US" sz="2099" b="true">
                <a:solidFill>
                  <a:srgbClr val="FFFFFF"/>
                </a:solidFill>
                <a:latin typeface="Inter Bold"/>
                <a:ea typeface="Inter Bold"/>
                <a:cs typeface="Inter Bold"/>
                <a:sym typeface="Inter Bold"/>
              </a:rPr>
              <a:t>Un encadrement.</a:t>
            </a:r>
          </a:p>
          <a:p>
            <a:pPr algn="l">
              <a:lnSpc>
                <a:spcPts val="2519"/>
              </a:lnSpc>
            </a:pPr>
            <a:r>
              <a:rPr lang="en-US" sz="2099" b="true">
                <a:solidFill>
                  <a:srgbClr val="FFFFFF"/>
                </a:solidFill>
                <a:latin typeface="Inter Bold"/>
                <a:ea typeface="Inter Bold"/>
                <a:cs typeface="Inter Bold"/>
                <a:sym typeface="Inter Bold"/>
              </a:rPr>
              <a:t>Une confiance renouvelée chaque jour.</a:t>
            </a:r>
          </a:p>
        </p:txBody>
      </p:sp>
      <p:sp>
        <p:nvSpPr>
          <p:cNvPr name="TextBox 32" id="32"/>
          <p:cNvSpPr txBox="true"/>
          <p:nvPr/>
        </p:nvSpPr>
        <p:spPr>
          <a:xfrm rot="0">
            <a:off x="6977229" y="3411607"/>
            <a:ext cx="3030874" cy="333375"/>
          </a:xfrm>
          <a:prstGeom prst="rect">
            <a:avLst/>
          </a:prstGeom>
        </p:spPr>
        <p:txBody>
          <a:bodyPr anchor="t" rtlCol="false" tIns="0" lIns="0" bIns="0" rIns="0">
            <a:spAutoFit/>
          </a:bodyPr>
          <a:lstStyle/>
          <a:p>
            <a:pPr algn="l">
              <a:lnSpc>
                <a:spcPts val="2638"/>
              </a:lnSpc>
            </a:pPr>
            <a:r>
              <a:rPr lang="en-US" sz="2199" b="true">
                <a:solidFill>
                  <a:srgbClr val="111827"/>
                </a:solidFill>
                <a:latin typeface="Inter Bold"/>
                <a:ea typeface="Inter Bold"/>
                <a:cs typeface="Inter Bold"/>
                <a:sym typeface="Inter Bold"/>
              </a:rPr>
              <a:t>Youssef Taicha</a:t>
            </a:r>
          </a:p>
        </p:txBody>
      </p:sp>
      <p:sp>
        <p:nvSpPr>
          <p:cNvPr name="TextBox 33" id="33"/>
          <p:cNvSpPr txBox="true"/>
          <p:nvPr/>
        </p:nvSpPr>
        <p:spPr>
          <a:xfrm rot="0">
            <a:off x="6873416" y="4240416"/>
            <a:ext cx="3030874" cy="295275"/>
          </a:xfrm>
          <a:prstGeom prst="rect">
            <a:avLst/>
          </a:prstGeom>
        </p:spPr>
        <p:txBody>
          <a:bodyPr anchor="t" rtlCol="false" tIns="0" lIns="0" bIns="0" rIns="0">
            <a:spAutoFit/>
          </a:bodyPr>
          <a:lstStyle/>
          <a:p>
            <a:pPr algn="l">
              <a:lnSpc>
                <a:spcPts val="2398"/>
              </a:lnSpc>
            </a:pPr>
            <a:r>
              <a:rPr lang="en-US" sz="1998">
                <a:solidFill>
                  <a:srgbClr val="4B5563"/>
                </a:solidFill>
                <a:latin typeface="Inter"/>
                <a:ea typeface="Inter"/>
                <a:cs typeface="Inter"/>
                <a:sym typeface="Inter"/>
              </a:rPr>
              <a:t>Stagiaire</a:t>
            </a:r>
          </a:p>
        </p:txBody>
      </p:sp>
      <p:sp>
        <p:nvSpPr>
          <p:cNvPr name="TextBox 34" id="34"/>
          <p:cNvSpPr txBox="true"/>
          <p:nvPr/>
        </p:nvSpPr>
        <p:spPr>
          <a:xfrm rot="0">
            <a:off x="12057879" y="3278172"/>
            <a:ext cx="2493257" cy="333350"/>
          </a:xfrm>
          <a:prstGeom prst="rect">
            <a:avLst/>
          </a:prstGeom>
        </p:spPr>
        <p:txBody>
          <a:bodyPr anchor="t" rtlCol="false" tIns="0" lIns="0" bIns="0" rIns="0">
            <a:spAutoFit/>
          </a:bodyPr>
          <a:lstStyle/>
          <a:p>
            <a:pPr algn="l">
              <a:lnSpc>
                <a:spcPts val="2638"/>
              </a:lnSpc>
            </a:pPr>
            <a:r>
              <a:rPr lang="en-US" sz="2199" b="true">
                <a:solidFill>
                  <a:srgbClr val="111827"/>
                </a:solidFill>
                <a:latin typeface="Inter Bold"/>
                <a:ea typeface="Inter Bold"/>
                <a:cs typeface="Inter Bold"/>
                <a:sym typeface="Inter Bold"/>
              </a:rPr>
              <a:t>Prof. A. Aboulfaraj</a:t>
            </a:r>
          </a:p>
        </p:txBody>
      </p:sp>
      <p:sp>
        <p:nvSpPr>
          <p:cNvPr name="TextBox 35" id="35"/>
          <p:cNvSpPr txBox="true"/>
          <p:nvPr/>
        </p:nvSpPr>
        <p:spPr>
          <a:xfrm rot="0">
            <a:off x="11855053" y="3989447"/>
            <a:ext cx="3412483" cy="875337"/>
          </a:xfrm>
          <a:prstGeom prst="rect">
            <a:avLst/>
          </a:prstGeom>
        </p:spPr>
        <p:txBody>
          <a:bodyPr anchor="t" rtlCol="false" tIns="0" lIns="0" bIns="0" rIns="0">
            <a:spAutoFit/>
          </a:bodyPr>
          <a:lstStyle/>
          <a:p>
            <a:pPr algn="l">
              <a:lnSpc>
                <a:spcPts val="2345"/>
              </a:lnSpc>
            </a:pPr>
            <a:r>
              <a:rPr lang="en-US" sz="1954">
                <a:solidFill>
                  <a:srgbClr val="4B5563"/>
                </a:solidFill>
                <a:latin typeface="Inter"/>
                <a:ea typeface="Inter"/>
                <a:cs typeface="Inter"/>
                <a:sym typeface="Inter"/>
              </a:rPr>
              <a:t>Encadrant Entreprise &amp; Pédagogique (Resp. Dépt. IA, Kinova Tech</a:t>
            </a:r>
          </a:p>
        </p:txBody>
      </p:sp>
      <p:sp>
        <p:nvSpPr>
          <p:cNvPr name="TextBox 36" id="36"/>
          <p:cNvSpPr txBox="true"/>
          <p:nvPr/>
        </p:nvSpPr>
        <p:spPr>
          <a:xfrm rot="0">
            <a:off x="6977229" y="8375656"/>
            <a:ext cx="3030874" cy="333375"/>
          </a:xfrm>
          <a:prstGeom prst="rect">
            <a:avLst/>
          </a:prstGeom>
        </p:spPr>
        <p:txBody>
          <a:bodyPr anchor="t" rtlCol="false" tIns="0" lIns="0" bIns="0" rIns="0">
            <a:spAutoFit/>
          </a:bodyPr>
          <a:lstStyle/>
          <a:p>
            <a:pPr algn="l">
              <a:lnSpc>
                <a:spcPts val="2638"/>
              </a:lnSpc>
            </a:pPr>
            <a:r>
              <a:rPr lang="en-US" sz="2199" b="true">
                <a:solidFill>
                  <a:srgbClr val="111827"/>
                </a:solidFill>
                <a:latin typeface="Inter Bold"/>
                <a:ea typeface="Inter Bold"/>
                <a:cs typeface="Inter Bold"/>
                <a:sym typeface="Inter Bold"/>
              </a:rPr>
              <a:t>EST Meknès — UMI</a:t>
            </a:r>
          </a:p>
        </p:txBody>
      </p:sp>
      <p:sp>
        <p:nvSpPr>
          <p:cNvPr name="TextBox 37" id="37"/>
          <p:cNvSpPr txBox="true"/>
          <p:nvPr/>
        </p:nvSpPr>
        <p:spPr>
          <a:xfrm rot="0">
            <a:off x="6873416" y="8939193"/>
            <a:ext cx="3030874" cy="885825"/>
          </a:xfrm>
          <a:prstGeom prst="rect">
            <a:avLst/>
          </a:prstGeom>
        </p:spPr>
        <p:txBody>
          <a:bodyPr anchor="t" rtlCol="false" tIns="0" lIns="0" bIns="0" rIns="0">
            <a:spAutoFit/>
          </a:bodyPr>
          <a:lstStyle/>
          <a:p>
            <a:pPr algn="l">
              <a:lnSpc>
                <a:spcPts val="2398"/>
              </a:lnSpc>
            </a:pPr>
            <a:r>
              <a:rPr lang="en-US" sz="1998">
                <a:solidFill>
                  <a:srgbClr val="4B5563"/>
                </a:solidFill>
                <a:latin typeface="Inter"/>
                <a:ea typeface="Inter"/>
                <a:cs typeface="Inter"/>
                <a:sym typeface="Inter"/>
              </a:rPr>
              <a:t>Établissement d'origine (Dépt. Génie Informatique)</a:t>
            </a:r>
          </a:p>
        </p:txBody>
      </p:sp>
      <p:sp>
        <p:nvSpPr>
          <p:cNvPr name="TextBox 38" id="38"/>
          <p:cNvSpPr txBox="true"/>
          <p:nvPr/>
        </p:nvSpPr>
        <p:spPr>
          <a:xfrm rot="0">
            <a:off x="12056355" y="8285074"/>
            <a:ext cx="3030874" cy="333375"/>
          </a:xfrm>
          <a:prstGeom prst="rect">
            <a:avLst/>
          </a:prstGeom>
        </p:spPr>
        <p:txBody>
          <a:bodyPr anchor="t" rtlCol="false" tIns="0" lIns="0" bIns="0" rIns="0">
            <a:spAutoFit/>
          </a:bodyPr>
          <a:lstStyle/>
          <a:p>
            <a:pPr algn="l">
              <a:lnSpc>
                <a:spcPts val="2638"/>
              </a:lnSpc>
            </a:pPr>
            <a:r>
              <a:rPr lang="en-US" sz="2199" b="true">
                <a:solidFill>
                  <a:srgbClr val="111827"/>
                </a:solidFill>
                <a:latin typeface="Inter Bold"/>
                <a:ea typeface="Inter Bold"/>
                <a:cs typeface="Inter Bold"/>
                <a:sym typeface="Inter Bold"/>
              </a:rPr>
              <a:t>Kinova Tech</a:t>
            </a:r>
          </a:p>
        </p:txBody>
      </p:sp>
      <p:sp>
        <p:nvSpPr>
          <p:cNvPr name="TextBox 39" id="39"/>
          <p:cNvSpPr txBox="true"/>
          <p:nvPr/>
        </p:nvSpPr>
        <p:spPr>
          <a:xfrm rot="0">
            <a:off x="11982774" y="8922611"/>
            <a:ext cx="3030874" cy="590550"/>
          </a:xfrm>
          <a:prstGeom prst="rect">
            <a:avLst/>
          </a:prstGeom>
        </p:spPr>
        <p:txBody>
          <a:bodyPr anchor="t" rtlCol="false" tIns="0" lIns="0" bIns="0" rIns="0">
            <a:spAutoFit/>
          </a:bodyPr>
          <a:lstStyle/>
          <a:p>
            <a:pPr algn="l">
              <a:lnSpc>
                <a:spcPts val="2398"/>
              </a:lnSpc>
            </a:pPr>
            <a:r>
              <a:rPr lang="en-US" sz="1998">
                <a:solidFill>
                  <a:srgbClr val="4B5563"/>
                </a:solidFill>
                <a:latin typeface="Inter"/>
                <a:ea typeface="Inter"/>
                <a:cs typeface="Inter"/>
                <a:sym typeface="Inter"/>
              </a:rPr>
              <a:t>Entreprise d'accueil (Dépt. IA &amp; Direction IT)</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6134" y="286493"/>
            <a:ext cx="1769878" cy="1049998"/>
          </a:xfrm>
          <a:custGeom>
            <a:avLst/>
            <a:gdLst/>
            <a:ahLst/>
            <a:cxnLst/>
            <a:rect r="r" b="b" t="t" l="l"/>
            <a:pathLst>
              <a:path h="1049998" w="1769878">
                <a:moveTo>
                  <a:pt x="0" y="0"/>
                </a:moveTo>
                <a:lnTo>
                  <a:pt x="1769879" y="0"/>
                </a:lnTo>
                <a:lnTo>
                  <a:pt x="1769879" y="1049998"/>
                </a:lnTo>
                <a:lnTo>
                  <a:pt x="0" y="1049998"/>
                </a:lnTo>
                <a:lnTo>
                  <a:pt x="0" y="0"/>
                </a:lnTo>
                <a:close/>
              </a:path>
            </a:pathLst>
          </a:custGeom>
          <a:blipFill>
            <a:blip r:embed="rId2">
              <a:extLst>
                <a:ext uri="{96DAC541-7B7A-43D3-8B79-37D633B846F1}">
                  <asvg:svgBlip xmlns:asvg="http://schemas.microsoft.com/office/drawing/2016/SVG/main" r:embed="rId3"/>
                </a:ext>
              </a:extLst>
            </a:blip>
            <a:stretch>
              <a:fillRect l="0" t="-295" r="0" b="-296"/>
            </a:stretch>
          </a:blipFill>
        </p:spPr>
      </p:sp>
      <p:sp>
        <p:nvSpPr>
          <p:cNvPr name="Freeform 3" id="3"/>
          <p:cNvSpPr/>
          <p:nvPr/>
        </p:nvSpPr>
        <p:spPr>
          <a:xfrm flipH="false" flipV="false" rot="0">
            <a:off x="3717255"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4" id="4"/>
          <p:cNvSpPr/>
          <p:nvPr/>
        </p:nvSpPr>
        <p:spPr>
          <a:xfrm flipH="false" flipV="false" rot="0">
            <a:off x="3922709" y="825427"/>
            <a:ext cx="105708" cy="107661"/>
          </a:xfrm>
          <a:custGeom>
            <a:avLst/>
            <a:gdLst/>
            <a:ahLst/>
            <a:cxnLst/>
            <a:rect r="r" b="b" t="t" l="l"/>
            <a:pathLst>
              <a:path h="107661" w="105708">
                <a:moveTo>
                  <a:pt x="0" y="0"/>
                </a:moveTo>
                <a:lnTo>
                  <a:pt x="105709" y="0"/>
                </a:lnTo>
                <a:lnTo>
                  <a:pt x="105709"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Freeform 5" id="5"/>
          <p:cNvSpPr/>
          <p:nvPr/>
        </p:nvSpPr>
        <p:spPr>
          <a:xfrm flipH="false" flipV="false" rot="0">
            <a:off x="4128164" y="825427"/>
            <a:ext cx="105708" cy="107661"/>
          </a:xfrm>
          <a:custGeom>
            <a:avLst/>
            <a:gdLst/>
            <a:ahLst/>
            <a:cxnLst/>
            <a:rect r="r" b="b" t="t" l="l"/>
            <a:pathLst>
              <a:path h="107661" w="105708">
                <a:moveTo>
                  <a:pt x="0" y="0"/>
                </a:moveTo>
                <a:lnTo>
                  <a:pt x="105708" y="0"/>
                </a:lnTo>
                <a:lnTo>
                  <a:pt x="105708" y="107661"/>
                </a:lnTo>
                <a:lnTo>
                  <a:pt x="0" y="107661"/>
                </a:lnTo>
                <a:lnTo>
                  <a:pt x="0" y="0"/>
                </a:lnTo>
                <a:close/>
              </a:path>
            </a:pathLst>
          </a:custGeom>
          <a:blipFill>
            <a:blip r:embed="rId4">
              <a:extLst>
                <a:ext uri="{96DAC541-7B7A-43D3-8B79-37D633B846F1}">
                  <asvg:svgBlip xmlns:asvg="http://schemas.microsoft.com/office/drawing/2016/SVG/main" r:embed="rId5"/>
                </a:ext>
              </a:extLst>
            </a:blip>
            <a:stretch>
              <a:fillRect l="-5163" t="0" r="-5172" b="0"/>
            </a:stretch>
          </a:blipFill>
        </p:spPr>
      </p:sp>
      <p:sp>
        <p:nvSpPr>
          <p:cNvPr name="AutoShape 6" id="6"/>
          <p:cNvSpPr/>
          <p:nvPr/>
        </p:nvSpPr>
        <p:spPr>
          <a:xfrm rot="35400">
            <a:off x="566242" y="4216765"/>
            <a:ext cx="5552732" cy="0"/>
          </a:xfrm>
          <a:prstGeom prst="line">
            <a:avLst/>
          </a:prstGeom>
          <a:ln cap="rnd" w="47625">
            <a:solidFill>
              <a:srgbClr val="FF5300"/>
            </a:solidFill>
            <a:prstDash val="solid"/>
            <a:headEnd type="none" len="sm" w="sm"/>
            <a:tailEnd type="none" len="sm" w="sm"/>
          </a:ln>
        </p:spPr>
      </p:sp>
      <p:sp>
        <p:nvSpPr>
          <p:cNvPr name="Freeform 7" id="7"/>
          <p:cNvSpPr/>
          <p:nvPr/>
        </p:nvSpPr>
        <p:spPr>
          <a:xfrm flipH="false" flipV="false" rot="0">
            <a:off x="-4799257" y="6418155"/>
            <a:ext cx="7992208" cy="7360529"/>
          </a:xfrm>
          <a:custGeom>
            <a:avLst/>
            <a:gdLst/>
            <a:ahLst/>
            <a:cxnLst/>
            <a:rect r="r" b="b" t="t" l="l"/>
            <a:pathLst>
              <a:path h="7360529" w="7992208">
                <a:moveTo>
                  <a:pt x="0" y="0"/>
                </a:moveTo>
                <a:lnTo>
                  <a:pt x="7992208" y="0"/>
                </a:lnTo>
                <a:lnTo>
                  <a:pt x="7992208" y="7360529"/>
                </a:lnTo>
                <a:lnTo>
                  <a:pt x="0" y="7360529"/>
                </a:lnTo>
                <a:lnTo>
                  <a:pt x="0" y="0"/>
                </a:lnTo>
                <a:close/>
              </a:path>
            </a:pathLst>
          </a:custGeom>
          <a:blipFill>
            <a:blip r:embed="rId6">
              <a:extLst>
                <a:ext uri="{96DAC541-7B7A-43D3-8B79-37D633B846F1}">
                  <asvg:svgBlip xmlns:asvg="http://schemas.microsoft.com/office/drawing/2016/SVG/main" r:embed="rId7"/>
                </a:ext>
              </a:extLst>
            </a:blip>
            <a:stretch>
              <a:fillRect l="-39" t="0" r="-39" b="0"/>
            </a:stretch>
          </a:blipFill>
        </p:spPr>
      </p:sp>
      <p:sp>
        <p:nvSpPr>
          <p:cNvPr name="Freeform 8" id="8"/>
          <p:cNvSpPr/>
          <p:nvPr/>
        </p:nvSpPr>
        <p:spPr>
          <a:xfrm flipH="false" flipV="false" rot="0">
            <a:off x="924096" y="8239125"/>
            <a:ext cx="1010850" cy="1019175"/>
          </a:xfrm>
          <a:custGeom>
            <a:avLst/>
            <a:gdLst/>
            <a:ahLst/>
            <a:cxnLst/>
            <a:rect r="r" b="b" t="t" l="l"/>
            <a:pathLst>
              <a:path h="1019175" w="1010850">
                <a:moveTo>
                  <a:pt x="0" y="0"/>
                </a:moveTo>
                <a:lnTo>
                  <a:pt x="1010851" y="0"/>
                </a:lnTo>
                <a:lnTo>
                  <a:pt x="1010851" y="1019175"/>
                </a:lnTo>
                <a:lnTo>
                  <a:pt x="0" y="1019175"/>
                </a:lnTo>
                <a:lnTo>
                  <a:pt x="0" y="0"/>
                </a:lnTo>
                <a:close/>
              </a:path>
            </a:pathLst>
          </a:custGeom>
          <a:blipFill>
            <a:blip r:embed="rId8">
              <a:alphaModFix amt="80000"/>
              <a:extLst>
                <a:ext uri="{96DAC541-7B7A-43D3-8B79-37D633B846F1}">
                  <asvg:svgBlip xmlns:asvg="http://schemas.microsoft.com/office/drawing/2016/SVG/main" r:embed="rId9"/>
                </a:ext>
              </a:extLst>
            </a:blip>
            <a:stretch>
              <a:fillRect l="-12190" t="0" r="-12190" b="0"/>
            </a:stretch>
          </a:blipFill>
        </p:spPr>
      </p:sp>
      <p:sp>
        <p:nvSpPr>
          <p:cNvPr name="Freeform 9" id="9"/>
          <p:cNvSpPr/>
          <p:nvPr/>
        </p:nvSpPr>
        <p:spPr>
          <a:xfrm flipH="false" flipV="false" rot="-636060">
            <a:off x="-224685" y="7734567"/>
            <a:ext cx="5892670" cy="302009"/>
          </a:xfrm>
          <a:custGeom>
            <a:avLst/>
            <a:gdLst/>
            <a:ahLst/>
            <a:cxnLst/>
            <a:rect r="r" b="b" t="t" l="l"/>
            <a:pathLst>
              <a:path h="302009" w="5892670">
                <a:moveTo>
                  <a:pt x="0" y="0"/>
                </a:moveTo>
                <a:lnTo>
                  <a:pt x="5892670" y="0"/>
                </a:lnTo>
                <a:lnTo>
                  <a:pt x="5892670" y="302009"/>
                </a:lnTo>
                <a:lnTo>
                  <a:pt x="0" y="302009"/>
                </a:lnTo>
                <a:lnTo>
                  <a:pt x="0" y="0"/>
                </a:lnTo>
                <a:close/>
              </a:path>
            </a:pathLst>
          </a:custGeom>
          <a:blipFill>
            <a:blip r:embed="rId10">
              <a:extLst>
                <a:ext uri="{96DAC541-7B7A-43D3-8B79-37D633B846F1}">
                  <asvg:svgBlip xmlns:asvg="http://schemas.microsoft.com/office/drawing/2016/SVG/main" r:embed="rId11"/>
                </a:ext>
              </a:extLst>
            </a:blip>
            <a:stretch>
              <a:fillRect l="0" t="-435" r="0" b="-432"/>
            </a:stretch>
          </a:blipFill>
        </p:spPr>
      </p:sp>
      <p:grpSp>
        <p:nvGrpSpPr>
          <p:cNvPr name="Group 10" id="10"/>
          <p:cNvGrpSpPr/>
          <p:nvPr/>
        </p:nvGrpSpPr>
        <p:grpSpPr>
          <a:xfrm rot="0">
            <a:off x="6407477" y="715604"/>
            <a:ext cx="12020740" cy="7049929"/>
            <a:chOff x="0" y="0"/>
            <a:chExt cx="16027654" cy="9399905"/>
          </a:xfrm>
        </p:grpSpPr>
        <p:sp>
          <p:nvSpPr>
            <p:cNvPr name="Freeform 11" id="11"/>
            <p:cNvSpPr/>
            <p:nvPr/>
          </p:nvSpPr>
          <p:spPr>
            <a:xfrm flipH="false" flipV="false" rot="0">
              <a:off x="0" y="0"/>
              <a:ext cx="16027654" cy="9399905"/>
            </a:xfrm>
            <a:custGeom>
              <a:avLst/>
              <a:gdLst/>
              <a:ahLst/>
              <a:cxnLst/>
              <a:rect r="r" b="b" t="t" l="l"/>
              <a:pathLst>
                <a:path h="9399905" w="16027654">
                  <a:moveTo>
                    <a:pt x="129794" y="0"/>
                  </a:moveTo>
                  <a:lnTo>
                    <a:pt x="15897861" y="0"/>
                  </a:lnTo>
                  <a:cubicBezTo>
                    <a:pt x="15969616" y="0"/>
                    <a:pt x="16027654" y="58166"/>
                    <a:pt x="16027654" y="129794"/>
                  </a:cubicBezTo>
                  <a:lnTo>
                    <a:pt x="16027654" y="9270111"/>
                  </a:lnTo>
                  <a:cubicBezTo>
                    <a:pt x="16027654" y="9341866"/>
                    <a:pt x="15969489" y="9399905"/>
                    <a:pt x="15897861" y="9399905"/>
                  </a:cubicBezTo>
                  <a:lnTo>
                    <a:pt x="129794" y="9399905"/>
                  </a:lnTo>
                  <a:cubicBezTo>
                    <a:pt x="58166" y="9399905"/>
                    <a:pt x="0" y="9341866"/>
                    <a:pt x="0" y="9270111"/>
                  </a:cubicBezTo>
                  <a:lnTo>
                    <a:pt x="0" y="129794"/>
                  </a:lnTo>
                  <a:cubicBezTo>
                    <a:pt x="0" y="58166"/>
                    <a:pt x="58166" y="0"/>
                    <a:pt x="129794" y="0"/>
                  </a:cubicBezTo>
                  <a:close/>
                </a:path>
              </a:pathLst>
            </a:custGeom>
            <a:blipFill>
              <a:blip r:embed="rId12"/>
              <a:stretch>
                <a:fillRect l="0" t="-13930" r="0" b="-13930"/>
              </a:stretch>
            </a:blipFill>
          </p:spPr>
        </p:sp>
      </p:grpSp>
      <p:sp>
        <p:nvSpPr>
          <p:cNvPr name="Freeform 12" id="12"/>
          <p:cNvSpPr/>
          <p:nvPr/>
        </p:nvSpPr>
        <p:spPr>
          <a:xfrm flipH="false" flipV="false" rot="0">
            <a:off x="7019620" y="6999351"/>
            <a:ext cx="10780062" cy="1735950"/>
          </a:xfrm>
          <a:custGeom>
            <a:avLst/>
            <a:gdLst/>
            <a:ahLst/>
            <a:cxnLst/>
            <a:rect r="r" b="b" t="t" l="l"/>
            <a:pathLst>
              <a:path h="1735950" w="10780062">
                <a:moveTo>
                  <a:pt x="0" y="0"/>
                </a:moveTo>
                <a:lnTo>
                  <a:pt x="10780062" y="0"/>
                </a:lnTo>
                <a:lnTo>
                  <a:pt x="10780062" y="1735950"/>
                </a:lnTo>
                <a:lnTo>
                  <a:pt x="0" y="1735950"/>
                </a:lnTo>
                <a:lnTo>
                  <a:pt x="0" y="0"/>
                </a:lnTo>
                <a:close/>
              </a:path>
            </a:pathLst>
          </a:custGeom>
          <a:blipFill>
            <a:blip r:embed="rId13">
              <a:extLst>
                <a:ext uri="{96DAC541-7B7A-43D3-8B79-37D633B846F1}">
                  <asvg:svgBlip xmlns:asvg="http://schemas.microsoft.com/office/drawing/2016/SVG/main" r:embed="rId14"/>
                </a:ext>
              </a:extLst>
            </a:blip>
            <a:stretch>
              <a:fillRect l="0" t="-194" r="0" b="-194"/>
            </a:stretch>
          </a:blipFill>
        </p:spPr>
      </p:sp>
      <p:sp>
        <p:nvSpPr>
          <p:cNvPr name="Freeform 13" id="13"/>
          <p:cNvSpPr/>
          <p:nvPr/>
        </p:nvSpPr>
        <p:spPr>
          <a:xfrm flipH="false" flipV="false" rot="0">
            <a:off x="7379684" y="7493918"/>
            <a:ext cx="826580" cy="826580"/>
          </a:xfrm>
          <a:custGeom>
            <a:avLst/>
            <a:gdLst/>
            <a:ahLst/>
            <a:cxnLst/>
            <a:rect r="r" b="b" t="t" l="l"/>
            <a:pathLst>
              <a:path h="826580" w="826580">
                <a:moveTo>
                  <a:pt x="0" y="0"/>
                </a:moveTo>
                <a:lnTo>
                  <a:pt x="826580" y="0"/>
                </a:lnTo>
                <a:lnTo>
                  <a:pt x="826580" y="826579"/>
                </a:lnTo>
                <a:lnTo>
                  <a:pt x="0" y="826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4" id="14"/>
          <p:cNvSpPr/>
          <p:nvPr/>
        </p:nvSpPr>
        <p:spPr>
          <a:xfrm flipH="false" flipV="false" rot="0">
            <a:off x="7595492" y="7751921"/>
            <a:ext cx="378162" cy="310563"/>
          </a:xfrm>
          <a:custGeom>
            <a:avLst/>
            <a:gdLst/>
            <a:ahLst/>
            <a:cxnLst/>
            <a:rect r="r" b="b" t="t" l="l"/>
            <a:pathLst>
              <a:path h="310563" w="378162">
                <a:moveTo>
                  <a:pt x="0" y="0"/>
                </a:moveTo>
                <a:lnTo>
                  <a:pt x="378162" y="0"/>
                </a:lnTo>
                <a:lnTo>
                  <a:pt x="378162" y="310563"/>
                </a:lnTo>
                <a:lnTo>
                  <a:pt x="0" y="310563"/>
                </a:lnTo>
                <a:lnTo>
                  <a:pt x="0" y="0"/>
                </a:lnTo>
                <a:close/>
              </a:path>
            </a:pathLst>
          </a:custGeom>
          <a:blipFill>
            <a:blip r:embed="rId17">
              <a:extLst>
                <a:ext uri="{96DAC541-7B7A-43D3-8B79-37D633B846F1}">
                  <asvg:svgBlip xmlns:asvg="http://schemas.microsoft.com/office/drawing/2016/SVG/main" r:embed="rId18"/>
                </a:ext>
              </a:extLst>
            </a:blip>
            <a:stretch>
              <a:fillRect l="0" t="-230" r="0" b="-226"/>
            </a:stretch>
          </a:blipFill>
        </p:spPr>
      </p:sp>
      <p:sp>
        <p:nvSpPr>
          <p:cNvPr name="AutoShape 15" id="15"/>
          <p:cNvSpPr/>
          <p:nvPr/>
        </p:nvSpPr>
        <p:spPr>
          <a:xfrm rot="35340">
            <a:off x="10110864" y="7897682"/>
            <a:ext cx="927221" cy="0"/>
          </a:xfrm>
          <a:prstGeom prst="line">
            <a:avLst/>
          </a:prstGeom>
          <a:ln cap="rnd" w="9525">
            <a:solidFill>
              <a:srgbClr val="DFDFDF"/>
            </a:solidFill>
            <a:prstDash val="solid"/>
            <a:headEnd type="none" len="sm" w="sm"/>
            <a:tailEnd type="none" len="sm" w="sm"/>
          </a:ln>
        </p:spPr>
      </p:sp>
      <p:sp>
        <p:nvSpPr>
          <p:cNvPr name="Freeform 16" id="16"/>
          <p:cNvSpPr/>
          <p:nvPr/>
        </p:nvSpPr>
        <p:spPr>
          <a:xfrm flipH="false" flipV="false" rot="0">
            <a:off x="10826896" y="7493918"/>
            <a:ext cx="826580" cy="826580"/>
          </a:xfrm>
          <a:custGeom>
            <a:avLst/>
            <a:gdLst/>
            <a:ahLst/>
            <a:cxnLst/>
            <a:rect r="r" b="b" t="t" l="l"/>
            <a:pathLst>
              <a:path h="826580" w="826580">
                <a:moveTo>
                  <a:pt x="0" y="0"/>
                </a:moveTo>
                <a:lnTo>
                  <a:pt x="826580" y="0"/>
                </a:lnTo>
                <a:lnTo>
                  <a:pt x="826580" y="826579"/>
                </a:lnTo>
                <a:lnTo>
                  <a:pt x="0" y="826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false" rot="0">
            <a:off x="11060192" y="7772410"/>
            <a:ext cx="359978" cy="269596"/>
          </a:xfrm>
          <a:custGeom>
            <a:avLst/>
            <a:gdLst/>
            <a:ahLst/>
            <a:cxnLst/>
            <a:rect r="r" b="b" t="t" l="l"/>
            <a:pathLst>
              <a:path h="269596" w="359978">
                <a:moveTo>
                  <a:pt x="0" y="0"/>
                </a:moveTo>
                <a:lnTo>
                  <a:pt x="359978" y="0"/>
                </a:lnTo>
                <a:lnTo>
                  <a:pt x="359978" y="269595"/>
                </a:lnTo>
                <a:lnTo>
                  <a:pt x="0" y="269595"/>
                </a:lnTo>
                <a:lnTo>
                  <a:pt x="0" y="0"/>
                </a:lnTo>
                <a:close/>
              </a:path>
            </a:pathLst>
          </a:custGeom>
          <a:blipFill>
            <a:blip r:embed="rId19">
              <a:extLst>
                <a:ext uri="{96DAC541-7B7A-43D3-8B79-37D633B846F1}">
                  <asvg:svgBlip xmlns:asvg="http://schemas.microsoft.com/office/drawing/2016/SVG/main" r:embed="rId20"/>
                </a:ext>
              </a:extLst>
            </a:blip>
            <a:stretch>
              <a:fillRect l="0" t="-950" r="0" b="-950"/>
            </a:stretch>
          </a:blipFill>
        </p:spPr>
      </p:sp>
      <p:sp>
        <p:nvSpPr>
          <p:cNvPr name="TextBox 18" id="18"/>
          <p:cNvSpPr txBox="true"/>
          <p:nvPr/>
        </p:nvSpPr>
        <p:spPr>
          <a:xfrm rot="0">
            <a:off x="11750030" y="7554201"/>
            <a:ext cx="2534819" cy="247624"/>
          </a:xfrm>
          <a:prstGeom prst="rect">
            <a:avLst/>
          </a:prstGeom>
        </p:spPr>
        <p:txBody>
          <a:bodyPr anchor="t" rtlCol="false" tIns="0" lIns="0" bIns="0" rIns="0">
            <a:spAutoFit/>
          </a:bodyPr>
          <a:lstStyle/>
          <a:p>
            <a:pPr algn="l">
              <a:lnSpc>
                <a:spcPts val="1919"/>
              </a:lnSpc>
            </a:pPr>
            <a:r>
              <a:rPr lang="en-US" sz="1599" b="true">
                <a:solidFill>
                  <a:srgbClr val="4B5563"/>
                </a:solidFill>
                <a:latin typeface="Inter Bold"/>
                <a:ea typeface="Inter Bold"/>
                <a:cs typeface="Inter Bold"/>
                <a:sym typeface="Inter Bold"/>
              </a:rPr>
              <a:t>contact@kinovatech.com</a:t>
            </a:r>
          </a:p>
        </p:txBody>
      </p:sp>
      <p:sp>
        <p:nvSpPr>
          <p:cNvPr name="TextBox 19" id="19"/>
          <p:cNvSpPr txBox="true"/>
          <p:nvPr/>
        </p:nvSpPr>
        <p:spPr>
          <a:xfrm rot="0">
            <a:off x="11891715" y="7922562"/>
            <a:ext cx="1579673" cy="247624"/>
          </a:xfrm>
          <a:prstGeom prst="rect">
            <a:avLst/>
          </a:prstGeom>
        </p:spPr>
        <p:txBody>
          <a:bodyPr anchor="t" rtlCol="false" tIns="0" lIns="0" bIns="0" rIns="0">
            <a:spAutoFit/>
          </a:bodyPr>
          <a:lstStyle/>
          <a:p>
            <a:pPr algn="l">
              <a:lnSpc>
                <a:spcPts val="1919"/>
              </a:lnSpc>
            </a:pPr>
            <a:r>
              <a:rPr lang="en-US" b="true" sz="1599">
                <a:solidFill>
                  <a:srgbClr val="5170FF"/>
                </a:solidFill>
                <a:latin typeface="Inter Bold"/>
                <a:ea typeface="Inter Bold"/>
                <a:cs typeface="Inter Bold"/>
                <a:sym typeface="Inter Bold"/>
              </a:rPr>
              <a:t>kinovatech.com</a:t>
            </a:r>
          </a:p>
        </p:txBody>
      </p:sp>
      <p:sp>
        <p:nvSpPr>
          <p:cNvPr name="AutoShape 20" id="20"/>
          <p:cNvSpPr/>
          <p:nvPr/>
        </p:nvSpPr>
        <p:spPr>
          <a:xfrm rot="35340">
            <a:off x="13694654" y="7924086"/>
            <a:ext cx="927221" cy="0"/>
          </a:xfrm>
          <a:prstGeom prst="line">
            <a:avLst/>
          </a:prstGeom>
          <a:ln cap="rnd" w="9525">
            <a:solidFill>
              <a:srgbClr val="DFDFDF"/>
            </a:solidFill>
            <a:prstDash val="solid"/>
            <a:headEnd type="none" len="sm" w="sm"/>
            <a:tailEnd type="none" len="sm" w="sm"/>
          </a:ln>
        </p:spPr>
      </p:sp>
      <p:sp>
        <p:nvSpPr>
          <p:cNvPr name="Freeform 21" id="21"/>
          <p:cNvSpPr/>
          <p:nvPr/>
        </p:nvSpPr>
        <p:spPr>
          <a:xfrm flipH="false" flipV="false" rot="0">
            <a:off x="14412077" y="7493918"/>
            <a:ext cx="826580" cy="826580"/>
          </a:xfrm>
          <a:custGeom>
            <a:avLst/>
            <a:gdLst/>
            <a:ahLst/>
            <a:cxnLst/>
            <a:rect r="r" b="b" t="t" l="l"/>
            <a:pathLst>
              <a:path h="826580" w="826580">
                <a:moveTo>
                  <a:pt x="0" y="0"/>
                </a:moveTo>
                <a:lnTo>
                  <a:pt x="826580" y="0"/>
                </a:lnTo>
                <a:lnTo>
                  <a:pt x="826580" y="826579"/>
                </a:lnTo>
                <a:lnTo>
                  <a:pt x="0" y="826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2" id="22"/>
          <p:cNvSpPr txBox="true"/>
          <p:nvPr/>
        </p:nvSpPr>
        <p:spPr>
          <a:xfrm rot="0">
            <a:off x="9633233" y="9608668"/>
            <a:ext cx="7741368" cy="5334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UNE ARCHITECTURE ROBUSTE. UNE CONFORMITÉ NATIVE. UN IMPACT DURABLE.</a:t>
            </a:r>
          </a:p>
        </p:txBody>
      </p:sp>
      <p:sp>
        <p:nvSpPr>
          <p:cNvPr name="Freeform 23" id="23"/>
          <p:cNvSpPr/>
          <p:nvPr/>
        </p:nvSpPr>
        <p:spPr>
          <a:xfrm flipH="false" flipV="false" rot="0">
            <a:off x="14691684" y="7716231"/>
            <a:ext cx="267367" cy="381953"/>
          </a:xfrm>
          <a:custGeom>
            <a:avLst/>
            <a:gdLst/>
            <a:ahLst/>
            <a:cxnLst/>
            <a:rect r="r" b="b" t="t" l="l"/>
            <a:pathLst>
              <a:path h="381953" w="267367">
                <a:moveTo>
                  <a:pt x="0" y="0"/>
                </a:moveTo>
                <a:lnTo>
                  <a:pt x="267367" y="0"/>
                </a:lnTo>
                <a:lnTo>
                  <a:pt x="267367" y="381953"/>
                </a:lnTo>
                <a:lnTo>
                  <a:pt x="0" y="381953"/>
                </a:lnTo>
                <a:lnTo>
                  <a:pt x="0" y="0"/>
                </a:lnTo>
                <a:close/>
              </a:path>
            </a:pathLst>
          </a:custGeom>
          <a:blipFill>
            <a:blip r:embed="rId21">
              <a:extLst>
                <a:ext uri="{96DAC541-7B7A-43D3-8B79-37D633B846F1}">
                  <asvg:svgBlip xmlns:asvg="http://schemas.microsoft.com/office/drawing/2016/SVG/main" r:embed="rId22"/>
                </a:ext>
              </a:extLst>
            </a:blip>
            <a:stretch>
              <a:fillRect l="-523" t="0" r="-520" b="0"/>
            </a:stretch>
          </a:blipFill>
        </p:spPr>
      </p:sp>
      <p:sp>
        <p:nvSpPr>
          <p:cNvPr name="TextBox 24" id="24"/>
          <p:cNvSpPr txBox="true"/>
          <p:nvPr/>
        </p:nvSpPr>
        <p:spPr>
          <a:xfrm rot="0">
            <a:off x="913047" y="1745637"/>
            <a:ext cx="5177209" cy="2322700"/>
          </a:xfrm>
          <a:prstGeom prst="rect">
            <a:avLst/>
          </a:prstGeom>
        </p:spPr>
        <p:txBody>
          <a:bodyPr anchor="t" rtlCol="false" tIns="0" lIns="0" bIns="0" rIns="0">
            <a:spAutoFit/>
          </a:bodyPr>
          <a:lstStyle/>
          <a:p>
            <a:pPr algn="l">
              <a:lnSpc>
                <a:spcPts val="3600"/>
              </a:lnSpc>
            </a:pPr>
            <a:r>
              <a:rPr lang="en-US" sz="3000" b="true">
                <a:solidFill>
                  <a:srgbClr val="111827"/>
                </a:solidFill>
                <a:latin typeface="Inter Bold"/>
                <a:ea typeface="Inter Bold"/>
                <a:cs typeface="Inter Bold"/>
                <a:sym typeface="Inter Bold"/>
              </a:rPr>
              <a:t>MERCI !</a:t>
            </a:r>
          </a:p>
          <a:p>
            <a:pPr algn="l">
              <a:lnSpc>
                <a:spcPts val="3600"/>
              </a:lnSpc>
            </a:pPr>
            <a:r>
              <a:rPr lang="en-US" sz="3000" b="true">
                <a:solidFill>
                  <a:srgbClr val="FF6B00"/>
                </a:solidFill>
                <a:latin typeface="Inter Bold"/>
                <a:ea typeface="Inter Bold"/>
                <a:cs typeface="Inter Bold"/>
                <a:sym typeface="Inter Bold"/>
              </a:rPr>
              <a:t>CONSTRUISONS LA SUITE.</a:t>
            </a:r>
          </a:p>
        </p:txBody>
      </p:sp>
      <p:sp>
        <p:nvSpPr>
          <p:cNvPr name="TextBox 25" id="25"/>
          <p:cNvSpPr txBox="true"/>
          <p:nvPr/>
        </p:nvSpPr>
        <p:spPr>
          <a:xfrm rot="0">
            <a:off x="407499" y="490728"/>
            <a:ext cx="374933" cy="718718"/>
          </a:xfrm>
          <a:prstGeom prst="rect">
            <a:avLst/>
          </a:prstGeom>
        </p:spPr>
        <p:txBody>
          <a:bodyPr anchor="t" rtlCol="false" tIns="0" lIns="0" bIns="0" rIns="0">
            <a:spAutoFit/>
          </a:bodyPr>
          <a:lstStyle/>
          <a:p>
            <a:pPr algn="l">
              <a:lnSpc>
                <a:spcPts val="2400"/>
              </a:lnSpc>
            </a:pPr>
            <a:r>
              <a:rPr lang="en-US" sz="2000" b="true">
                <a:solidFill>
                  <a:srgbClr val="FFFFFF"/>
                </a:solidFill>
                <a:latin typeface="Inter Bold"/>
                <a:ea typeface="Inter Bold"/>
                <a:cs typeface="Inter Bold"/>
                <a:sym typeface="Inter Bold"/>
              </a:rPr>
              <a:t>10</a:t>
            </a:r>
          </a:p>
        </p:txBody>
      </p:sp>
      <p:sp>
        <p:nvSpPr>
          <p:cNvPr name="TextBox 26" id="26"/>
          <p:cNvSpPr txBox="true"/>
          <p:nvPr/>
        </p:nvSpPr>
        <p:spPr>
          <a:xfrm rot="0">
            <a:off x="1429522" y="509778"/>
            <a:ext cx="2017662" cy="295275"/>
          </a:xfrm>
          <a:prstGeom prst="rect">
            <a:avLst/>
          </a:prstGeom>
        </p:spPr>
        <p:txBody>
          <a:bodyPr anchor="t" rtlCol="false" tIns="0" lIns="0" bIns="0" rIns="0">
            <a:spAutoFit/>
          </a:bodyPr>
          <a:lstStyle/>
          <a:p>
            <a:pPr algn="l">
              <a:lnSpc>
                <a:spcPts val="2398"/>
              </a:lnSpc>
            </a:pPr>
            <a:r>
              <a:rPr lang="en-US" sz="1998" b="true">
                <a:solidFill>
                  <a:srgbClr val="FF6B00"/>
                </a:solidFill>
                <a:latin typeface="Inter Bold"/>
                <a:ea typeface="Inter Bold"/>
                <a:cs typeface="Inter Bold"/>
                <a:sym typeface="Inter Bold"/>
              </a:rPr>
              <a:t>10 — MERCI</a:t>
            </a:r>
          </a:p>
        </p:txBody>
      </p:sp>
      <p:sp>
        <p:nvSpPr>
          <p:cNvPr name="TextBox 27" id="27"/>
          <p:cNvSpPr txBox="true"/>
          <p:nvPr/>
        </p:nvSpPr>
        <p:spPr>
          <a:xfrm rot="0">
            <a:off x="946385" y="4818869"/>
            <a:ext cx="4810487" cy="1000125"/>
          </a:xfrm>
          <a:prstGeom prst="rect">
            <a:avLst/>
          </a:prstGeom>
        </p:spPr>
        <p:txBody>
          <a:bodyPr anchor="t" rtlCol="false" tIns="0" lIns="0" bIns="0" rIns="0">
            <a:spAutoFit/>
          </a:bodyPr>
          <a:lstStyle/>
          <a:p>
            <a:pPr algn="l">
              <a:lnSpc>
                <a:spcPts val="2638"/>
              </a:lnSpc>
            </a:pPr>
            <a:r>
              <a:rPr lang="en-US" sz="2199">
                <a:solidFill>
                  <a:srgbClr val="4B5563"/>
                </a:solidFill>
                <a:latin typeface="Inter"/>
                <a:ea typeface="Inter"/>
                <a:cs typeface="Inter"/>
                <a:sym typeface="Inter"/>
              </a:rPr>
              <a:t>La meilleure façon de prévoir l'avenir, c'est de le construire — une fonctionnalité à la fois.</a:t>
            </a:r>
          </a:p>
        </p:txBody>
      </p:sp>
      <p:sp>
        <p:nvSpPr>
          <p:cNvPr name="TextBox 28" id="28"/>
          <p:cNvSpPr txBox="true"/>
          <p:nvPr/>
        </p:nvSpPr>
        <p:spPr>
          <a:xfrm rot="0">
            <a:off x="1037511" y="6469685"/>
            <a:ext cx="3770109" cy="933450"/>
          </a:xfrm>
          <a:prstGeom prst="rect">
            <a:avLst/>
          </a:prstGeom>
        </p:spPr>
        <p:txBody>
          <a:bodyPr anchor="t" rtlCol="false" tIns="0" lIns="0" bIns="0" rIns="0">
            <a:spAutoFit/>
          </a:bodyPr>
          <a:lstStyle/>
          <a:p>
            <a:pPr algn="l">
              <a:lnSpc>
                <a:spcPts val="2405"/>
              </a:lnSpc>
            </a:pPr>
            <a:r>
              <a:rPr lang="en-US" sz="2004" b="true">
                <a:solidFill>
                  <a:srgbClr val="111827"/>
                </a:solidFill>
                <a:latin typeface="Inter Bold"/>
                <a:ea typeface="Inter Bold"/>
                <a:cs typeface="Inter Bold"/>
                <a:sym typeface="Inter Bold"/>
              </a:rPr>
              <a:t>Merci à Kinova Tech et à l'EST Meknès (UMI) pour cette expérience à distance.</a:t>
            </a:r>
          </a:p>
        </p:txBody>
      </p:sp>
      <p:sp>
        <p:nvSpPr>
          <p:cNvPr name="TextBox 29" id="29"/>
          <p:cNvSpPr txBox="true"/>
          <p:nvPr/>
        </p:nvSpPr>
        <p:spPr>
          <a:xfrm rot="0">
            <a:off x="8440779" y="7550410"/>
            <a:ext cx="1945576" cy="295275"/>
          </a:xfrm>
          <a:prstGeom prst="rect">
            <a:avLst/>
          </a:prstGeom>
        </p:spPr>
        <p:txBody>
          <a:bodyPr anchor="t" rtlCol="false" tIns="0" lIns="0" bIns="0" rIns="0">
            <a:spAutoFit/>
          </a:bodyPr>
          <a:lstStyle/>
          <a:p>
            <a:pPr algn="l">
              <a:lnSpc>
                <a:spcPts val="2398"/>
              </a:lnSpc>
            </a:pPr>
            <a:r>
              <a:rPr lang="en-US" sz="1998" b="true">
                <a:solidFill>
                  <a:srgbClr val="111827"/>
                </a:solidFill>
                <a:latin typeface="Inter Bold"/>
                <a:ea typeface="Inter Bold"/>
                <a:cs typeface="Inter Bold"/>
                <a:sym typeface="Inter Bold"/>
              </a:rPr>
              <a:t>Des questions ?</a:t>
            </a:r>
          </a:p>
        </p:txBody>
      </p:sp>
      <p:sp>
        <p:nvSpPr>
          <p:cNvPr name="TextBox 30" id="30"/>
          <p:cNvSpPr txBox="true"/>
          <p:nvPr/>
        </p:nvSpPr>
        <p:spPr>
          <a:xfrm rot="0">
            <a:off x="8518665" y="7897686"/>
            <a:ext cx="2775976" cy="733425"/>
          </a:xfrm>
          <a:prstGeom prst="rect">
            <a:avLst/>
          </a:prstGeom>
        </p:spPr>
        <p:txBody>
          <a:bodyPr anchor="t" rtlCol="false" tIns="0" lIns="0" bIns="0" rIns="0">
            <a:spAutoFit/>
          </a:bodyPr>
          <a:lstStyle/>
          <a:p>
            <a:pPr algn="l">
              <a:lnSpc>
                <a:spcPts val="1919"/>
              </a:lnSpc>
            </a:pPr>
            <a:r>
              <a:rPr lang="en-US" sz="1599">
                <a:solidFill>
                  <a:srgbClr val="4B5563"/>
                </a:solidFill>
                <a:latin typeface="Inter"/>
                <a:ea typeface="Inter"/>
                <a:cs typeface="Inter"/>
                <a:sym typeface="Inter"/>
              </a:rPr>
              <a:t>Échangeons sur l'architecture et le déploiement du projet.</a:t>
            </a:r>
          </a:p>
        </p:txBody>
      </p:sp>
      <p:sp>
        <p:nvSpPr>
          <p:cNvPr name="TextBox 31" id="31"/>
          <p:cNvSpPr txBox="true"/>
          <p:nvPr/>
        </p:nvSpPr>
        <p:spPr>
          <a:xfrm rot="0">
            <a:off x="11599440" y="8293360"/>
            <a:ext cx="1971084" cy="266700"/>
          </a:xfrm>
          <a:prstGeom prst="rect">
            <a:avLst/>
          </a:prstGeom>
        </p:spPr>
        <p:txBody>
          <a:bodyPr anchor="t" rtlCol="false" tIns="0" lIns="0" bIns="0" rIns="0">
            <a:spAutoFit/>
          </a:bodyPr>
          <a:lstStyle/>
          <a:p>
            <a:pPr algn="l">
              <a:lnSpc>
                <a:spcPts val="2159"/>
              </a:lnSpc>
            </a:pPr>
            <a:r>
              <a:rPr lang="en-US" sz="1799" b="true">
                <a:solidFill>
                  <a:srgbClr val="111827"/>
                </a:solidFill>
                <a:latin typeface="Inter Bold"/>
                <a:ea typeface="Inter Bold"/>
                <a:cs typeface="Inter Bold"/>
                <a:sym typeface="Inter Bold"/>
              </a:rPr>
              <a:t>+212 661-896943</a:t>
            </a:r>
          </a:p>
        </p:txBody>
      </p:sp>
      <p:sp>
        <p:nvSpPr>
          <p:cNvPr name="TextBox 32" id="32"/>
          <p:cNvSpPr txBox="true"/>
          <p:nvPr/>
        </p:nvSpPr>
        <p:spPr>
          <a:xfrm rot="0">
            <a:off x="15362482" y="7563726"/>
            <a:ext cx="2124604" cy="266648"/>
          </a:xfrm>
          <a:prstGeom prst="rect">
            <a:avLst/>
          </a:prstGeom>
        </p:spPr>
        <p:txBody>
          <a:bodyPr anchor="t" rtlCol="false" tIns="0" lIns="0" bIns="0" rIns="0">
            <a:spAutoFit/>
          </a:bodyPr>
          <a:lstStyle/>
          <a:p>
            <a:pPr algn="l">
              <a:lnSpc>
                <a:spcPts val="2159"/>
              </a:lnSpc>
            </a:pPr>
            <a:r>
              <a:rPr lang="en-US" sz="1798" b="true">
                <a:solidFill>
                  <a:srgbClr val="4B5563"/>
                </a:solidFill>
                <a:latin typeface="Inter Bold"/>
                <a:ea typeface="Inter Bold"/>
                <a:cs typeface="Inter Bold"/>
                <a:sym typeface="Inter Bold"/>
              </a:rPr>
              <a:t>Casablanca, Maroc</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DAHVK3ZxHqM</dc:identifier>
  <dcterms:modified xsi:type="dcterms:W3CDTF">2011-08-01T06:04:30Z</dcterms:modified>
  <cp:revision>1</cp:revision>
  <dc:title>presentation cv-parting project.pptx</dc:title>
</cp:coreProperties>
</file>